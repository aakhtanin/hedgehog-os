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159000" y="3606800"/>
            <a:ext cx="3175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 rot="5400000">
            <a:off x="2374900" y="35560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064000" y="3606800"/>
            <a:ext cx="3175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4279900" y="35560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969000" y="3606800"/>
            <a:ext cx="3175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6184900" y="35560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874000" y="3606800"/>
            <a:ext cx="3175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8089900" y="35560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779000" y="3606800"/>
            <a:ext cx="3175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9994900" y="35560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1500" y="3175000"/>
            <a:ext cx="1587500" cy="863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Gemini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76500" y="3175000"/>
            <a:ext cx="1587500" cy="863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Root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500" y="3175000"/>
            <a:ext cx="1587500" cy="863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Corridor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3175000"/>
            <a:ext cx="1587500" cy="863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Ledger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500" y="3175000"/>
            <a:ext cx="1587500" cy="863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Anchor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0" y="3175000"/>
            <a:ext cx="1587500" cy="863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Replay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49500" y="4699000"/>
            <a:ext cx="1714500" cy="698500"/>
          </a:xfrm>
          <a:prstGeom prst="roundRect">
            <a:avLst/>
          </a:prstGeom>
          <a:solidFill>
            <a:srgbClr val="122C3D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12 Gemini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4699000"/>
            <a:ext cx="1714500" cy="698500"/>
          </a:xfrm>
          <a:prstGeom prst="roundRect">
            <a:avLst/>
          </a:prstGeom>
          <a:solidFill>
            <a:srgbClr val="122C3D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3 Roots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500" y="4699000"/>
            <a:ext cx="1714500" cy="698500"/>
          </a:xfrm>
          <a:prstGeom prst="roundRect">
            <a:avLst/>
          </a:prstGeom>
          <a:solidFill>
            <a:srgbClr val="122C3D"/>
          </a:solidFill>
          <a:ln w="15240">
            <a:solidFill>
              <a:srgbClr val="43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Replay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5000" y="4699000"/>
            <a:ext cx="1714500" cy="698500"/>
          </a:xfrm>
          <a:prstGeom prst="roundRect">
            <a:avLst/>
          </a:prstGeom>
          <a:solidFill>
            <a:srgbClr val="122C3D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0 effects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Cover - central 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C01, C07, C17, C20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" y="1168400"/>
            <a:ext cx="10414000" cy="149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F4F7FA"/>
                </a:solidFill>
                <a:latin typeface="Arial"/>
              </a:rPr>
              <a:t>HEDGEHOG OS separates LLM reasoning from authority, then</a:t>
            </a:r>
          </a:p>
          <a:p>
            <a:pPr algn="ctr">
              <a:spcAft>
                <a:spcPts val="0"/>
              </a:spcAft>
            </a:pPr>
            <a:r>
              <a:rPr sz="2500" b="1">
                <a:solidFill>
                  <a:srgbClr val="F4F7FA"/>
                </a:solidFill>
                <a:latin typeface="Arial"/>
              </a:rPr>
              <a:t>preserves the accepted decision path as a deterministic,</a:t>
            </a:r>
          </a:p>
          <a:p>
            <a:pPr algn="ctr">
              <a:spcAft>
                <a:spcPts val="0"/>
              </a:spcAft>
            </a:pPr>
            <a:r>
              <a:rPr sz="2500" b="1">
                <a:solidFill>
                  <a:srgbClr val="F4F7FA"/>
                </a:solidFill>
                <a:latin typeface="Arial"/>
              </a:rPr>
              <a:t>cryptographically anchored, replayable evidence chain.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2954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12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real Gemini actors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90900" y="12954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sovereign Roots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400" y="12954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deterministic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transaction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05900" y="12954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19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Ledger artifacts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7940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29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dependency edges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900" y="27940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3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Root finals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400" y="27940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9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Crypto source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05900" y="27940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11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critical package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42926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3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committed Anchor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900" y="42926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3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19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Replay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400" y="4292600"/>
            <a:ext cx="2565400" cy="116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3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real-world effects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Executive proof in 90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C02, C07, C09, C10, C11, C12, C13, C14, C16, C18, C20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8500" y="1397000"/>
            <a:ext cx="3619500" cy="2667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4F7FA"/>
                </a:solidFill>
                <a:latin typeface="Arial"/>
              </a:rPr>
              <a:t>PAR -&gt; LIM</a:t>
            </a:r>
          </a:p>
          <a:p>
            <a:pPr algn="ctr">
              <a:spcAft>
                <a:spcPts val="0"/>
              </a:spcAft>
            </a:pPr>
            <a:r>
              <a:rPr sz="2700" b="1">
                <a:solidFill>
                  <a:srgbClr val="F4F7FA"/>
                </a:solidFill>
                <a:latin typeface="Arial"/>
              </a:rPr>
              <a:t>2026-08-12</a:t>
            </a:r>
          </a:p>
          <a:p>
            <a:pPr algn="ctr">
              <a:spcAft>
                <a:spcPts val="0"/>
              </a:spcAft>
            </a:pPr>
            <a:r>
              <a:rPr sz="2700" b="1">
                <a:solidFill>
                  <a:srgbClr val="F4F7FA"/>
                </a:solidFill>
                <a:latin typeface="Arial"/>
              </a:rPr>
              <a:t>Preference 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35500" y="1397000"/>
            <a:ext cx="6858000" cy="2667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3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Selected Offer A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offer:mock_airline_al:PAR-LIM:001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tri_airline_purchase:PAR-LIM:2026-08-12:client_001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0500" y="4381500"/>
            <a:ext cx="9271000" cy="1397000"/>
          </a:xfrm>
          <a:prstGeom prst="roundRect">
            <a:avLst/>
          </a:prstGeom>
          <a:solidFill>
            <a:srgbClr val="122C3D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MOCK / PROOF-LEVEL EVIDENCE</a:t>
            </a:r>
          </a:p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NOT A REAL TICKET - NOT A REAL BOOKING - NOT A REAL</a:t>
            </a:r>
          </a:p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The user's mock travel task and accepted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C01, C04, C05, C20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97000" y="3530600"/>
            <a:ext cx="1397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 rot="5400000">
            <a:off x="1435100" y="34798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30500" y="3530600"/>
            <a:ext cx="1397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2768600" y="34798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064000" y="3530600"/>
            <a:ext cx="1397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4102100" y="34798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397500" y="3530600"/>
            <a:ext cx="1397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435600" y="34798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731000" y="3530600"/>
            <a:ext cx="1397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6769100" y="34798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064500" y="3530600"/>
            <a:ext cx="1397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8102600" y="34798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398000" y="3530600"/>
            <a:ext cx="1397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9436100" y="34798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731500" y="3530600"/>
            <a:ext cx="1397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10769600" y="34798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3200" y="2921000"/>
            <a:ext cx="1193800" cy="1219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User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36700" y="2921000"/>
            <a:ext cx="1193800" cy="1219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BSEP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70200" y="2921000"/>
            <a:ext cx="1193800" cy="1219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12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actors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3700" y="2921000"/>
            <a:ext cx="1193800" cy="1219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3 Roots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37200" y="2921000"/>
            <a:ext cx="1193800" cy="1219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5-phase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Corridor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70700" y="2921000"/>
            <a:ext cx="1193800" cy="1219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19-entry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Ledger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04200" y="2921000"/>
            <a:ext cx="1193800" cy="1219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Crypto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Manifest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7700" y="2921000"/>
            <a:ext cx="1193800" cy="1219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Committ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ed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Anchor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871200" y="2921000"/>
            <a:ext cx="1193800" cy="1219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19-row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Replay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PASS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Complete architecture from user task to anchored Replay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C02, C07, C08, C10, C16, C17, C18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1333500"/>
            <a:ext cx="24130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B74D"/>
                </a:solidFill>
                <a:latin typeface="Arial"/>
              </a:rPr>
              <a:t>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38500" y="1333500"/>
            <a:ext cx="24130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C9FFF"/>
                </a:solidFill>
                <a:latin typeface="Arial"/>
              </a:rPr>
              <a:t>AUTHORITY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0" y="1333500"/>
            <a:ext cx="24130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7C3A2"/>
                </a:solidFill>
                <a:latin typeface="Arial"/>
              </a:rPr>
              <a:t>DETERMINISTIC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5500" y="1333500"/>
            <a:ext cx="2413000" cy="660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43D17C"/>
                </a:solidFill>
                <a:latin typeface="Arial"/>
              </a:rPr>
              <a:t>EVIDENCE + VERIFY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4500" y="12700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Tri-Party Orchestrator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54500" y="12700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Semantic Architect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4500" y="12700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Client Purchase Intent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500" y="24892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Client Privacy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4500" y="24892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Airline Offer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4500" y="24892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Fare Rules Cell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37084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Seat &amp; Baggage Cell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4500" y="37084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Ticketing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4500" y="37084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Bank Payment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500" y="49276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Idempotency Risk 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4500" y="49276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Payment Status Explainer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4500" y="4927600"/>
            <a:ext cx="3492500" cy="9652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Cross-Root 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The twelve real Gemini actors and bounded topology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C02, C03, C06, C07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000" y="6019800"/>
            <a:ext cx="3556000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1">
                <a:solidFill>
                  <a:srgbClr val="A9BAC8"/>
                </a:solidFill>
                <a:latin typeface="Arial"/>
              </a:rPr>
              <a:t>5 causal / 7 generic / all advisory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400" y="11684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1. tri_party_airline_orchestrator_llm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Interpret the whole tri-party goal and propose the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bounded semantic route that precedes BSEP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creation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The transaction should be routed through a bounded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tri-party semantic program and a BSEP membrane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before downstream architecture work.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97600" y="11684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2. tri_party_airline_semantic_architect_llm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Propose a semantic actor topology and validation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obligations from BSEP-derived bounded context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A bounded actor topology and validation plan can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organize the client, airline, bank, vertical-cell, and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cross-root reviews.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400" y="36322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3. client_purchase_intent_reviewer_llm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Review which hard-compatible offer best matches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the client's soft travel preferences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Offer `offer:mock_airline_al:PAR-LIM:001` best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matches the lower-price and window-seat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preferences while the compared offers remain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hard-compatible.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7600" y="36322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4. client_profile_privacy_reviewer_llm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Review how passenger and payment references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remain opaque and how private fields stay bounded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Passenger and payment references should remain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opaque, with access controlled through bounded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privacy mechanisms rather than raw-field exposure.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Orchestration and Client-side actor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C03, C04, C05, C06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400" y="11684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5. airline_offer_policy_reviewer_llm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Review the proposed Airline offer under bounded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policy evidence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Offer `offer:mock_airline_al:PAR-LIM:001` was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reviewed as acceptable advisory policy evidence.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97600" y="11684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6. airline_fare_rules_vertical_cell_llm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Perform a bounded child review of fare-rule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considerations for the proposed offer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Offer `offer:mock_airline_al:PAR-LIM:001` passed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the bounded fare-rules advisory review.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400" y="36322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7. airline_seat_baggage_vertical_cell_llm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Perform a bounded child review of seat and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baggage considerations for the proposed offer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Offer `offer:mock_airline_al:PAR-LIM:001` passed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the bounded seat/baggage advisory review.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7600" y="36322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8. airline_ticketing_policy_reviewer_llm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Review the preconditions for mock ticket evidence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Mock ticket evidence requires a confirmed hold,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successful mock payment authorization, and explicit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client approval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Airline-side actor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C03, C05, C06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6400" y="11684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9. bank_payment_policy_reviewer_llm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Review the bounded mock payment-authorization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evidence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The bounded fields describe a mock authorization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proposal and protected payment reference, not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settlement or an external bank action.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97600" y="11684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10. bank_idempotency_risk_vertical_cell_llm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Review duplicate-payment, idempotency, expiry,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TTL, amount, and merchant mismatch risk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The bounded mock authorization evidence passed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the idempotency and mismatch-pressure review.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400" y="36322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11. bank_payment_status_explainer_llm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Explain the evidence distinction between mock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authorization and settlement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A payment-status receipt is evidence of a mock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state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7600" y="3632200"/>
            <a:ext cx="5562600" cy="2413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12. tri_party_evidence_consistency_reviewer_llm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Review consistency across client, airline, and bank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evidence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Offer `offer:mock_airline_al:PAR-LIM:001` remained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coherent across the reviewed evidence.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PASS / accepted true / ADVISORY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Bank-side and cross-root actor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C03, C05, C07, C20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663700" y="3327400"/>
            <a:ext cx="2032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 rot="5400000">
            <a:off x="1765300" y="32766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3086100" y="3327400"/>
            <a:ext cx="2032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3187700" y="32766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08500" y="3327400"/>
            <a:ext cx="2032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4610100" y="32766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930900" y="3327400"/>
            <a:ext cx="2032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6032500" y="32766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353300" y="3327400"/>
            <a:ext cx="2032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7454900" y="32766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775700" y="3327400"/>
            <a:ext cx="2032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8877300" y="32766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198100" y="3327400"/>
            <a:ext cx="2032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10299700" y="32766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500" y="2730500"/>
            <a:ext cx="1219200" cy="11938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Bounded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constrain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66900" y="2730500"/>
            <a:ext cx="1219200" cy="11938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BSEP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89300" y="2730500"/>
            <a:ext cx="1219200" cy="11938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4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projectio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11700" y="2730500"/>
            <a:ext cx="1219200" cy="11938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12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accepted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actors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4100" y="2730500"/>
            <a:ext cx="1219200" cy="11938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Canonica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l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6500" y="2730500"/>
            <a:ext cx="1219200" cy="11938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ClientRo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8900" y="2730500"/>
            <a:ext cx="1219200" cy="11938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AirlineR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01300" y="2730500"/>
            <a:ext cx="1219200" cy="11938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Offer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Why the deterministic system selected Offer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C03, C05, C06, C08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000" y="1333500"/>
            <a:ext cx="10160000" cy="736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B74D"/>
                </a:solidFill>
                <a:latin typeface="Arial"/>
              </a:rPr>
              <a:t>No provider override - no silent fallback - provider output is not truth or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FB74D"/>
                </a:solidFill>
                <a:latin typeface="Arial"/>
              </a:rPr>
              <a:t>authority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5000" y="4635500"/>
            <a:ext cx="5842000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43D17C"/>
                </a:solidFill>
                <a:latin typeface="Arial"/>
              </a:rPr>
              <a:t>offer:mock_airline_al:PAR-LIM:001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524000"/>
            <a:ext cx="3429000" cy="370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ClientRoot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client constraints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purchase intent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client acceptance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ClientRoot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1500" y="1524000"/>
            <a:ext cx="3429000" cy="370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AirlineRoot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offer resolution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hold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ticket issue intent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mock ticket receipt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AirlineRoot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91500" y="1524000"/>
            <a:ext cx="3429000" cy="3708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BankRoot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payment authorization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boundary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payment evidence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BankRoot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Three sovereign Roots and authority separation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C07, C12, C24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0500" y="5651500"/>
            <a:ext cx="9271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B74D"/>
                </a:solidFill>
                <a:latin typeface="Arial"/>
              </a:rPr>
              <a:t>Gemini != Root Reviewer != Root Crypto != Root Replay != Root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476500" y="1663700"/>
            <a:ext cx="2286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 rot="5400000">
            <a:off x="2603500" y="16129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800600" y="1663700"/>
            <a:ext cx="2286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4927600" y="16129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124700" y="1663700"/>
            <a:ext cx="2286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7251700" y="16129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448800" y="1663700"/>
            <a:ext cx="2286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9575800" y="16129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1000" y="1206500"/>
            <a:ext cx="2095500" cy="914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1. Airline offer +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5100" y="1206500"/>
            <a:ext cx="2095500" cy="914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2. Client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purchase intent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206500"/>
            <a:ext cx="2095500" cy="914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3. Bank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3300" y="1206500"/>
            <a:ext cx="2095500" cy="914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4. Airline ticket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intent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77400" y="1206500"/>
            <a:ext cx="2095500" cy="9144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5. Client</a:t>
            </a:r>
          </a:p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completion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Five-phase Ticket/Purchase Corridor and mock evidence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C05, C08, C09, C20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00" y="23876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A9BAC8"/>
                </a:solidFill>
                <a:latin typeface="Arial"/>
              </a:rPr>
              <a:t>Hold packet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5000" y="2387600"/>
            <a:ext cx="8572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airline_hold_commit_packet:semantic_causal:001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500" y="28194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A9BAC8"/>
                </a:solidFill>
                <a:latin typeface="Arial"/>
              </a:rPr>
              <a:t>Client purchase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5000" y="2819400"/>
            <a:ext cx="8572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client_purchase_intent:client_001:001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500" y="32512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A9BAC8"/>
                </a:solidFill>
                <a:latin typeface="Arial"/>
              </a:rPr>
              <a:t>Bank authorization ref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5000" y="3251200"/>
            <a:ext cx="8572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bank_payment_authorization_ref:mock_bank_a:001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00" y="36830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A9BAC8"/>
                </a:solidFill>
                <a:latin typeface="Arial"/>
              </a:rPr>
              <a:t>Ticket issue intent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5000" y="3683000"/>
            <a:ext cx="8572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airline_ticket_issue_commit_packet:mock_airline_al:001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500" y="41148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A9BAC8"/>
                </a:solidFill>
                <a:latin typeface="Arial"/>
              </a:rPr>
              <a:t>Mock ticket receipt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5000" y="4114800"/>
            <a:ext cx="8572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mock_ticket_receipt:mock_airline_al:001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45466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A9BAC8"/>
                </a:solidFill>
                <a:latin typeface="Arial"/>
              </a:rPr>
              <a:t>Mock purchase receipt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5000" y="4546600"/>
            <a:ext cx="8572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mock_purchase_receipt:client_001:001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500" y="4978400"/>
            <a:ext cx="2603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A9BAC8"/>
                </a:solidFill>
                <a:latin typeface="Arial"/>
              </a:rPr>
              <a:t>Root finals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5000" y="4978400"/>
            <a:ext cx="8572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4F7FA"/>
                </a:solidFill>
                <a:latin typeface="Arial"/>
              </a:rPr>
              <a:t>client_root_final:001 | airline_root_final:001 | bank_root_final:001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75000" y="5562600"/>
            <a:ext cx="85725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B74D"/>
                </a:solidFill>
                <a:latin typeface="Arial"/>
              </a:rPr>
              <a:t>MOCK EVIDENCE - NO REAL TICKET / BOOKING / PAYMENT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44600" y="1701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 rot="5400000">
            <a:off x="1739900" y="1651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78100" y="1701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3073400" y="1651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911600" y="1701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4406900" y="1651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245100" y="1701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5740400" y="1651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508000" y="1701800"/>
            <a:ext cx="6070600" cy="114300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06400" y="2794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244600" y="2844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1739900" y="2794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578100" y="2844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3073400" y="2794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911600" y="2844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406900" y="2794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245100" y="2844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5740400" y="2794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508000" y="2844800"/>
            <a:ext cx="6070600" cy="114300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06400" y="3937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244600" y="3987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1739900" y="3937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578100" y="3987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3073400" y="3937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911600" y="3987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4406900" y="3937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245100" y="3987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5740400" y="3937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508000" y="3987800"/>
            <a:ext cx="6070600" cy="114300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406400" y="5080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244600" y="5130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1739900" y="5080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578100" y="5130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3073400" y="5080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911600" y="5130800"/>
            <a:ext cx="596900" cy="0"/>
          </a:xfrm>
          <a:prstGeom prst="line">
            <a:avLst/>
          </a:prstGeom>
          <a:ln w="19050">
            <a:solidFill>
              <a:srgbClr val="284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4406900" y="5080000"/>
            <a:ext cx="101600" cy="101600"/>
          </a:xfrm>
          <a:prstGeom prst="triangle">
            <a:avLst/>
          </a:prstGeom>
          <a:solidFill>
            <a:srgbClr val="284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8000" y="1333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0</a:t>
            </a:r>
          </a:p>
        </p:txBody>
      </p:sp>
      <p:sp>
        <p:nvSpPr>
          <p:cNvPr id="39" name="Oval 38"/>
          <p:cNvSpPr/>
          <p:nvPr/>
        </p:nvSpPr>
        <p:spPr>
          <a:xfrm>
            <a:off x="1841500" y="1333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</a:t>
            </a:r>
          </a:p>
        </p:txBody>
      </p:sp>
      <p:sp>
        <p:nvSpPr>
          <p:cNvPr id="40" name="Oval 39"/>
          <p:cNvSpPr/>
          <p:nvPr/>
        </p:nvSpPr>
        <p:spPr>
          <a:xfrm>
            <a:off x="3175000" y="1333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2</a:t>
            </a:r>
          </a:p>
        </p:txBody>
      </p:sp>
      <p:sp>
        <p:nvSpPr>
          <p:cNvPr id="41" name="Oval 40"/>
          <p:cNvSpPr/>
          <p:nvPr/>
        </p:nvSpPr>
        <p:spPr>
          <a:xfrm>
            <a:off x="4508500" y="1333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3</a:t>
            </a:r>
          </a:p>
        </p:txBody>
      </p:sp>
      <p:sp>
        <p:nvSpPr>
          <p:cNvPr id="42" name="Oval 41"/>
          <p:cNvSpPr/>
          <p:nvPr/>
        </p:nvSpPr>
        <p:spPr>
          <a:xfrm>
            <a:off x="5842000" y="1333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4</a:t>
            </a:r>
          </a:p>
        </p:txBody>
      </p:sp>
      <p:sp>
        <p:nvSpPr>
          <p:cNvPr id="43" name="Oval 42"/>
          <p:cNvSpPr/>
          <p:nvPr/>
        </p:nvSpPr>
        <p:spPr>
          <a:xfrm>
            <a:off x="508000" y="2476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5</a:t>
            </a:r>
          </a:p>
        </p:txBody>
      </p:sp>
      <p:sp>
        <p:nvSpPr>
          <p:cNvPr id="44" name="Oval 43"/>
          <p:cNvSpPr/>
          <p:nvPr/>
        </p:nvSpPr>
        <p:spPr>
          <a:xfrm>
            <a:off x="1841500" y="2476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3175000" y="2476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7</a:t>
            </a:r>
          </a:p>
        </p:txBody>
      </p:sp>
      <p:sp>
        <p:nvSpPr>
          <p:cNvPr id="46" name="Oval 45"/>
          <p:cNvSpPr/>
          <p:nvPr/>
        </p:nvSpPr>
        <p:spPr>
          <a:xfrm>
            <a:off x="4508500" y="2476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8</a:t>
            </a:r>
          </a:p>
        </p:txBody>
      </p:sp>
      <p:sp>
        <p:nvSpPr>
          <p:cNvPr id="47" name="Oval 46"/>
          <p:cNvSpPr/>
          <p:nvPr/>
        </p:nvSpPr>
        <p:spPr>
          <a:xfrm>
            <a:off x="5842000" y="2476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9</a:t>
            </a:r>
          </a:p>
        </p:txBody>
      </p:sp>
      <p:sp>
        <p:nvSpPr>
          <p:cNvPr id="48" name="Oval 47"/>
          <p:cNvSpPr/>
          <p:nvPr/>
        </p:nvSpPr>
        <p:spPr>
          <a:xfrm>
            <a:off x="508000" y="3619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10</a:t>
            </a:r>
          </a:p>
        </p:txBody>
      </p:sp>
      <p:sp>
        <p:nvSpPr>
          <p:cNvPr id="49" name="Oval 48"/>
          <p:cNvSpPr/>
          <p:nvPr/>
        </p:nvSpPr>
        <p:spPr>
          <a:xfrm>
            <a:off x="1841500" y="3619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11</a:t>
            </a:r>
          </a:p>
        </p:txBody>
      </p:sp>
      <p:sp>
        <p:nvSpPr>
          <p:cNvPr id="50" name="Oval 49"/>
          <p:cNvSpPr/>
          <p:nvPr/>
        </p:nvSpPr>
        <p:spPr>
          <a:xfrm>
            <a:off x="3175000" y="3619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12</a:t>
            </a:r>
          </a:p>
        </p:txBody>
      </p:sp>
      <p:sp>
        <p:nvSpPr>
          <p:cNvPr id="51" name="Oval 50"/>
          <p:cNvSpPr/>
          <p:nvPr/>
        </p:nvSpPr>
        <p:spPr>
          <a:xfrm>
            <a:off x="4508500" y="3619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13</a:t>
            </a:r>
          </a:p>
        </p:txBody>
      </p:sp>
      <p:sp>
        <p:nvSpPr>
          <p:cNvPr id="52" name="Oval 51"/>
          <p:cNvSpPr/>
          <p:nvPr/>
        </p:nvSpPr>
        <p:spPr>
          <a:xfrm>
            <a:off x="5842000" y="3619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14</a:t>
            </a:r>
          </a:p>
        </p:txBody>
      </p:sp>
      <p:sp>
        <p:nvSpPr>
          <p:cNvPr id="53" name="Oval 52"/>
          <p:cNvSpPr/>
          <p:nvPr/>
        </p:nvSpPr>
        <p:spPr>
          <a:xfrm>
            <a:off x="508000" y="4762500"/>
            <a:ext cx="736600" cy="736600"/>
          </a:xfrm>
          <a:prstGeom prst="ellipse">
            <a:avLst/>
          </a:prstGeom>
          <a:solidFill>
            <a:srgbClr val="122C3D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15</a:t>
            </a:r>
          </a:p>
        </p:txBody>
      </p:sp>
      <p:sp>
        <p:nvSpPr>
          <p:cNvPr id="54" name="Oval 53"/>
          <p:cNvSpPr/>
          <p:nvPr/>
        </p:nvSpPr>
        <p:spPr>
          <a:xfrm>
            <a:off x="1841500" y="4762500"/>
            <a:ext cx="736600" cy="736600"/>
          </a:xfrm>
          <a:prstGeom prst="ellipse">
            <a:avLst/>
          </a:prstGeom>
          <a:solidFill>
            <a:srgbClr val="4C9FFF"/>
          </a:solidFill>
          <a:ln w="15240">
            <a:solidFill>
              <a:srgbClr val="4C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16</a:t>
            </a:r>
          </a:p>
        </p:txBody>
      </p:sp>
      <p:sp>
        <p:nvSpPr>
          <p:cNvPr id="55" name="Oval 54"/>
          <p:cNvSpPr/>
          <p:nvPr/>
        </p:nvSpPr>
        <p:spPr>
          <a:xfrm>
            <a:off x="3175000" y="4762500"/>
            <a:ext cx="736600" cy="736600"/>
          </a:xfrm>
          <a:prstGeom prst="ellipse">
            <a:avLst/>
          </a:prstGeom>
          <a:solidFill>
            <a:srgbClr val="17C3A2"/>
          </a:solidFill>
          <a:ln w="15240">
            <a:solidFill>
              <a:srgbClr val="17C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17</a:t>
            </a:r>
          </a:p>
        </p:txBody>
      </p:sp>
      <p:sp>
        <p:nvSpPr>
          <p:cNvPr id="56" name="Oval 55"/>
          <p:cNvSpPr/>
          <p:nvPr/>
        </p:nvSpPr>
        <p:spPr>
          <a:xfrm>
            <a:off x="4508500" y="4762500"/>
            <a:ext cx="736600" cy="736600"/>
          </a:xfrm>
          <a:prstGeom prst="ellipse">
            <a:avLst/>
          </a:prstGeom>
          <a:solidFill>
            <a:srgbClr val="A78BFA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Transaction Artifact Ledger - 19 / 29 /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C10, C11, C12, C21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3000" y="1333500"/>
            <a:ext cx="3937000" cy="1206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43D17C"/>
                </a:solidFill>
                <a:latin typeface="Arial"/>
              </a:rPr>
              <a:t>19 artifacts</a:t>
            </a:r>
          </a:p>
          <a:p>
            <a:pPr algn="ctr">
              <a:spcAft>
                <a:spcPts val="0"/>
              </a:spcAft>
            </a:pPr>
            <a:r>
              <a:rPr sz="2400" b="1">
                <a:solidFill>
                  <a:srgbClr val="43D17C"/>
                </a:solidFill>
                <a:latin typeface="Arial"/>
              </a:rPr>
              <a:t>29 dependency edges</a:t>
            </a:r>
          </a:p>
          <a:p>
            <a:pPr algn="ctr">
              <a:spcAft>
                <a:spcPts val="0"/>
              </a:spcAft>
            </a:pPr>
            <a:r>
              <a:rPr sz="2400" b="1">
                <a:solidFill>
                  <a:srgbClr val="43D17C"/>
                </a:solidFill>
                <a:latin typeface="Arial"/>
              </a:rPr>
              <a:t>3 Root finals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3000" y="2794000"/>
            <a:ext cx="3937000" cy="177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A9BAC8"/>
                </a:solidFill>
                <a:latin typeface="Arial"/>
              </a:rPr>
              <a:t>Blue: ClientRoot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A9BAC8"/>
                </a:solidFill>
                <a:latin typeface="Arial"/>
              </a:rPr>
              <a:t>Teal: AirlineRoot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A9BAC8"/>
                </a:solidFill>
                <a:latin typeface="Arial"/>
              </a:rPr>
              <a:t>Violet: BankRoot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A9BAC8"/>
                </a:solidFill>
                <a:latin typeface="Arial"/>
              </a:rPr>
              <a:t>Amber: advisory/evidence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3000" y="4953000"/>
            <a:ext cx="3937000" cy="698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All dependencies point backward.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540000" y="2971800"/>
            <a:ext cx="4445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 rot="5400000">
            <a:off x="2882900" y="29210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826000" y="2971800"/>
            <a:ext cx="4445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5168900" y="29210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112000" y="2971800"/>
            <a:ext cx="4445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7454900" y="29210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398000" y="2971800"/>
            <a:ext cx="4445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9740900" y="29210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8500" y="2413000"/>
            <a:ext cx="1841500" cy="1117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4F7FA"/>
                </a:solidFill>
                <a:latin typeface="Arial"/>
              </a:rPr>
              <a:t>9 source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4500" y="2413000"/>
            <a:ext cx="1841500" cy="1117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4F7FA"/>
                </a:solidFill>
                <a:latin typeface="Arial"/>
              </a:rPr>
              <a:t>19 hashes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70500" y="2413000"/>
            <a:ext cx="1841500" cy="1117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4F7FA"/>
                </a:solidFill>
                <a:latin typeface="Arial"/>
              </a:rPr>
              <a:t>Ordered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F4F7FA"/>
                </a:solidFill>
                <a:latin typeface="Arial"/>
              </a:rPr>
              <a:t>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56500" y="2413000"/>
            <a:ext cx="1841500" cy="1117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4F7FA"/>
                </a:solidFill>
                <a:latin typeface="Arial"/>
              </a:rPr>
              <a:t>Manifest 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42500" y="2413000"/>
            <a:ext cx="1841500" cy="1117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29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4F7FA"/>
                </a:solidFill>
                <a:latin typeface="Arial"/>
              </a:rPr>
              <a:t>11 critical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F4F7FA"/>
                </a:solidFill>
                <a:latin typeface="Arial"/>
              </a:rPr>
              <a:t>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Crypto generation - 9 / 11 and SELF_CONSISTENT_UNANCHORED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C13, C14, C15, C24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0000" y="1270000"/>
            <a:ext cx="965200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FFB74D"/>
                </a:solidFill>
                <a:latin typeface="Arial"/>
              </a:rPr>
              <a:t>Generation status: SELF_CONSISTENT_UNANCHORED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0000" y="4318000"/>
            <a:ext cx="9652000" cy="1143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F4F7FA"/>
                </a:solidFill>
                <a:latin typeface="Arial"/>
              </a:rPr>
              <a:t>No external Anchor at generation. No anchored PASS claimed.</a:t>
            </a:r>
          </a:p>
          <a:p>
            <a:pPr algn="ctr">
              <a:spcAft>
                <a:spcPts val="0"/>
              </a:spcAft>
            </a:pPr>
            <a:r>
              <a:rPr sz="2000" b="0">
                <a:solidFill>
                  <a:srgbClr val="F4F7FA"/>
                </a:solidFill>
                <a:latin typeface="Arial"/>
              </a:rPr>
              <a:t>UNSIGNED_PLACEHOLDER / signature verified false.</a:t>
            </a:r>
          </a:p>
          <a:p>
            <a:pPr algn="ctr">
              <a:spcAft>
                <a:spcPts val="0"/>
              </a:spcAft>
            </a:pPr>
            <a:r>
              <a:rPr sz="2000" b="0">
                <a:solidFill>
                  <a:srgbClr val="F4F7FA"/>
                </a:solidFill>
                <a:latin typeface="Arial"/>
              </a:rPr>
              <a:t>Integrity is not semantic truth.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588000" y="3111500"/>
            <a:ext cx="10160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 rot="5400000">
            <a:off x="6502400" y="30607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8500" y="1460500"/>
            <a:ext cx="4889500" cy="13716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MOMENT 1</a:t>
            </a:r>
          </a:p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Stored package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" y="3022600"/>
            <a:ext cx="4889500" cy="736600"/>
          </a:xfrm>
          <a:prstGeom prst="roundRect">
            <a:avLst/>
          </a:prstGeom>
          <a:solidFill>
            <a:srgbClr val="122C3D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A"/>
                </a:solidFill>
                <a:latin typeface="Arial"/>
              </a:rPr>
              <a:t>SELF_CONSISTENT_UNANCHORED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8500" y="3949700"/>
            <a:ext cx="4889500" cy="8128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Anchor absent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Signature unverified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4000" y="1460500"/>
            <a:ext cx="4889500" cy="3302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3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MOMENT 2</a:t>
            </a:r>
          </a:p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Committed external Anchor</a:t>
            </a:r>
          </a:p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Fresh Verification PASS</a:t>
            </a:r>
          </a:p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Anchor supplied + verified</a:t>
            </a:r>
          </a:p>
          <a:p>
            <a:pPr algn="ctr">
              <a:spcAft>
                <a:spcPts val="0"/>
              </a:spcAft>
            </a:pPr>
            <a:r>
              <a:rPr sz="2200" b="1">
                <a:solidFill>
                  <a:srgbClr val="F4F7FA"/>
                </a:solidFill>
                <a:latin typeface="Arial"/>
              </a:rPr>
              <a:t>19-row Replay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Committed external Anchor and 19-row Replay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C15, C16, C17, C18, C19, C21, C24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7500" y="5207000"/>
            <a:ext cx="9017000" cy="787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9D3E2"/>
                </a:solidFill>
                <a:latin typeface="Arial"/>
              </a:rPr>
              <a:t>Replay provider / network / Gemini: 0 / 0 / 0 Package bytes unchanged: true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51500" y="3365500"/>
            <a:ext cx="889000" cy="0"/>
          </a:xfrm>
          <a:prstGeom prst="line">
            <a:avLst/>
          </a:prstGeom>
          <a:ln w="19050">
            <a:solidFill>
              <a:srgbClr val="29D3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Isosceles Triangle 2"/>
          <p:cNvSpPr/>
          <p:nvPr/>
        </p:nvSpPr>
        <p:spPr>
          <a:xfrm rot="5400000">
            <a:off x="6438900" y="3314700"/>
            <a:ext cx="101600" cy="101600"/>
          </a:xfrm>
          <a:prstGeom prst="triangle">
            <a:avLst/>
          </a:prstGeom>
          <a:solidFill>
            <a:srgbClr val="29D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1500" y="1422400"/>
            <a:ext cx="5080000" cy="3937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FF6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FIRST OFFICIAL PACKAGE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12 real Gemini calls completed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Ledger compatibility false positive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FAIL_CLOSED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No Anchor / no Replay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Preserved / not promoted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40500" y="1422400"/>
            <a:ext cx="5080000" cy="39370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3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DISTINCT RECOVERY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Repair commit 38ad0b0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411 focused tests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1230 compatibility tests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Separate package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Generation PASS</a:t>
            </a:r>
          </a:p>
          <a:p>
            <a:pPr algn="ctr">
              <a:spcAft>
                <a:spcPts val="0"/>
              </a:spcAft>
            </a:pPr>
            <a:r>
              <a:rPr sz="2100" b="1">
                <a:solidFill>
                  <a:srgbClr val="F4F7FA"/>
                </a:solidFill>
                <a:latin typeface="Arial"/>
              </a:rPr>
              <a:t>Anchored Replay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First honest FAIL_CLOSED run and distinct successful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C22, C23, C01, C17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333500"/>
            <a:ext cx="5334000" cy="34925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43D1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WHAT WAS PROVED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Bounded real LLM reasoning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Root authority separation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Deterministic Corridor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Causal Ledger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Byte-integrity Crypto Seal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Committed Anchor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Zero-rerun Replay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86500" y="1333500"/>
            <a:ext cx="5334000" cy="3492500"/>
          </a:xfrm>
          <a:prstGeom prst="roundRect">
            <a:avLst/>
          </a:prstGeom>
          <a:solidFill>
            <a:srgbClr val="0E2233"/>
          </a:solidFill>
          <a:ln w="1524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63500" bIns="63500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WHAT WAS NOT PROVED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No real ticket / booking / payment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No production integration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No PKI / signer authentication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No Root Attestation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Crypto is not semantic truth</a:t>
            </a:r>
          </a:p>
          <a:p>
            <a:pPr algn="ctr">
              <a:spcAft>
                <a:spcPts val="0"/>
              </a:spcAft>
            </a:pPr>
            <a:r>
              <a:rPr sz="2000" b="1">
                <a:solidFill>
                  <a:srgbClr val="F4F7FA"/>
                </a:solidFill>
                <a:latin typeface="Arial"/>
              </a:rPr>
              <a:t>Replay is not effect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600" y="127000"/>
            <a:ext cx="3302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D3E2"/>
                </a:solidFill>
                <a:latin typeface="Arial"/>
              </a:rPr>
              <a:t>HEDGEHOG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600" y="406400"/>
            <a:ext cx="1148080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7FA"/>
                </a:solidFill>
                <a:latin typeface="Arial"/>
              </a:rPr>
              <a:t>What was proved, non-claims, and evidence entry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" y="65024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Evidence: C17, C19, C20, C21, C24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9800" y="6502400"/>
            <a:ext cx="7366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9BAC8"/>
                </a:solidFill>
                <a:latin typeface="Arial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5016500"/>
            <a:ext cx="10795000" cy="12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9D3E2"/>
                </a:solidFill>
                <a:latin typeface="Arial"/>
              </a:rPr>
              <a:t>Evidence entry points: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29D3E2"/>
                </a:solidFill>
                <a:latin typeface="Arial"/>
              </a:rPr>
              <a:t>docs/airline_all_real_full_stack_human_story_v01.md | docs/airline_all_real_full_stack_crypto_anchor_v01.json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29D3E2"/>
                </a:solidFill>
                <a:latin typeface="Arial"/>
              </a:rPr>
              <a:t>docs/airline_all_real_full_stack_replay_report_v01.json | docs/audit_reports/auditor_airline_all_real_full_stack_v01_generation_anchor_publication.log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29D3E2"/>
                </a:solidFill>
                <a:latin typeface="Arial"/>
              </a:rPr>
              <a:t>docs/audit_reports/auditor_airline_all_real_full_stack_v01_anchored_replay.log | docs/showcase/airline_all_real_full_stack_v01/claim_evidence_matrix_v01.json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Hedgehog OS Airline All-Real Evidence Showcase v0.1</dc:title>
  <dc:subject>Artifact-backed proof-level Airline evidence showcase</dc:subject>
  <dc:creator>Hedgehog OS</dc:creator>
  <cp:keywords/>
  <dc:description>generated using python-pptx</dc:description>
  <cp:lastModifiedBy>Hedgehog OS</cp:lastModifiedBy>
  <cp:revision>1</cp:revision>
  <dcterms:created xsi:type="dcterms:W3CDTF">2000-01-01T00:00:00Z</dcterms:created>
  <dcterms:modified xsi:type="dcterms:W3CDTF">2000-01-01T00:00:00Z</dcterms:modified>
  <cp:category/>
</cp:coreProperties>
</file>