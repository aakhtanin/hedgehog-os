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06e7202ff748c3" /><Relationship Type="http://schemas.openxmlformats.org/officeDocument/2006/relationships/extended-properties" Target="/docProps/app.xml" Id="Ra09e4ff55024493a" /><Relationship Type="http://schemas.openxmlformats.org/officeDocument/2006/relationships/officeDocument" Target="/ppt/presentation.xml" Id="R0ef4ab947f2145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abc2a62b8d44f5"/>
  </p:sldMasterIdLst>
  <p:notesMasterIdLst>
    <p:notesMasterId xmlns:r="http://schemas.openxmlformats.org/officeDocument/2006/relationships" r:id="Ra53b6c8221404474"/>
  </p:notesMasterIdLst>
  <p:sldIdLst>
    <p:sldId xmlns:r="http://schemas.openxmlformats.org/officeDocument/2006/relationships" id="256" r:id="R98a49c62bfda4abc"/>
    <p:sldId xmlns:r="http://schemas.openxmlformats.org/officeDocument/2006/relationships" id="257" r:id="Ra84757b137974b6d"/>
    <p:sldId xmlns:r="http://schemas.openxmlformats.org/officeDocument/2006/relationships" id="258" r:id="R09c4a53601aa4f50"/>
    <p:sldId xmlns:r="http://schemas.openxmlformats.org/officeDocument/2006/relationships" id="259" r:id="R8949c1a360044e0c"/>
    <p:sldId xmlns:r="http://schemas.openxmlformats.org/officeDocument/2006/relationships" id="260" r:id="Re9c7358b980b4434"/>
    <p:sldId xmlns:r="http://schemas.openxmlformats.org/officeDocument/2006/relationships" id="261" r:id="Reb4057dc868d4558"/>
    <p:sldId xmlns:r="http://schemas.openxmlformats.org/officeDocument/2006/relationships" id="262" r:id="Rbaaa522aa4d34838"/>
    <p:sldId xmlns:r="http://schemas.openxmlformats.org/officeDocument/2006/relationships" id="263" r:id="R7ddc9e42dbbc4231"/>
    <p:sldId xmlns:r="http://schemas.openxmlformats.org/officeDocument/2006/relationships" id="264" r:id="Rb08e841da8824912"/>
    <p:sldId xmlns:r="http://schemas.openxmlformats.org/officeDocument/2006/relationships" id="265" r:id="Rba1a013d0456456e"/>
    <p:sldId xmlns:r="http://schemas.openxmlformats.org/officeDocument/2006/relationships" id="266" r:id="R3d0b86df7e1f405c"/>
    <p:sldId xmlns:r="http://schemas.openxmlformats.org/officeDocument/2006/relationships" id="267" r:id="Rdbaee07396324748"/>
    <p:sldId xmlns:r="http://schemas.openxmlformats.org/officeDocument/2006/relationships" id="268" r:id="R328ef68cd9134871"/>
    <p:sldId xmlns:r="http://schemas.openxmlformats.org/officeDocument/2006/relationships" id="269" r:id="R6c06e6ed5ce54912"/>
    <p:sldId xmlns:r="http://schemas.openxmlformats.org/officeDocument/2006/relationships" id="270" r:id="R4ef9fa4f9de04f58"/>
    <p:sldId xmlns:r="http://schemas.openxmlformats.org/officeDocument/2006/relationships" id="271" r:id="R3bf96ad35c894e96"/>
    <p:sldId xmlns:r="http://schemas.openxmlformats.org/officeDocument/2006/relationships" id="272" r:id="R7d1795874c394b67"/>
    <p:sldId xmlns:r="http://schemas.openxmlformats.org/officeDocument/2006/relationships" id="273" r:id="Rae2216469fe24891"/>
    <p:sldId xmlns:r="http://schemas.openxmlformats.org/officeDocument/2006/relationships" id="274" r:id="R3f2134b78c9b457e"/>
    <p:sldId xmlns:r="http://schemas.openxmlformats.org/officeDocument/2006/relationships" id="275" r:id="Rda612c17bbb14b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6dd944866d45fc" /><Relationship Type="http://schemas.openxmlformats.org/officeDocument/2006/relationships/slideMaster" Target="/ppt/slideMasters/slideMaster1.xml" Id="R16abc2a62b8d44f5" /><Relationship Type="http://schemas.openxmlformats.org/officeDocument/2006/relationships/notesMaster" Target="/ppt/notesMasters/notesMaster1.xml" Id="Ra53b6c8221404474" /><Relationship Type="http://schemas.openxmlformats.org/officeDocument/2006/relationships/presProps" Target="/ppt/presProps.xml" Id="Ra09835f8fefe415f" /><Relationship Type="http://schemas.openxmlformats.org/officeDocument/2006/relationships/tableStyles" Target="/ppt/tableStyles.xml" Id="R4c06fc867833406e" /><Relationship Type="http://schemas.openxmlformats.org/officeDocument/2006/relationships/slide" Target="/ppt/slides/slide1.xml" Id="R98a49c62bfda4abc" /><Relationship Type="http://schemas.openxmlformats.org/officeDocument/2006/relationships/slide" Target="/ppt/slides/slide2.xml" Id="Ra84757b137974b6d" /><Relationship Type="http://schemas.openxmlformats.org/officeDocument/2006/relationships/slide" Target="/ppt/slides/slide3.xml" Id="R09c4a53601aa4f50" /><Relationship Type="http://schemas.openxmlformats.org/officeDocument/2006/relationships/slide" Target="/ppt/slides/slide4.xml" Id="R8949c1a360044e0c" /><Relationship Type="http://schemas.openxmlformats.org/officeDocument/2006/relationships/slide" Target="/ppt/slides/slide5.xml" Id="Re9c7358b980b4434" /><Relationship Type="http://schemas.openxmlformats.org/officeDocument/2006/relationships/slide" Target="/ppt/slides/slide6.xml" Id="Reb4057dc868d4558" /><Relationship Type="http://schemas.openxmlformats.org/officeDocument/2006/relationships/slide" Target="/ppt/slides/slide7.xml" Id="Rbaaa522aa4d34838" /><Relationship Type="http://schemas.openxmlformats.org/officeDocument/2006/relationships/slide" Target="/ppt/slides/slide8.xml" Id="R7ddc9e42dbbc4231" /><Relationship Type="http://schemas.openxmlformats.org/officeDocument/2006/relationships/slide" Target="/ppt/slides/slide9.xml" Id="Rb08e841da8824912" /><Relationship Type="http://schemas.openxmlformats.org/officeDocument/2006/relationships/slide" Target="/ppt/slides/slide10.xml" Id="Rba1a013d0456456e" /><Relationship Type="http://schemas.openxmlformats.org/officeDocument/2006/relationships/slide" Target="/ppt/slides/slide11.xml" Id="R3d0b86df7e1f405c" /><Relationship Type="http://schemas.openxmlformats.org/officeDocument/2006/relationships/slide" Target="/ppt/slides/slide12.xml" Id="Rdbaee07396324748" /><Relationship Type="http://schemas.openxmlformats.org/officeDocument/2006/relationships/slide" Target="/ppt/slides/slide13.xml" Id="R328ef68cd9134871" /><Relationship Type="http://schemas.openxmlformats.org/officeDocument/2006/relationships/slide" Target="/ppt/slides/slide14.xml" Id="R6c06e6ed5ce54912" /><Relationship Type="http://schemas.openxmlformats.org/officeDocument/2006/relationships/slide" Target="/ppt/slides/slide15.xml" Id="R4ef9fa4f9de04f58" /><Relationship Type="http://schemas.openxmlformats.org/officeDocument/2006/relationships/slide" Target="/ppt/slides/slide16.xml" Id="R3bf96ad35c894e96" /><Relationship Type="http://schemas.openxmlformats.org/officeDocument/2006/relationships/slide" Target="/ppt/slides/slide17.xml" Id="R7d1795874c394b67" /><Relationship Type="http://schemas.openxmlformats.org/officeDocument/2006/relationships/slide" Target="/ppt/slides/slide18.xml" Id="Rae2216469fe24891" /><Relationship Type="http://schemas.openxmlformats.org/officeDocument/2006/relationships/slide" Target="/ppt/slides/slide19.xml" Id="R3f2134b78c9b457e" /><Relationship Type="http://schemas.openxmlformats.org/officeDocument/2006/relationships/slide" Target="/ppt/slides/slide20.xml" Id="Rda612c17bbb14b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2f8c50f1104f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ea8bd85c544235" /><Relationship Type="http://schemas.openxmlformats.org/officeDocument/2006/relationships/notesMaster" Target="/ppt/notesMasters/notesMaster1.xml" Id="R6b1827d60ea84d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e9a4a5ef3a475b" /><Relationship Type="http://schemas.openxmlformats.org/officeDocument/2006/relationships/notesMaster" Target="/ppt/notesMasters/notesMaster1.xml" Id="R69a2da6e33774d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17f03133714645" /><Relationship Type="http://schemas.openxmlformats.org/officeDocument/2006/relationships/notesMaster" Target="/ppt/notesMasters/notesMaster1.xml" Id="R46770a9a800041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1ea99bfc5d47cf" /><Relationship Type="http://schemas.openxmlformats.org/officeDocument/2006/relationships/notesMaster" Target="/ppt/notesMasters/notesMaster1.xml" Id="Re14c7bdb4fed4e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e3179e01a740c8" /><Relationship Type="http://schemas.openxmlformats.org/officeDocument/2006/relationships/notesMaster" Target="/ppt/notesMasters/notesMaster1.xml" Id="Raa4f9a7c9b8740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f36760557c457d" /><Relationship Type="http://schemas.openxmlformats.org/officeDocument/2006/relationships/notesMaster" Target="/ppt/notesMasters/notesMaster1.xml" Id="R1afd1219cfb446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ed99b21f8b42be" /><Relationship Type="http://schemas.openxmlformats.org/officeDocument/2006/relationships/notesMaster" Target="/ppt/notesMasters/notesMaster1.xml" Id="R1c63a139eb7449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a06b0f334741aa" /><Relationship Type="http://schemas.openxmlformats.org/officeDocument/2006/relationships/notesMaster" Target="/ppt/notesMasters/notesMaster1.xml" Id="Rc9b72c4abc824c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5d072d69c44591" /><Relationship Type="http://schemas.openxmlformats.org/officeDocument/2006/relationships/notesMaster" Target="/ppt/notesMasters/notesMaster1.xml" Id="R370562bbe3724a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9a482b488c4c28" /><Relationship Type="http://schemas.openxmlformats.org/officeDocument/2006/relationships/notesMaster" Target="/ppt/notesMasters/notesMaster1.xml" Id="R50cd5e01906b41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da82e2ebab416c" /><Relationship Type="http://schemas.openxmlformats.org/officeDocument/2006/relationships/notesMaster" Target="/ppt/notesMasters/notesMaster1.xml" Id="R4046bf597a8b42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21863e917d4ebb" /><Relationship Type="http://schemas.openxmlformats.org/officeDocument/2006/relationships/notesMaster" Target="/ppt/notesMasters/notesMaster1.xml" Id="Rfae6f07dbde84a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e46645890c40b1" /><Relationship Type="http://schemas.openxmlformats.org/officeDocument/2006/relationships/notesMaster" Target="/ppt/notesMasters/notesMaster1.xml" Id="R4399137d98854d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77775397c34569" /><Relationship Type="http://schemas.openxmlformats.org/officeDocument/2006/relationships/notesMaster" Target="/ppt/notesMasters/notesMaster1.xml" Id="R3a0a741039e247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99330eef2346e5" /><Relationship Type="http://schemas.openxmlformats.org/officeDocument/2006/relationships/notesMaster" Target="/ppt/notesMasters/notesMaster1.xml" Id="R63912717acd647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175db8397b4537" /><Relationship Type="http://schemas.openxmlformats.org/officeDocument/2006/relationships/notesMaster" Target="/ppt/notesMasters/notesMaster1.xml" Id="Re0c5e35420994d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419c54b9c84953" /><Relationship Type="http://schemas.openxmlformats.org/officeDocument/2006/relationships/notesMaster" Target="/ppt/notesMasters/notesMaster1.xml" Id="Rd416155747684b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5ab1921a044000" /><Relationship Type="http://schemas.openxmlformats.org/officeDocument/2006/relationships/notesMaster" Target="/ppt/notesMasters/notesMaster1.xml" Id="Rb4eba66e37924d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77b54997d14e3c" /><Relationship Type="http://schemas.openxmlformats.org/officeDocument/2006/relationships/notesMaster" Target="/ppt/notesMasters/notesMaster1.xml" Id="Rfb17b9c9ab254d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7f7efc91e824bdd" /><Relationship Type="http://schemas.openxmlformats.org/officeDocument/2006/relationships/notesMaster" Target="/ppt/notesMasters/notesMaster1.xml" Id="R441d3c9e84fd4b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OBSERVED_ACCOUNT_RETURN + DERIVED. Saved W4 plans, not the local W3 plans. Wishes are editorial paraphrases. Synthetic guest IDs. Table membership is meaningful; order within each displayed table does not assert chair adjacency. Radiolarian is conceptual artwork.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Explanatory architecture assembled from observed W2/W3/W4 stages. One organizer owner in the Wedding demonstration, not a federation or supra-Root. Six distinct W3 native tasks. Time and LocalDRS branches are not claimed to execute in every episode.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ARCHITECTURAL_COMPARISON. L1-L5 as documented in SOURCES.md. No head-to-head benchmark. We do not claim earlier systems cannot express changed inputs or validate results.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all 19 original captures, receipts and source_impact. Initial FAILED is a local receipt status, not a hallucination rate. Call15 was later consumed without changing its raw response. A/SR1 selected traces used captured execution; other final episodes retained live-role origin. Full requests and responses in Reader.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W3 A/B. These are local W3 seating plans, distinct from the hardware W4 selections on S01. Selected A is CAPTURED_PROVIDER_RESPONSE_REEXECUTION; B is LIVE_ROLE_ORIGIN. The profiles have different objective units; zero scores do not support comparing the two metrics as a single ranking.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SR1/SR2/SR3. Call17 actually contains two replacements; second refers to added:3f21ee24070770e6a7dbc90bd1272907 for guest_08. Displayed line wraps only. Domain source/currentness refusal is not an invented fresh Root REJECT. SCRIPTED_CONTROLLED_OWNER_INPUT was followed by actual current Root review.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CALL19 exact selected fields, line breaks derived. Generation row is an explanatory pipeline; actual Work names and native dispatch counts are in A13/Reader. Six native tasks, 24 dispatches, four search episodes in the final W3 story. CLARIFY did not force a solver invocation.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 task request:w2:keep:diagnostics allocated2 cohesion +2 mixing diagnostics, values4/2 for table1/table2, consumed by diagnostic_consume. Partial table coverage, not a full objective evaluation. LocalDRS actual search/eligibility and new Root-approved descent. No fresh GT calibration, external DRS, strong-GT aggregation or unlimited fractal execution.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history plus official T1 country list. Albania absent from published list; page offers contact-sales route and does not record personal refusal. Actual Cepheus task metadata is the device source. No D-Wave benchmark and no automatic dual-device failover are claimed.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W1/W4 exact encoding. 34,650 balanced assignments,24 original feasible. 1024 reduced states checked per profile. Pair6 fixed to table3. Code3 invalid; no repair. p=1 circuit used bounded classical 768-angle grid/profile;105 nonidentity Walsh terms,10H/105RZ/310CNOT/10RX source operations. This is not a hardware depth claim or quantum speedup.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OBSERVED_ACCOUNT_RETURN. Metadata, action, returned compiledProgram and all 2000 raw measurements available in package. Account-returned evidence is not independent physical attestation. Two tasks do not mean two different QPUs. Full ARNs in technical source; short aliases on slide for readable non-private navigation.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Raw-derived counts:KEEP967 invalid+28 feasible nonoptimal+5optimal=1000;MIX958+24+18=1000. Distinct feasible16/20. Blue segment represents optimal subset of feasible. Derivation independently decoded all recorded bit arrays; no QPU/model calls made for this presentation.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Raw bit strings shown in measuredQubits [0..9] order, not conventional reversed binary numeral. basis=sum(z_j*2^j). Both selected gap=0 under their own profiles. Zero is proven for this finite fixture by nonnegative objective plus valid zero witness. Source hashes full in A30/Reader. No local_repair.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elapsed6108.735s,MIX6086.308s from provider timestamps. Resume process96.7104043s. Prior authorization was not revived. No new tasks on resume; ledger retained the two original identities. Resource clocks and current review are distinguished from mere possession of a returned result.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Inspected actual egress plus existing negative controls, synthetic data only. Not a blanket privacy proof. Application HTTP/SAVE boundary sits alongside native PURE/MOCK operations, not a universal REAL_NETWORK implementation. TCB includes host/runtime, checker, provider bridge, local environment and cloud access. Exact least privilege not asserted without separately reviewed final IAM policy.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returned invalid/valid samples, not fabricated attacks. Shot2 basis128 has 8/0/4 table counts and violates condition07. Negative control pairs and exact refusal reasons are in A23. Distinguish raw invalid sample from controlled hostile mutation tests.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W5 two independent clean processes and installed W5L verifier agree byte-for-byte. New publication includes unchanged portable package plus a separately scoped supplementary call history. SHA256 binds bytes to an independently supplied expected identity; it is not a provider signature or physical truth attestation.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L1–L5 bibliography/version-pinned links in SOURCES.md. arXiv2604.10497v2 assessed, not current unversioned v3. Bellows/Peterson107 is not a proven optimum or Princeton standard. Masala has runtime solver/representation plugins. Ocean already provides feasibility helpers. No superiority claim.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ARCHITECTURAL_INFERENCE/FUTURE_EXTENSION. Source separation supports larger-domain engineering; no107test,noextrapolatedQPUclaims.107 not divisible by four, fixed pairs and full tables must change. CP-SAT/MILP or other backend candidates require a new bounded profile. Rule-family validation may be O(N+T+M) with indexing, not a benchmark here.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Reviewed engineering commitfbb136f4,34A,2508protectedfiles,26historicalmodes. Documentation targets become available after separately reviewed publication. Repository access is required. All source links and limits are visible in PDF, not only speaker notes. This is a finite inspectable case study, not production certification.</a:t>
            </a:r>
          </a:p>
          <a:p xmlns:a="http://schemas.openxmlformats.org/drawingml/2006/main">
            <a:r>
              <a:t>Sources: https://github.com/AAkhtanin/hedgehog-os/tree/fbb136f4fe1050a5f01be71ea00753c5e7b6fd1a</a:t>
            </a:r>
          </a:p>
          <a:p xmlns:a="http://schemas.openxmlformats.org/drawingml/2006/main">
            <a:r>
              <a:t>New showcase URLs are publication targets, not a claim of current remote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f91897d074a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a78b00b93d4fcf" /><Relationship Type="http://schemas.openxmlformats.org/officeDocument/2006/relationships/slideLayout" Target="/ppt/slideLayouts/slideLayout1.xml" Id="R161f845e696046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1f845e696046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f33b21e9b40ec" /><Relationship Type="http://schemas.openxmlformats.org/officeDocument/2006/relationships/hyperlink" Target="https://github.com/AAkhtanin/hedgehog-os/blob/main/docs/showcase/wedding_seating_v01/technical_appendix_v01.pdf#nameddest=A01" TargetMode="External" Id="R081dc7006e1c4e99" /><Relationship Type="http://schemas.openxmlformats.org/officeDocument/2006/relationships/hyperlink" Target="https://github.com/AAkhtanin/hedgehog-os/tree/fbb136f4fe1050a5f01be71ea00753c5e7b6fd1a" TargetMode="External" Id="R1d67fb7ab4624881" /><Relationship Type="http://schemas.openxmlformats.org/officeDocument/2006/relationships/image" Target="/ppt/media/image.png" Id="Rf6ce60e280024e83" /><Relationship Type="http://schemas.openxmlformats.org/officeDocument/2006/relationships/notesSlide" Target="/ppt/notesSlides/notesSlide1.xml" Id="Redba486032634b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1af7fc40a417a" /><Relationship Type="http://schemas.openxmlformats.org/officeDocument/2006/relationships/hyperlink" Target="https://github.com/AAkhtanin/hedgehog-os/blob/main/docs/showcase/wedding_seating_v01/technical_appendix_v01.pdf#nameddest=A02" TargetMode="External" Id="R7a829cb4db4446cf" /><Relationship Type="http://schemas.openxmlformats.org/officeDocument/2006/relationships/hyperlink" Target="https://github.com/AAkhtanin/hedgehog-os/tree/fbb136f4fe1050a5f01be71ea00753c5e7b6fd1a" TargetMode="External" Id="Rb0065ca4bff44dd5" /><Relationship Type="http://schemas.openxmlformats.org/officeDocument/2006/relationships/notesSlide" Target="/ppt/notesSlides/notesSlide2.xml" Id="R40c9bca394ba47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87ada08064e97" /><Relationship Type="http://schemas.openxmlformats.org/officeDocument/2006/relationships/hyperlink" Target="https://github.com/AAkhtanin/hedgehog-os/blob/main/docs/showcase/wedding_seating_v01/technical_appendix_v01.pdf#nameddest=A25" TargetMode="External" Id="Rcfb0070b7efc4535" /><Relationship Type="http://schemas.openxmlformats.org/officeDocument/2006/relationships/hyperlink" Target="https://github.com/AAkhtanin/hedgehog-os/tree/fbb136f4fe1050a5f01be71ea00753c5e7b6fd1a" TargetMode="External" Id="R6e0c9d4d192f4c54" /><Relationship Type="http://schemas.openxmlformats.org/officeDocument/2006/relationships/notesSlide" Target="/ppt/notesSlides/notesSlide3.xml" Id="R2281d373ec1c40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b5ebb829c4dec" /><Relationship Type="http://schemas.openxmlformats.org/officeDocument/2006/relationships/hyperlink" Target="https://github.com/AAkhtanin/hedgehog-os/blob/main/docs/showcase/wedding_seating_v01/technical_appendix_v01.pdf#nameddest=A05" TargetMode="External" Id="R36cc24eb1c244a59" /><Relationship Type="http://schemas.openxmlformats.org/officeDocument/2006/relationships/hyperlink" Target="https://github.com/AAkhtanin/hedgehog-os/tree/fbb136f4fe1050a5f01be71ea00753c5e7b6fd1a" TargetMode="External" Id="R3d59a8cb9ab8439e" /><Relationship Type="http://schemas.openxmlformats.org/officeDocument/2006/relationships/notesSlide" Target="/ppt/notesSlides/notesSlide4.xml" Id="R90decfb133c14f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1116462004bcc" /><Relationship Type="http://schemas.openxmlformats.org/officeDocument/2006/relationships/hyperlink" Target="https://github.com/AAkhtanin/hedgehog-os/blob/main/docs/showcase/wedding_seating_v01/technical_appendix_v01.pdf#nameddest=A11" TargetMode="External" Id="R8b7e9dbd3d63421f" /><Relationship Type="http://schemas.openxmlformats.org/officeDocument/2006/relationships/hyperlink" Target="https://github.com/AAkhtanin/hedgehog-os/tree/fbb136f4fe1050a5f01be71ea00753c5e7b6fd1a" TargetMode="External" Id="R1721c2e1c9a04b5e" /><Relationship Type="http://schemas.openxmlformats.org/officeDocument/2006/relationships/notesSlide" Target="/ppt/notesSlides/notesSlide5.xml" Id="Rcd248dbe1dca49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7c23dab764a39" /><Relationship Type="http://schemas.openxmlformats.org/officeDocument/2006/relationships/hyperlink" Target="https://github.com/AAkhtanin/hedgehog-os/blob/main/docs/showcase/wedding_seating_v01/technical_appendix_v01.pdf#nameddest=A12" TargetMode="External" Id="R784448473a6e4cbc" /><Relationship Type="http://schemas.openxmlformats.org/officeDocument/2006/relationships/hyperlink" Target="https://github.com/AAkhtanin/hedgehog-os/tree/fbb136f4fe1050a5f01be71ea00753c5e7b6fd1a" TargetMode="External" Id="R810061efc35c4b20" /><Relationship Type="http://schemas.openxmlformats.org/officeDocument/2006/relationships/notesSlide" Target="/ppt/notesSlides/notesSlide6.xml" Id="R992740abb26d42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b9b3874944647" /><Relationship Type="http://schemas.openxmlformats.org/officeDocument/2006/relationships/hyperlink" Target="https://github.com/AAkhtanin/hedgehog-os/blob/main/docs/showcase/wedding_seating_v01/technical_appendix_v01.pdf#nameddest=A11" TargetMode="External" Id="Rf2cc7e70fbd94746" /><Relationship Type="http://schemas.openxmlformats.org/officeDocument/2006/relationships/hyperlink" Target="https://github.com/AAkhtanin/hedgehog-os/tree/fbb136f4fe1050a5f01be71ea00753c5e7b6fd1a" TargetMode="External" Id="R7e2081a6908c489e" /><Relationship Type="http://schemas.openxmlformats.org/officeDocument/2006/relationships/notesSlide" Target="/ppt/notesSlides/notesSlide7.xml" Id="R1bd11466f1fd43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4e4d7277748d3" /><Relationship Type="http://schemas.openxmlformats.org/officeDocument/2006/relationships/hyperlink" Target="https://github.com/AAkhtanin/hedgehog-os/blob/main/docs/showcase/wedding_seating_v01/technical_appendix_v01.pdf#nameddest=A14" TargetMode="External" Id="R9d1fff9e77b24e6b" /><Relationship Type="http://schemas.openxmlformats.org/officeDocument/2006/relationships/hyperlink" Target="https://github.com/AAkhtanin/hedgehog-os/tree/fbb136f4fe1050a5f01be71ea00753c5e7b6fd1a" TargetMode="External" Id="R54c2a75030a54bc0" /><Relationship Type="http://schemas.openxmlformats.org/officeDocument/2006/relationships/notesSlide" Target="/ppt/notesSlides/notesSlide8.xml" Id="Re186c6bb9ca24e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05c1b44e742da" /><Relationship Type="http://schemas.openxmlformats.org/officeDocument/2006/relationships/hyperlink" Target="https://github.com/AAkhtanin/hedgehog-os/blob/main/docs/showcase/wedding_seating_v01/technical_appendix_v01.pdf#nameddest=A17" TargetMode="External" Id="R83ac4922a7ed4ce5" /><Relationship Type="http://schemas.openxmlformats.org/officeDocument/2006/relationships/hyperlink" Target="https://github.com/AAkhtanin/hedgehog-os/tree/fbb136f4fe1050a5f01be71ea00753c5e7b6fd1a" TargetMode="External" Id="Rad94c7c6fd9c4f66" /><Relationship Type="http://schemas.openxmlformats.org/officeDocument/2006/relationships/notesSlide" Target="/ppt/notesSlides/notesSlide9.xml" Id="R24361373ee5844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37ce8a2d04cf4" /><Relationship Type="http://schemas.openxmlformats.org/officeDocument/2006/relationships/hyperlink" Target="https://github.com/AAkhtanin/hedgehog-os/blob/main/docs/showcase/wedding_seating_v01/technical_appendix_v01.pdf#nameddest=A16" TargetMode="External" Id="Ra36add80471f4aa6" /><Relationship Type="http://schemas.openxmlformats.org/officeDocument/2006/relationships/hyperlink" Target="https://github.com/AAkhtanin/hedgehog-os/tree/fbb136f4fe1050a5f01be71ea00753c5e7b6fd1a" TargetMode="External" Id="Rb147c1acb4c9404d" /><Relationship Type="http://schemas.openxmlformats.org/officeDocument/2006/relationships/notesSlide" Target="/ppt/notesSlides/notesSlide10.xml" Id="R949fa25a8a7f46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aed540f7344b0" /><Relationship Type="http://schemas.openxmlformats.org/officeDocument/2006/relationships/hyperlink" Target="https://github.com/AAkhtanin/hedgehog-os/blob/main/docs/showcase/wedding_seating_v01/technical_appendix_v01.pdf#nameddest=A19" TargetMode="External" Id="R846913cbb8294640" /><Relationship Type="http://schemas.openxmlformats.org/officeDocument/2006/relationships/hyperlink" Target="https://github.com/AAkhtanin/hedgehog-os/tree/fbb136f4fe1050a5f01be71ea00753c5e7b6fd1a" TargetMode="External" Id="R61bfcd765fa54bfc" /><Relationship Type="http://schemas.openxmlformats.org/officeDocument/2006/relationships/notesSlide" Target="/ppt/notesSlides/notesSlide11.xml" Id="R9f97aeec89384f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a0e596575464d" /><Relationship Type="http://schemas.openxmlformats.org/officeDocument/2006/relationships/hyperlink" Target="https://github.com/AAkhtanin/hedgehog-os/blob/main/docs/showcase/wedding_seating_v01/technical_appendix_v01.pdf#nameddest=A20" TargetMode="External" Id="Rd98893c65ed64ca5" /><Relationship Type="http://schemas.openxmlformats.org/officeDocument/2006/relationships/hyperlink" Target="https://github.com/AAkhtanin/hedgehog-os/tree/fbb136f4fe1050a5f01be71ea00753c5e7b6fd1a" TargetMode="External" Id="R696f159190bb49e4" /><Relationship Type="http://schemas.openxmlformats.org/officeDocument/2006/relationships/chart" Target="/ppt/slides/charts/chart1.xml" Id="R3b2491aafde04340" /><Relationship Type="http://schemas.openxmlformats.org/officeDocument/2006/relationships/notesSlide" Target="/ppt/notesSlides/notesSlide12.xml" Id="Rc84ce8db75894b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bfe9415754c38" /><Relationship Type="http://schemas.openxmlformats.org/officeDocument/2006/relationships/hyperlink" Target="https://github.com/AAkhtanin/hedgehog-os/blob/main/docs/showcase/wedding_seating_v01/technical_appendix_v01.pdf#nameddest=A20" TargetMode="External" Id="Rb25b5efdf4664476" /><Relationship Type="http://schemas.openxmlformats.org/officeDocument/2006/relationships/hyperlink" Target="https://github.com/AAkhtanin/hedgehog-os/tree/fbb136f4fe1050a5f01be71ea00753c5e7b6fd1a" TargetMode="External" Id="Re1542c8fdc614695" /><Relationship Type="http://schemas.openxmlformats.org/officeDocument/2006/relationships/notesSlide" Target="/ppt/notesSlides/notesSlide13.xml" Id="R9e19eb8f8b9b4d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3f96ed8ef4b35" /><Relationship Type="http://schemas.openxmlformats.org/officeDocument/2006/relationships/hyperlink" Target="https://github.com/AAkhtanin/hedgehog-os/blob/main/docs/showcase/wedding_seating_v01/technical_appendix_v01.pdf#nameddest=A22" TargetMode="External" Id="Rdd136667bda24620" /><Relationship Type="http://schemas.openxmlformats.org/officeDocument/2006/relationships/hyperlink" Target="https://github.com/AAkhtanin/hedgehog-os/tree/fbb136f4fe1050a5f01be71ea00753c5e7b6fd1a" TargetMode="External" Id="Rb32558cbcaac461f" /><Relationship Type="http://schemas.openxmlformats.org/officeDocument/2006/relationships/notesSlide" Target="/ppt/notesSlides/notesSlide14.xml" Id="Rbb21616c714a4c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3dcac99c742af" /><Relationship Type="http://schemas.openxmlformats.org/officeDocument/2006/relationships/hyperlink" Target="https://github.com/AAkhtanin/hedgehog-os/blob/main/docs/showcase/wedding_seating_v01/technical_appendix_v01.pdf#nameddest=A18" TargetMode="External" Id="R298819f896d647f1" /><Relationship Type="http://schemas.openxmlformats.org/officeDocument/2006/relationships/hyperlink" Target="https://github.com/AAkhtanin/hedgehog-os/tree/fbb136f4fe1050a5f01be71ea00753c5e7b6fd1a" TargetMode="External" Id="R0fcb66ddb196419a" /><Relationship Type="http://schemas.openxmlformats.org/officeDocument/2006/relationships/notesSlide" Target="/ppt/notesSlides/notesSlide15.xml" Id="R72551278eccf4d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443b8e5664676" /><Relationship Type="http://schemas.openxmlformats.org/officeDocument/2006/relationships/hyperlink" Target="https://github.com/AAkhtanin/hedgehog-os/blob/main/docs/showcase/wedding_seating_v01/technical_appendix_v01.pdf#nameddest=A23" TargetMode="External" Id="R6fe222052cc5495c" /><Relationship Type="http://schemas.openxmlformats.org/officeDocument/2006/relationships/hyperlink" Target="https://github.com/AAkhtanin/hedgehog-os/tree/fbb136f4fe1050a5f01be71ea00753c5e7b6fd1a" TargetMode="External" Id="R955933236b214eaf" /><Relationship Type="http://schemas.openxmlformats.org/officeDocument/2006/relationships/notesSlide" Target="/ppt/notesSlides/notesSlide16.xml" Id="Rcbd2a9419e5345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5067f15a84061" /><Relationship Type="http://schemas.openxmlformats.org/officeDocument/2006/relationships/hyperlink" Target="https://github.com/AAkhtanin/hedgehog-os/blob/main/docs/showcase/wedding_seating_v01/technical_appendix_v01.pdf#nameddest=A24" TargetMode="External" Id="R41a3af8df3d04842" /><Relationship Type="http://schemas.openxmlformats.org/officeDocument/2006/relationships/hyperlink" Target="https://github.com/AAkhtanin/hedgehog-os/tree/fbb136f4fe1050a5f01be71ea00753c5e7b6fd1a" TargetMode="External" Id="Rfde94a55bd0f4290" /><Relationship Type="http://schemas.openxmlformats.org/officeDocument/2006/relationships/hyperlink" Target="https://github.com/AAkhtanin/hedgehog-os/blob/main/docs/showcase/wedding_seating_v01/README.md#verify-recorded-evidence" TargetMode="External" Id="Raf231efcabd649a7" /><Relationship Type="http://schemas.openxmlformats.org/officeDocument/2006/relationships/notesSlide" Target="/ppt/notesSlides/notesSlide17.xml" Id="R8def76d78a754d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e9b866a0d4d13" /><Relationship Type="http://schemas.openxmlformats.org/officeDocument/2006/relationships/hyperlink" Target="https://github.com/AAkhtanin/hedgehog-os/blob/main/docs/showcase/wedding_seating_v01/technical_appendix_v01.pdf#nameddest=A25" TargetMode="External" Id="R635767c0482b4e3c" /><Relationship Type="http://schemas.openxmlformats.org/officeDocument/2006/relationships/hyperlink" Target="https://github.com/AAkhtanin/hedgehog-os/tree/fbb136f4fe1050a5f01be71ea00753c5e7b6fd1a" TargetMode="External" Id="Rd1ba3176760b4b88" /><Relationship Type="http://schemas.openxmlformats.org/officeDocument/2006/relationships/notesSlide" Target="/ppt/notesSlides/notesSlide18.xml" Id="R19fba6e961824b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cf34e9a354b9b" /><Relationship Type="http://schemas.openxmlformats.org/officeDocument/2006/relationships/hyperlink" Target="https://github.com/AAkhtanin/hedgehog-os/blob/main/docs/showcase/wedding_seating_v01/technical_appendix_v01.pdf#nameddest=A26" TargetMode="External" Id="Re2940c798bbb4bf6" /><Relationship Type="http://schemas.openxmlformats.org/officeDocument/2006/relationships/hyperlink" Target="https://github.com/AAkhtanin/hedgehog-os/tree/fbb136f4fe1050a5f01be71ea00753c5e7b6fd1a" TargetMode="External" Id="R0535694843d34968" /><Relationship Type="http://schemas.openxmlformats.org/officeDocument/2006/relationships/notesSlide" Target="/ppt/notesSlides/notesSlide19.xml" Id="R43fa8278132e4f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a8c5c90b6444e" /><Relationship Type="http://schemas.openxmlformats.org/officeDocument/2006/relationships/hyperlink" Target="https://github.com/AAkhtanin/hedgehog-os/blob/main/docs/showcase/wedding_seating_v01/technical_appendix_v01.pdf#nameddest=A30" TargetMode="External" Id="R449af4dc62024b0d" /><Relationship Type="http://schemas.openxmlformats.org/officeDocument/2006/relationships/hyperlink" Target="https://github.com/AAkhtanin/hedgehog-os/tree/fbb136f4fe1050a5f01be71ea00753c5e7b6fd1a" TargetMode="External" Id="R424f4d087a38486d" /><Relationship Type="http://schemas.openxmlformats.org/officeDocument/2006/relationships/image" Target="/ppt/media/image2.png" Id="Ra02cc693b2224b60" /><Relationship Type="http://schemas.openxmlformats.org/officeDocument/2006/relationships/hyperlink" Target="https://github.com/AAkhtanin/hedgehog-os/blob/main/docs/showcase/wedding_seating_v01/technical_appendix_v01.pdf" TargetMode="External" Id="Rb0adc962b5824637" /><Relationship Type="http://schemas.openxmlformats.org/officeDocument/2006/relationships/hyperlink" Target="https://github.com/AAkhtanin/hedgehog-os/blob/main/docs/showcase/wedding_seating_v01/WEDDING_LLM_READER_V01.xml" TargetMode="External" Id="Rbf54c12ad8604dae" /><Relationship Type="http://schemas.openxmlformats.org/officeDocument/2006/relationships/hyperlink" Target="https://github.com/AAkhtanin/hedgehog-os/blob/main/docs/showcase/wedding_seating_v01/SOURCES.md" TargetMode="External" Id="Rba30e1ae800741a7" /><Relationship Type="http://schemas.openxmlformats.org/officeDocument/2006/relationships/notesSlide" Target="/ppt/notesSlides/notesSlide20.xml" Id="R225dae587b0f4cc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Optimal</c:v>
          </c:tx>
          <c:spPr>
            <a:solidFill xmlns:a="http://schemas.openxmlformats.org/drawingml/2006/main">
              <a:srgbClr val="215AC8"/>
            </a:solidFill>
          </c:spPr>
          <c:cat>
            <c:strRef>
              <c:f>'Chart Data'!$A$2:$A$3</c:f>
              <c:strCache>
                <c:ptCount val="2"/>
                <c:pt idx="0">
                  <c:v>MIX</c:v>
                </c:pt>
                <c:pt idx="1">
                  <c:v>KEEP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</c:v>
                </c:pt>
                <c:pt idx="1">
                  <c:v>5</c:v>
                </c:pt>
              </c:numCache>
            </c:numRef>
          </c:val>
        </c:ser>
        <c:ser>
          <c:idx val="1"/>
          <c:order val="1"/>
          <c:tx>
            <c:v>Other feasible</c:v>
          </c:tx>
          <c:spPr>
            <a:solidFill xmlns:a="http://schemas.openxmlformats.org/drawingml/2006/main">
              <a:srgbClr val="80A6E8"/>
            </a:solidFill>
          </c:spPr>
          <c:cat>
            <c:strRef>
              <c:f>'Chart Data'!$C$2:$C$3</c:f>
              <c:strCache>
                <c:ptCount val="2"/>
                <c:pt idx="0">
                  <c:v>MIX</c:v>
                </c:pt>
                <c:pt idx="1">
                  <c:v>KEEP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24</c:v>
                </c:pt>
                <c:pt idx="1">
                  <c:v>28</c:v>
                </c:pt>
              </c:numCache>
            </c:numRef>
          </c:val>
        </c:ser>
        <c:ser>
          <c:idx val="2"/>
          <c:order val="2"/>
          <c:tx>
            <c:v>Infeasible</c:v>
          </c:tx>
          <c:spPr>
            <a:solidFill xmlns:a="http://schemas.openxmlformats.org/drawingml/2006/main">
              <a:srgbClr val="D8DFE5"/>
            </a:solidFill>
          </c:spPr>
          <c:cat>
            <c:strRef>
              <c:f>'Chart Data'!$E$2:$E$3</c:f>
              <c:strCache>
                <c:ptCount val="2"/>
                <c:pt idx="0">
                  <c:v>MIX</c:v>
                </c:pt>
                <c:pt idx="1">
                  <c:v>KEEP</c:v>
                </c:pt>
              </c:strCache>
            </c:strRef>
          </c:cat>
          <c:val>
            <c:numRef>
              <c:f>'Chart Data'!$F$2:$F$3</c:f>
              <c:numCache>
                <c:formatCode>General</c:formatCode>
                <c:ptCount val="2"/>
                <c:pt idx="0">
                  <c:v>958</c:v>
                </c:pt>
                <c:pt idx="1">
                  <c:v>967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CF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2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9683EA-30F4-4533-937A-0946CC13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50C91-67AE-4FC4-9C5B-C956D09B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One intent. Different computers.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Traceable results.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E7B2C-65E9-4561-8035-3543DA88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 synthetic 12-guest wedding becomes a complete, inspectable activity.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2B4F5-AAA1-4AD6-AD91-5DA2DC5B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67F2B-94BB-4188-8F0E-705E8A18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84EE6-41B3-45DE-9A9B-7F0CF947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81dc7006e1c4e99"/>
              </a:rPr>
              <a:t>Technical evidence · A01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71852-7EDB-474D-991C-610B1967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1d67fb7ab4624881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A3A33-B8B8-41DC-B8A2-85BE9591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01 / 20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e60e280024e83"/>
          <a:stretch xmlns:a="http://schemas.openxmlformats.org/drawingml/2006/main"/>
        </p:blipFill>
        <p:spPr>
          <a:xfrm xmlns:a="http://schemas.openxmlformats.org/drawingml/2006/main">
            <a:off x="9696450" y="2095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DBE14-3A1B-44DD-BDBC-34B74080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4BA16-B98D-4A80-819C-B7622FD2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KEEP FAMILIAR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FDA04-9D57-4562-B1CC-37513656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DD128-D8EC-490D-BB10-AA1A4BB4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717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MIX CIRCLES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907E6-CBB2-4EF7-A603-C7C2C29F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519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Keep familiar circles together.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61510-0A07-4908-AF2E-301FBE8E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52725"/>
            <a:ext cx="519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Help different circles meet.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3FB64-E3A1-403E-8E88-2B3FBBC0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1714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E19AC-FCCF-46CD-A76B-A38F9FDB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TABLE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926B4C-D9CC-4B20-AC0F-1CB78F90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AD449-9D2D-4A08-9689-2CC38B11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528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6458E-FE13-4A6D-A80C-E027B77A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6B81A-3B6F-4CE5-A585-0EAF1884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576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7AD17-F684-4196-A717-47C57AA8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6702B-4BC9-4C5E-A0FF-C99694EF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624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C97AD-DACF-481F-BA68-A50672AD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56F116-4EF9-480E-A771-4640DD9A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6C0014-84DE-44D8-B59D-8D4710CC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9925"/>
            <a:ext cx="1714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585BE-959C-4B2A-8EE9-3088B349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242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TABLE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8736AD-D208-43AA-A95C-8BA7F3FD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528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9E242A-7235-4C08-B95A-892A47FA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7528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861B3-2E03-425E-A25E-A73D40B1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576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D712D7-6D03-4781-90D9-E93FF481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0576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F24EB7-8473-4832-BDB5-F3265FD4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624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8C5D9E-C445-4D97-A2E8-F07FB50C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3624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551006-1EC4-4B50-A66E-E55A1026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672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B95211-B336-47A5-B4BD-44D04887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6672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80AF16-F573-4CA3-8AC6-C6ADD768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09925"/>
            <a:ext cx="1714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AB260A-B04C-4DD4-89C3-14D61DA8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242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TABLE 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4C412C-C169-41A4-A554-F06C9A41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83DC82-C08C-4223-AA24-98FB671B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7528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893DDB-7D4C-4E76-BDC5-43856615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314E4D-95E5-4BA3-B179-C49450CA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576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E3517F-B564-4A9A-B345-DEE112C9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624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4D6BC2-8557-44E6-985A-B57F93B2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624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11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5C3E78-40D0-4106-819B-A1B38F0A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672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1DD2EE-9732-4690-9B12-9140F4C6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672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12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25D03A-1B3B-4156-A6FE-BB3870AD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9925"/>
            <a:ext cx="1714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703D0B-EA62-4A42-81DD-391AF396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242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TABLE 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EE0406-1EF9-4030-8FEF-B56B2EBB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A0D536-82F0-4061-9923-F1F8E834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528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36F41B-179D-4FB4-9A9F-2A849BAD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06AD7B-AED5-4043-B63D-79E32E99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576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E7DD59-D0E6-4BE7-B4DE-6C254697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624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CD7601-8936-4740-B6D4-BAA951A6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624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2588EE-A7A4-4D0D-B1E4-7BC8318F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388F67-351E-4A9E-A18A-D5F77664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672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E382E3-AE20-4BC7-A37D-7BEA53F9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9925"/>
            <a:ext cx="1714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3B8580-149F-4C0A-8D12-92D06E39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242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TABLE 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9ED36F-28CD-489C-932B-8A6C7C4D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F779C9-C08B-4A94-817E-A9757119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7528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5CBDE5-A066-422E-BB81-5AA2F9CB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576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66C542-8783-40BF-9F61-0B927A61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0576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301832-CFBF-4662-ADC5-0F3660A6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624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016F42E-E7A9-414F-9781-2EFA7B78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624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09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9804CB-EF86-4018-9DAB-8CE98AD5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672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85F0FB0-3050-4C5F-B0CB-8FC12BBC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6672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1C948D-EA10-442F-8D4A-13D5345E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09925"/>
            <a:ext cx="1714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3575862-821E-416F-8E19-16C12A42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242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TABLE 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D305E51-5463-4DEF-9E5E-BCCC2717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528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753EBD0-9B31-4872-A6C3-2FE933AF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7528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05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614D521-8FD7-47E3-B867-A1ADEABB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576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010CCB0-5750-4250-9EF0-DD9B0EC3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0576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F73E87A-B124-4DA7-A55C-B19FAFAC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624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756B481-3E60-4624-BE09-FBAE4535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3624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11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0A9BD4A-9AB4-45DD-9080-222FB1EF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66725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7A2DCF-0B83-44FC-80CA-A9CB750A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6672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12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B20A52C-58CA-4167-9D36-7EDAB632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Two measured plans. Same mandatory conditions. Each checked against original conditions and saved.</a:t>
            </a:r>
          </a:p>
        </p:txBody>
      </p:sp>
    </p:spTree>
    <p:extLst>
      <p:ext uri="{BB962C8B-B14F-4D97-AF65-F5344CB8AC3E}">
        <p14:creationId xmlns:p14="http://schemas.microsoft.com/office/powerpoint/2010/main" val="1571145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8EB97A-33EC-4CDA-B916-E73C1941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BB88F-0C87-4EFC-8804-8FA3A447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The computation changed.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The commitment did not.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8DD08-16CE-4CD6-B18E-458163FF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 request, its conditions and its current owner remain connected to the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E3C5-A0D6-4AB1-A3EB-EADC0505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C0793-7789-4F20-A150-6F25DCF1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BD499-5B5F-4599-B867-2366271E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a829cb4db4446cf"/>
              </a:rPr>
              <a:t>Technical evidence · A02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E4286-19EE-4C06-BD68-BE94C86F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0065ca4bff44dd5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5526E-AA47-4C14-A6D4-5E925758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02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487D7-7A99-4DAE-BCCC-0F102AF2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524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2562B-9D9B-4D53-BE10-7FCA2AE9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181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Human intent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B1D6E-69D2-4D20-B722-D4AA3AB5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Goal + mandatory conditions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1FA6E-1088-4B7F-A08D-E99ABF43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3524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0A99C-9B49-4233-BD6A-C8CCAE80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3181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Semantic 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327E0-A599-4B3C-AF23-737E0218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8607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Orchestrator + architect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65445-9543-4657-A03F-A2BFDB10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3909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A54F8-E229-4C7C-837A-DA9FED2C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304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Prepared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F6E05-E1A1-40CD-A5DB-0EF16617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860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Current inputs + budget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CF5FF-3C02-488A-B39C-2BBA36FF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00350"/>
            <a:ext cx="2095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89026-DDD1-4876-87CB-DFE235B8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2095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5EFD9-001B-4FE2-8217-4247109E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05225"/>
            <a:ext cx="35242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E9C6F-C647-4C74-B529-5C526307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67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Compute backend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23681-7EB8-4098-8015-5C68EEC9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434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Local exact search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Rigetti via Amazon Braket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62F91-1B61-4138-90A6-5ACD4F02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3133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E3284-473A-40BB-90E1-E03B9B51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2943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5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4756C"/>
                </a:solidFill>
                <a:latin typeface="DejaVu Sans"/>
                <a:ea typeface="DejaVu Sans"/>
                <a:cs typeface="DejaVu Sans"/>
              </a:rPr>
              <a:t>Provider output is a candidate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C02675-2D7D-4AD6-BB3E-B4286B78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91025"/>
            <a:ext cx="3619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A890BB-2D01-4B30-A965-30245FFF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05225"/>
            <a:ext cx="32480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F5D78B-0DFE-441E-B055-087FC458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57625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Original conditions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8FAA4-A573-47A6-8C63-996B385D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333875"/>
            <a:ext cx="29051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Decode → validate → consume</a:t>
            </a:r>
          </a:p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Check the current revision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B1E0EB-1095-48D3-A710-B1277CBC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91025"/>
            <a:ext cx="3429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D5F9B1-8573-486D-9751-6C0D176F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05225"/>
            <a:ext cx="30861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8ACDE8-F37A-4FE9-9C7E-4FBC9D82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5762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Organizer Root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85914C-6675-4F22-BCED-4F42D00C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62450"/>
            <a:ext cx="2743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Current acceptance</a:t>
            </a:r>
          </a:p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Separate SAVE approval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51BFA0-CB7E-4F6F-BAE5-53605326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6925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Time, local memory and evidence follow the activity across these boundaries.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7468BA-8FCD-4DD1-A169-F27A828C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Explanatory view of recorded W2–W4 stages; one observed owner.</a:t>
            </a:r>
          </a:p>
        </p:txBody>
      </p:sp>
    </p:spTree>
    <p:extLst>
      <p:ext uri="{BB962C8B-B14F-4D97-AF65-F5344CB8AC3E}">
        <p14:creationId xmlns:p14="http://schemas.microsoft.com/office/powerpoint/2010/main" val="1250423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DEB12-2324-4157-828D-675E55FE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D825A-49C2-45AB-BFE8-E4C214EE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 familiar optimization problem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becomes an operating-system case study.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F88BD-CD60-47B9-8F30-B501327B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The contribution is how a changing activity stays connected around its solver.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748BD-37C6-41D0-8213-8BBA2A9B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4D64B-B7E4-43A6-A482-2161F8EC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2805B-7B05-4C27-BB8C-EADA3DF9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fb0070b7efc4535"/>
              </a:rPr>
              <a:t>Technical evidence · A25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0BD36-A572-4938-85B6-7AF78675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e0c9d4d192f4c54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98A46-6624-4642-8F6B-C1560179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03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31994-1641-4FE9-BB78-794A8833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The established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B8FDF-3D91-44AF-8D43-B0F1513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4667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Guests, capacities, relationships</a:t>
            </a:r>
          </a:p>
          <a:p xmlns:a="http://schemas.openxmlformats.org/drawingml/2006/main">
            <a:pPr algn="l">
              <a:defRPr sz="20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and an objective define seating.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7958E-F420-4558-B0EF-660445F2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The activity we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AC88F-141B-4F1D-BFF0-027BD668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Intent changes the work.</a:t>
            </a:r>
          </a:p>
          <a:p xmlns:a="http://schemas.openxmlformats.org/drawingml/2006/main">
            <a:pPr algn="l">
              <a:defRPr sz="20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 revision changes what is current.</a:t>
            </a:r>
          </a:p>
          <a:p xmlns:a="http://schemas.openxmlformats.org/drawingml/2006/main">
            <a:pPr algn="l">
              <a:defRPr sz="20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 measured candidate needs acceptance.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E9789-9255-421E-AD8F-A20864DB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618B0-6922-42BF-A7B7-AC08B53C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L1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1A40E-1ABF-4934-9FB6-3553A421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PuLP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81AA4-FDE8-423F-95C6-FC893A84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91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Set partitioning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6616C-26FD-4596-B9C0-43ED3A67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857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L2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0FE06-92FD-45B0-8388-D8571F04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181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Bellows &amp; Peterson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675BE-48F0-4C77-9D04-9AA5FA7D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591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Mixed-integer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5C07A-1473-48A3-925F-80C2B953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57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L3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1571C-6890-4B1C-A31D-840CD874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81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OR-Tools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9B86B-F114-47E9-BC13-51D183FD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91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CP-SAT example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42968-764C-4202-B39A-2FC31603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857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L4 / L5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4F1E6-1C18-4141-BC73-C17C76EB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181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Masala +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A4B1AB-CFCD-4111-B8B8-57BAC712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91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Interchangeable optimizers</a:t>
            </a:r>
          </a:p>
        </p:txBody>
      </p:sp>
    </p:spTree>
    <p:extLst>
      <p:ext uri="{BB962C8B-B14F-4D97-AF65-F5344CB8AC3E}">
        <p14:creationId xmlns:p14="http://schemas.microsoft.com/office/powerpoint/2010/main" val="19909454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F2DB964-7065-4BED-945A-5DDDEC6F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E06FA-7A58-4FF3-ADD0-F2A94C76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Nineteen real model calls shaped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seven recorded episodes.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44062-C6ED-4138-B6AC-DCE3E9C5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One model: Gemini 2.5 Flash. Two roles: intent orchestrator and requirement architect.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2CB5E-FFB5-4229-A590-55CBBB6E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B89D4-2322-4E18-B0D2-C2D508FA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F854F-39EA-4655-827F-1B76B04A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36cc24eb1c244a59"/>
              </a:rPr>
              <a:t>Technical evidence · A05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6E8E1-E75E-4F4B-A1C3-66C7C96A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3d59a8cb9ab8439e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77D3A-B8A3-458D-8C2E-3514110D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04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CE2DB-4CC6-4FFF-8917-0490DCE3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D44A6-F93F-4207-AAFF-2F239E90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26BAE-58B9-4BF1-A538-45C9E5E8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145E9-AC7F-40B0-A71B-B03BB19F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787E4-377C-4F89-84D6-EB8647F1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B8B3C-3587-4CBB-B152-A2F93F38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D3FF3-218D-44E2-BE63-23E54781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44A30-7427-400F-94B9-B59A853E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B551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9B551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B88D0-8AD9-4B6E-A768-39F389F7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0DFB6-75A2-470C-AA48-B0CB7637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171AE-7D20-419E-B55B-425E7822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9D789-3B12-4167-8A16-84DD4586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82493-1240-419E-AC94-952F3A3D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A607E-7546-4EF6-8327-910026A8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A36DD6-9161-412E-99FB-D7595F79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5EA33-C135-4526-BF23-94A3EC98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C08C1-CF30-4D35-BCEE-CDA73702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5024D-7380-47DB-BFAA-52C683BB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8605E-3FA1-4777-B91A-AA599B77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179354-FFE5-4262-ACA0-FBF854F9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B52FA-6E6A-4811-A5A4-68C92CC4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73E5B4-C47D-4A29-9B2A-A8315D38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9E7F12-3BE8-4B48-B8A4-4B1E6768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D3A38-ED75-4AD4-BA7C-61486551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638E9B-F705-4013-BA45-7F637957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E8EBC3-8038-4EF5-A442-F4608587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B551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9B5516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B40432-DB00-4C3C-8AF9-2B4CA63A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6A626F-2A4E-4BBB-971C-AE8BDDC1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FB60AD-C83C-416E-97C4-AC905F81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F2039C-8F0D-4C28-88AF-BC501583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E475A5-1673-4A76-A873-6915792E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240F6E-B1C6-4A6B-8D9D-DE48CF2A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BA9D2D-1527-4EDF-839A-871DDA29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9B7B2F-FC72-4A69-9538-3250D68A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2DB7DE-33AB-49DA-A7F5-178F181A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49A742-EF65-4EF6-A57A-F21EE983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4331E4-4A35-49F7-8683-DDAE72CE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D7E603-D672-489B-9F24-D8F9C0EB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6B019A-74B7-494E-9819-EBCF50A0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4681EF-55D2-496F-A928-DFA63459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19A7A4-E755-4C09-AEC8-CF0DB722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271FD6-2FB2-4FBB-98DF-A2852491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47C4FC-1BF0-4CF6-AFFA-31ED4DC8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597A44-A6B5-4C3B-9AF6-99A0426E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B551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9B5516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AB345D-8890-45F2-8B1A-F56A2054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62AEA9-8F9D-4B8B-BCA1-E946974B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AB3128-1009-4F7E-B07A-35E14288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ACF39C-4318-40A7-B980-C9B63FF4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B9DA18-2DC9-4590-8160-4B732D27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2FAC33-86DE-4446-8C95-84546942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FB354F-E0C1-4CE9-98AE-A86ED83E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3A73A5-4DE1-43D6-A612-491E5ABC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C80FB8-75CD-45B4-B522-0D674C4D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FB1F4A0-D38B-4080-BB04-720A2E41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80F509-7705-4C3F-867A-F3524DBF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400300"/>
            <a:ext cx="485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215AC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3E9641-DD3A-4063-9745-53170316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514600"/>
            <a:ext cx="48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B182D48-7537-4F20-B25B-C89A3F30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82892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87639B5-990E-4E8D-AF62-F59498A4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Outlined: 14 captures consumed in the final stories. Amber: initial local acceptance failed.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3F9642-662F-4298-8C78-2ACFB3A8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BA355F-1F86-4569-81AC-803DF1DF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actual sends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F12202-7CF3-47F7-8978-FE8868F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7190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16 / 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D2B329-6B45-4D5E-A3E2-80B34EB1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76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initial accepted / refused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EC3BC4B-C329-468A-B1FB-83C35405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7190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3380E7-25C5-44AF-A2C4-3BE014CD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consumed captures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B883F64-69D0-4E07-BFED-54B1CCC7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C007AF5-0C02-4844-9A4C-9866B08A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final episodes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4C89F85-B6C2-4638-9CF6-63792D29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48275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03  Missing required report output.</a:t>
            </a:r>
          </a:p>
          <a:p xmlns:a="http://schemas.openxmlformats.org/drawingml/2006/main">
            <a:pPr algn="l">
              <a:def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09  Valid null objective met an overstrict consumer.</a:t>
            </a:r>
          </a:p>
          <a:p xmlns:a="http://schemas.openxmlformats.org/drawingml/2006/main">
            <a:pPr algn="l">
              <a:def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15  A grouped amendment met an overstrict collection bound.</a:t>
            </a:r>
          </a:p>
        </p:txBody>
      </p:sp>
    </p:spTree>
    <p:extLst>
      <p:ext uri="{BB962C8B-B14F-4D97-AF65-F5344CB8AC3E}">
        <p14:creationId xmlns:p14="http://schemas.microsoft.com/office/powerpoint/2010/main" val="145519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6FFD9C5-0124-4FA4-8D2F-0884BF85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4197E-2762-4F88-8C10-2581569B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 different wish selected a different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objective and a different local plan.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30E94-B8BC-4DC8-8120-89217E40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The model chose between two declared profiles; the solver produced the arrangement.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B3A92-3542-4C27-85F6-62D2C9F8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4C2E8-2025-495D-8642-756F7A19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8F1FC-805B-4E97-9461-7DDA782A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b7e9dbd3d63421f"/>
              </a:rPr>
              <a:t>Technical evidence · A11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F4A04-4E8A-4F1B-83FA-B1642133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1721c2e1c9a04b5e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8E2DA-ED2C-472F-9968-F9D069E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05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4F1F3-5EEC-4271-8435-E87763B4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53340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20093-4882-470B-8F7C-C7D9CAAC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CALL 05 · EXACT FIELD EXCERPT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2241C-8A32-45CB-B5A9-DEDC409B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953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"objective_profile":</a:t>
            </a:r>
          </a:p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  "KEEP_FAMILIAR_V01"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38636-136D-4A28-A109-3B11AFB5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54102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3789D-8569-4446-82E0-A338BAA1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CALL 07 · EXACT FIELD EXCERPT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DFA66-1269-4BAE-A1D9-4E638A24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5029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"objective_profile":</a:t>
            </a:r>
          </a:p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  "MIX_CIRCLES_V01"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7B9A0-6266-4DFB-8D8B-8B871692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6891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AD48C-7677-4BBB-AADE-EA416358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46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TABLE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0FC52-EDA5-4592-B480-3A981332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7609A2-3559-46F1-A183-3D5B84A7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81475"/>
            <a:ext cx="131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7069D-CC2F-4AC2-860E-E10836CA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862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FEE03-8B05-4B71-881F-C026365E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86275"/>
            <a:ext cx="131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B0E68-595F-46C8-8831-B8C99630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910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4F662-28DB-4B6C-8F5A-9269F36E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91075"/>
            <a:ext cx="131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A5D5A-2C9E-46B6-89C6-114DE7FE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45DFC-571B-46B1-8F17-8FC02537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31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096BA8-FAFE-4F5C-A85E-9BA47491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638550"/>
            <a:ext cx="16891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6EF820-92B0-4092-A22C-A3442E7C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150" y="3752850"/>
            <a:ext cx="146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TABLE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C7D943-C5B4-4C62-919F-886257BB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150" y="41814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9A2D81-44B1-4DAD-927F-1836C82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075" y="4181475"/>
            <a:ext cx="131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9D1B34-1451-4F88-828C-035ACCCA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150" y="44862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DC7A61-5695-4871-90AE-A6733151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075" y="4486275"/>
            <a:ext cx="131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A2139C-0412-4148-94B7-049EFCA1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150" y="47910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D6B91F-B48E-444A-9B55-9CB0BABA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075" y="4791075"/>
            <a:ext cx="131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597F69-F5A6-4C9E-87E1-539D67CD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150" y="50958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86C64-8EEA-4064-8DD2-06722D3C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075" y="5095875"/>
            <a:ext cx="131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2D64C7-5A54-4553-97AF-D4B53FE2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3638550"/>
            <a:ext cx="16891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DCB3B6-F14F-4E86-A656-54A07787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3752850"/>
            <a:ext cx="146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TABLE 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A1697C-0039-45F4-90BB-2F60F463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41814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4F53E3-3AC7-4DC4-B9D3-390C5C00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4181475"/>
            <a:ext cx="131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692234-15EE-4E97-A06A-02252E66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44862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8B8F4E-5FEF-46AE-966A-411A9D11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4486275"/>
            <a:ext cx="131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BF8D93-4C6B-469A-B589-DF6E4CED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47910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999CDF-7CDB-4BD6-AF3A-2DD93138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4791075"/>
            <a:ext cx="131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11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CF5A33-7C94-4E30-9082-6BDA2DA6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50958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FD6D20-6DF0-49AA-8BDA-DA0066D8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5095875"/>
            <a:ext cx="131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77B4AA-BBE6-4295-B2CC-92E79F2E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1714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3041C3-67DF-456D-8549-1EFBB175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TABLE 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213E3B-D9E6-4CED-AAAE-5C76DA5F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814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C51D11-82CD-4A61-9008-5DF70134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8147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75777C-C3F2-4D0C-9DAE-068BC8B4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862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1A0D38-B3D6-43BD-A011-59F72DB8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8627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B3AC16-4DC5-4AA7-BBF8-05E674F4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910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FB3B7E-28B8-4963-AB3A-726013A7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9107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C9B9CF-5C8E-49C1-BECA-97798787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958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C8620C-0517-4688-A1AE-F10408B4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9587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10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F12ACB-1875-4394-9912-DB1AFB20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1714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0A106B-7B29-4C45-843C-489E280E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TABLE 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7ADEAA-F7E8-4B6D-83EE-78F045E5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814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618456-FD17-40F4-91B9-9ED75255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8147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6E6EB4-1BAB-486E-B02D-CB0624D6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862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97E37F-BB1E-4CEF-B903-10023CAF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48627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1E5973-046C-4246-AC6A-B2EB3543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910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F4A45E-31FF-481B-91DC-AE58A412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9107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089FAA-ABDF-4F07-8ACA-4BAABDDA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958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5C4280-91C9-4E91-A178-10966400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9587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06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F8D989-B395-4BC6-87BC-5F1E1117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38550"/>
            <a:ext cx="1714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5A0A1A-439E-4335-B7BF-B9F88E03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528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TABLE 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E1F8FF-55B4-49A7-8D2C-17106C73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814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B7D13E1-7706-4C58-BE0A-E95B0A1C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8147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07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006E95-516B-4425-BDC4-84836C5A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862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6C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B18603-31E9-4B08-B440-24F62C8D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48627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08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B627A9A-CE6E-4C69-8EF9-390B5480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910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F69C0E-612F-4FFD-81F3-2446A272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79107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11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54A4A70-559A-4D86-9239-84F057FF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9587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5C90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8DA2031-4B3C-42EA-AB16-80B307F0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09587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 12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2A8822A-A748-4AAB-AFEF-84C1A723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Both local plans: all original conditions satisfied; objective score 0 in their own profile.</a:t>
            </a:r>
          </a:p>
        </p:txBody>
      </p:sp>
    </p:spTree>
    <p:extLst>
      <p:ext uri="{BB962C8B-B14F-4D97-AF65-F5344CB8AC3E}">
        <p14:creationId xmlns:p14="http://schemas.microsoft.com/office/powerpoint/2010/main" val="1271226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6B67B3-8CB6-419E-B70B-9F3BC019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C954F-9ACD-4DAF-BAE0-B49BEA18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 changed request created a new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condition, with its predecessor intact.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C5282-C831-4251-BDD8-32CAB6F4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Guests 07 and 08 move together: table 2 → table 1 → verify without another search.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12503-DA30-436D-9681-2864DF82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E21E7-4864-4AA1-BAE3-1FE516B8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A74CA-F919-4AD4-A785-3BB154B0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84448473a6e4cbc"/>
              </a:rPr>
              <a:t>Technical evidence · A12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6FC15-4AD8-4E2C-ADF3-40344082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10061efc35c4b20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9AA03-E9D3-4068-9D55-1EDC8AAC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06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3B6D5-9F9C-46B5-A1AB-4D7098F2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3505200" cy="1781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0D2F6-3AD9-4F26-A5D7-80AC8047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SR1 · ADD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3D25A-9C3A-4DB1-850C-67C5C5C2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09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07  +  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45BB0-5E46-453B-9BB5-1D776BAC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309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Table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9DE1B-74D7-42C0-A8D6-D524CCFC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33725"/>
            <a:ext cx="2095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FBEE2-D170-4E1D-B994-05510E84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33625"/>
            <a:ext cx="3505200" cy="1781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62725-D2EE-4AA1-9FF3-292F420A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SR2 · REPLACE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AAFB6-E4E6-41FD-99BE-F724BD7D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309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07  +  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6D5A9-CEAA-4178-A00C-BB53E943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00450"/>
            <a:ext cx="309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Table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57CD3-B179-4D92-9B2C-E01B28B8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33725"/>
            <a:ext cx="2095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C6C69-D964-42AF-956D-F762AFB7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33625"/>
            <a:ext cx="3505200" cy="1781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2D6EF-BD17-4D3B-B138-64380F37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SR3 · VALIDATE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99A9E5-F460-43DF-99BF-226ADE1E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309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07  +  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9493CE-5FCD-4DB5-A0B6-70BD3C62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309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Current 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1C341-185F-44F1-BCCC-218755F6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73342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F5C40-34D8-4560-95C4-8B20A031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CALL 17 · EXACT EXCERPT (ONE OF TWO AMENDMENTS)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32FADC-DA7D-4C09-8089-F74D7416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69532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"operation": "REPLACE",</a:t>
            </a:r>
          </a:p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"subjects": ["guest_07"],</a:t>
            </a:r>
          </a:p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"tables": ["table_1"],</a:t>
            </a:r>
          </a:p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"replaces": ["added:cefff2237df9864e94438b6db02b436e"]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081120-7E24-48B0-9A8D-7AF6355D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67225"/>
            <a:ext cx="3286125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Old SR1 plan under SR2:</a:t>
            </a:r>
          </a:p>
          <a:p xmlns:a="http://schemas.openxmlformats.org/drawingml/2006/main">
            <a:pPr algn="l">
              <a:def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refused at the domain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Owner input was scripted;</a:t>
            </a:r>
          </a:p>
          <a:p xmlns:a="http://schemas.openxmlformats.org/drawingml/2006/main">
            <a:pPr algn="l">
              <a:def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Root review was real.</a:t>
            </a:r>
          </a:p>
        </p:txBody>
      </p:sp>
    </p:spTree>
    <p:extLst>
      <p:ext uri="{BB962C8B-B14F-4D97-AF65-F5344CB8AC3E}">
        <p14:creationId xmlns:p14="http://schemas.microsoft.com/office/powerpoint/2010/main" val="7127456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8E09B1-5217-40A8-949E-D500F7C3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3DB0F-CFA7-4884-99A6-07342CB1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“Check this plan” performed less work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than “make a plan”.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715FC-DEFC-41F7-9326-409CE294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 finite capability catalogue turns semantic differences into different execution paths.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ACC83-AA7C-4A52-B2AA-A6302ACA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6A846-B998-4D61-9115-011B1F63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1ACBD-9D19-4F48-A05F-A784EE76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2cc7e70fbd94746"/>
              </a:rPr>
              <a:t>Technical evidence · A11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BF7A8-71D1-486D-925A-F795AC78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e2081a6908c489e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E93AD-6AA8-4721-A355-C8A57B7E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07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F6B4B-0568-481D-ACC2-633BA119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11125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41332-532A-4EA8-B508-E079886D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GENERATE / REVISE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8D98E-E5AD-410D-A82A-A00E8555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574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review → compile → solve → validate → consume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CB862-6120-4C75-AC78-B0ECC197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8384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4 searches across A, B, SR1, SR2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A1B96-B82E-42C0-A08A-D2277747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1125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6DA94-515F-4615-92C4-3C8DEDB6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VERIFY / SR3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4473F-F26A-4C65-840E-719BB352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5147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validate → consume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774F3-850D-4B00-A96A-C5184CD5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957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0 search; 0 QUBO; 0 encoding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5FE8B-EAC7-402C-9C07-E3EC53B8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1125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0238F-65A5-4A3B-B4C2-42CF6314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AMBIGUOUS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51A41-148D-46A7-B150-0B6001BB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5720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clarify the objective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A6906-CB94-471A-986C-5B5C7B23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9530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0 native task; no invented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0FFED-7577-4FDF-943A-A7A63F3C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111252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B97789-2A25-40D3-99F9-241E349E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"task_kind": "VALIDATE_EXISTING",</a:t>
            </a:r>
          </a:p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"objective_profile": null,</a:t>
            </a:r>
          </a:p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"needed_capabilities": ["VALIDATE_ORIGINAL"]</a:t>
            </a:r>
          </a:p>
        </p:txBody>
      </p:sp>
    </p:spTree>
    <p:extLst>
      <p:ext uri="{BB962C8B-B14F-4D97-AF65-F5344CB8AC3E}">
        <p14:creationId xmlns:p14="http://schemas.microsoft.com/office/powerpoint/2010/main" val="6890482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45820-A367-4594-81B7-D425F088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58902-1945-419E-AE11-BD94A901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Budget and memory affected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real work in the local precursor.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0C8AD-39D4-4E99-B6B7-F56BFCEA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Recorded W2 evidence: useful diagnostics and a scoped LocalDRS return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6DB0B-2C09-44D8-9381-755A366C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87886-E6A1-40D3-A007-410F836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57B4A-7ECB-470D-A12B-8498AA71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d1fff9e77b24e6b"/>
              </a:rPr>
              <a:t>Technical evidence · A14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AA7C8-EC1D-4318-8165-DE4C5CBD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54c2a75030a54bc0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CCB99-43CD-49A8-9194-1E1F522E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08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91850-54B6-411B-B7F3-0BDFA277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5334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6 compute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CE48C-9E7F-45A2-B6BC-1C96D9E6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1 seed + 4 diagnostics + 1 consumer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33400" y="3990975"/>
          <a:ext xmlns:a="http://schemas.openxmlformats.org/drawingml/2006/main" cx="527685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6900"/>
                <a:gridCol w="1704975"/>
                <a:gridCol w="1704975"/>
              </a:tblGrid>
              <a:tr h="603250"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Table</a:t>
                      </a:r>
                    </a:p>
                  </a:txBody>
                  <a:tcPr marL="91440" marR="91440" marT="45720" marB="45720" anchor="ctr">
                    <a:solidFill>
                      <a:srgbClr val="19252C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Cohesion</a:t>
                      </a:r>
                    </a:p>
                  </a:txBody>
                  <a:tcPr marL="91440" marR="91440" marT="45720" marB="45720" anchor="ctr">
                    <a:solidFill>
                      <a:srgbClr val="19252C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Mixing</a:t>
                      </a:r>
                    </a:p>
                  </a:txBody>
                  <a:tcPr marL="91440" marR="91440" marT="45720" marB="45720" anchor="ctr">
                    <a:solidFill>
                      <a:srgbClr val="19252C"/>
                    </a:solidFill>
                  </a:tcPr>
                </a:tc>
              </a:tr>
              <a:tr h="603250"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DCABD-67E5-4C05-9FB2-68B100BC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LocalDRS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90209-371C-4EBB-A7C3-D0DD74E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0375"/>
            <a:ext cx="5238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Record → search → eligibility</a:t>
            </a:r>
          </a:p>
          <a:p xmlns:a="http://schemas.openxmlformats.org/drawingml/2006/main">
            <a:pPr algn="l">
              <a:defRPr sz="21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→ current Root descent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E52DD-6222-48C5-8FE7-6D26C6EC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862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8E3D1-74EF-4A85-854B-BCBAE6EC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43400"/>
            <a:ext cx="52387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 conflict stopped its scoped path.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Fresh review enabled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Memory did not restore old rights.</a:t>
            </a:r>
          </a:p>
        </p:txBody>
      </p:sp>
    </p:spTree>
    <p:extLst>
      <p:ext uri="{BB962C8B-B14F-4D97-AF65-F5344CB8AC3E}">
        <p14:creationId xmlns:p14="http://schemas.microsoft.com/office/powerpoint/2010/main" val="7542027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8ADE5-21E8-4F2F-8179-A843FC99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33638-9370-4B8A-A8CE-085B58E6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The numerical adapter changed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while the original conditions stayed.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0FD93-3EF1-4F5B-94A7-84BFFE4A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 documented engineering change from an annealing-oriented plan to gate-based hardware.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94A5C-3879-4F20-ADC5-BB944AFF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96F7C-3913-4F28-BDE5-2D814552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184A9-BAB3-4412-9DC1-5C5C0E72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3ac4922a7ed4ce5"/>
              </a:rPr>
              <a:t>Technical evidence · A17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7F954-6319-446D-935E-B067FDA8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ad94c7c6fd9c4f66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0D0F7-517C-453A-8F1F-C5B68AED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09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99D11-F8FF-4B84-89F1-63CC52F7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5191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450D6-FF63-49AE-85CE-8E4C1634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4733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Planned 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AA50C-FC63-444C-99D7-E4E2B2D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4733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D-Wave / annealing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294F1-9A5E-4FF0-8C9D-DE157336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4667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Owner-reported access obstacle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from Albania. No D-Wave task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was executed in this study.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57CF7-AEB0-4699-977D-F0A55397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390900"/>
            <a:ext cx="381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1D809-803C-4718-9C0B-841D6D42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62200"/>
            <a:ext cx="5191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23F92-A689-43B8-8C42-4416C97E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81275"/>
            <a:ext cx="4733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Implemented route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BB43E-DD34-4CB2-8F51-5A0C17FC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28950"/>
            <a:ext cx="4733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Braket / Rigetti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E392D0-1E9E-4239-91F2-768F7025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24275"/>
            <a:ext cx="4667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Exact reduction + OpenQASM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Two hardware tasks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Original seating checks retained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B9EF7-93F0-43F8-A818-5B5DECC0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11125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Developers replaced the adapter. The system did not autonomously fail over between QPUs.</a:t>
            </a:r>
          </a:p>
        </p:txBody>
      </p:sp>
    </p:spTree>
    <p:extLst>
      <p:ext uri="{BB962C8B-B14F-4D97-AF65-F5344CB8AC3E}">
        <p14:creationId xmlns:p14="http://schemas.microsoft.com/office/powerpoint/2010/main" val="20831649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CFFBD-C1CD-48E0-BBA7-36A34A6E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34612-258C-46F8-AD89-D979F944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An exact reduction preserved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every feasible seating assignment.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80EEC-0447-4889-A5F7-FFBE843E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Classical mathematics and preparation remained explicit around the QPU.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99372-37AE-46DC-BCF1-5E92265D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9BEDC-8216-4AC2-B782-9E26443D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9D680-53E1-412F-9960-3B5F3AF1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a36add80471f4aa6"/>
              </a:rPr>
              <a:t>Technical evidence · A16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8C5FC-F1F5-443D-964E-9088B94D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147c1acb4c9404d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A989B-6269-4726-84E5-0281F757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10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97377-7B15-4232-B018-D15D7951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476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2FCE7-ECE5-4155-BE87-BDADC7CD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3524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binary variables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EB566-8B1C-4A83-A9FC-EBCFCE8F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7667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12 guests × 3 tables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B5945-6A7A-44E1-93F6-2F3C052B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76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4A9A9-3725-425F-89A9-7D00ABE6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3524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logical qubits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C5C9A-09F7-43AE-820C-7A7224C5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7667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5 free pairs × 2 bits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98EA5-F5AE-4FE4-9DA2-DCFAD1D5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476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5655E-CB16-4AC8-B45E-C53202AD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9950"/>
            <a:ext cx="3524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valid assignments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FC6F18-3346-413D-9A83-DBC37A2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7667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within 1,024 reduced states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F878D-FD6D-4AAF-B4F0-43E02987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0B40C-CF6D-4B59-9B3B-0A0328E5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5238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KEEP:  E = 25H + Fkeep</a:t>
            </a:r>
          </a:p>
          <a:p xmlns:a="http://schemas.openxmlformats.org/drawingml/2006/main">
            <a:pPr algn="l">
              <a:defRPr sz="22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MIX:    E = 13H + Fmix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4F899-01CD-45EE-AE3B-1354D001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924425"/>
            <a:ext cx="54387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H = 0 means all mandatory rules hold.</a:t>
            </a:r>
          </a:p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Pair substitution produces an up-to-4-local</a:t>
            </a:r>
          </a:p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cost Hamiltonian, not a 10-variable QUBO.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1EFDC-196A-4656-94B8-D5F817AC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34,650 balanced arrangements → 24 original feasible</a:t>
            </a:r>
          </a:p>
        </p:txBody>
      </p:sp>
    </p:spTree>
    <p:extLst>
      <p:ext uri="{BB962C8B-B14F-4D97-AF65-F5344CB8AC3E}">
        <p14:creationId xmlns:p14="http://schemas.microsoft.com/office/powerpoint/2010/main" val="10592473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B4D9A-70B8-47D6-93B3-C3961FC7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B5B66-5138-41AA-9F18-FD7C1A60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Two real tasks returned measurements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from the same Rigetti QPU.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4F7AB-C890-4EF9-95C4-6815F662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Amazon Braket · Rigetti Cepheus-1-108Q · recorded 24 September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17F6A-A573-4EFE-AC11-1089962B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0AD54-F886-4DC0-AFB3-19867FD9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55042-CEE7-4B0D-B441-A3CA0702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46913cbb8294640"/>
              </a:rPr>
              <a:t>Technical evidence · A19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29EC0-DB71-4B71-AA13-2FCE1861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1bfcd765fa54bfc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FEF7D-85E1-43D5-9E1F-D9C344EC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11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53E30-8E69-4398-B361-43C18FDD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66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FCCDE-F4C2-46C8-9450-29D2EF71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7575"/>
            <a:ext cx="266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FC093-8BD2-4FF4-A384-4A8AC13B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00300"/>
            <a:ext cx="266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08C5A-6619-4323-B99E-762AB88B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57575"/>
            <a:ext cx="266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physical QPU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A356D-344E-4F70-B4DE-9A9070C9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66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CC7DC-29CB-41B3-83B1-9335D909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57575"/>
            <a:ext cx="266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measured logical qubits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28B78-6C44-4ED2-A91F-6DB0B750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266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1528B-AF9E-4C15-8F9D-173B30C7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57575"/>
            <a:ext cx="266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shots per task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533400" y="4457700"/>
          <a:ext xmlns:a="http://schemas.openxmlformats.org/drawingml/2006/main" cx="11125200" cy="1438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181350"/>
                <a:gridCol w="5753100"/>
              </a:tblGrid>
              <a:tr h="479425"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Task alias</a:t>
                      </a:r>
                    </a:p>
                  </a:txBody>
                  <a:tcPr marL="91440" marR="91440" marT="45720" marB="45720" anchor="ctr">
                    <a:solidFill>
                      <a:srgbClr val="19252C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Provider result</a:t>
                      </a:r>
                    </a:p>
                  </a:txBody>
                  <a:tcPr marL="91440" marR="91440" marT="45720" marB="45720" anchor="ctr">
                    <a:solidFill>
                      <a:srgbClr val="19252C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Recorded application result</a:t>
                      </a:r>
                    </a:p>
                  </a:txBody>
                  <a:tcPr marL="91440" marR="91440" marT="45720" marB="45720" anchor="ctr">
                    <a:solidFill>
                      <a:srgbClr val="19252C"/>
                    </a:solidFill>
                  </a:tcPr>
                </a:tc>
              </a:tr>
              <a:tr h="479425"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KEEP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VALIDATED_AND_SAVED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MIX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VALIDATED_AND_SAVED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6648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DE824-2215-4899-8470-EB69CCD8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EBA7B-BBA0-44B7-BE52-C1348B0C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Every shot was checked against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the original seating conditions.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ACDE8-67BF-42F1-890E-217F9A03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Feasible samples were a small subset; their selected plans still matched the finite optimum.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1FD8E-383C-46CA-8176-B824F0D0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CED6A-7CA7-4B3A-AF2A-D981337D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C5C96-9A18-4258-982B-D48FA715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d98893c65ed64ca5"/>
              </a:rPr>
              <a:t>Technical evidence · A20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56B53-EED7-4A15-BEC8-5F88F5FC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96f159190bb49e4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60A36-7834-43FE-B6B2-E4BF17B5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12 / 20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571500" y="2333625"/>
          <a:ext xmlns:a="http://schemas.openxmlformats.org/drawingml/2006/main" cx="7191375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2491aafde0434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A6425-32CC-4CB4-A8F9-BA253139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B2018-13BA-4224-9323-C0A570D6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672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Optimal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36F5E-8BFF-4BE8-895D-FB9BA9E4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05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6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0F593-7B8E-4698-8E9C-863061B5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672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Other feasible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7D663-26C6-47D5-9A53-4B426E57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05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68A54-31A7-4099-BFE9-6C41B2F2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672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Infeasible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D599A-3DED-4C90-92EC-1C4E4F5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9077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KEEP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C6FFF-2EE1-43DA-B509-4B057338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336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33 feasible / 1,000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C3FE9-A0AA-40E8-B6E1-9E5B1CCD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09925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5 optimal shots</a:t>
            </a:r>
          </a:p>
          <a:p xmlns:a="http://schemas.openxmlformats.org/drawingml/2006/main">
            <a:pPr algn="l">
              <a:def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16 distinct feasible plans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2536F-2ECC-45FB-A50E-32A85D42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MIX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945C6-819E-495C-8692-C9C17F11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434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42 feasible / 1,000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E5F57B-E8BF-4B94-A708-232B2577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196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18 optimal shots</a:t>
            </a:r>
          </a:p>
          <a:p xmlns:a="http://schemas.openxmlformats.org/drawingml/2006/main">
            <a:pPr algn="l">
              <a:def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20 distinct feasible plans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7E1D9-B935-4722-BB1A-2DD8E497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911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Invalid fraction is not a hardware-noise estimate. Distinct plans and shot counts are different quantities.</a:t>
            </a:r>
          </a:p>
        </p:txBody>
      </p:sp>
    </p:spTree>
    <p:extLst>
      <p:ext uri="{BB962C8B-B14F-4D97-AF65-F5344CB8AC3E}">
        <p14:creationId xmlns:p14="http://schemas.microsoft.com/office/powerpoint/2010/main" val="10229917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6C0950-E6E8-4FF8-A15C-93EB2C52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F9B85-88F3-4C5E-B476-AD278ED4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 saved plan can be traced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to one specific hardware measurement.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0FCA3-555E-4CF3-909E-FBF04A5A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No failed sample was replaced by a classical solution.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9DC1E-AFD9-436E-B259-857AADD6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2A6A8-4E27-4F24-8201-378728FF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26DD0-348D-42AD-9F7B-A0088288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25b5efdf4664476"/>
              </a:rPr>
              <a:t>Technical evidence · A20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879D8-B348-46F6-A40F-1EAF15C1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e1542c8fdc614695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C33CE-9026-419C-8B38-447DBB1C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13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D4628-D72E-4C75-BEB7-0FDDAFEB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39528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2074B-1596-4440-B6FB-F92D7694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MEASURED QUBITS [0…9]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F18BD-10B0-4DE3-B118-60C8C42F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5718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KEEP · raw index 63</a:t>
            </a:r>
          </a:p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1010000001</a:t>
            </a:r>
          </a:p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basis = 517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CDD77-3900-4E92-9519-0A3B836E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05275"/>
            <a:ext cx="39528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199EC-AD14-421E-B7A3-237719CD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MEASURED QUBITS [0…9]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9732F-E1E5-4D82-846C-75C7615F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35718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MIX · raw index 31</a:t>
            </a:r>
          </a:p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0010010010</a:t>
            </a:r>
          </a:p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basis = 292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0806A-E884-4F1A-ACCF-72046010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52675"/>
            <a:ext cx="66008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EA2FB-08A5-492F-B10B-32E4BF6A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460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64D9F-B308-4409-B4FF-18D0FA90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669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Decode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B7B5C-8116-4AED-8143-86F21E93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95550"/>
            <a:ext cx="3667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Five pair codes + fixed 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6C410-1371-4AAA-8C7B-628E60D1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48025"/>
            <a:ext cx="66008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D396E-0251-45B0-9BCB-0E6EA645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0995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EC509-A508-40BC-9FC3-5C02ADAA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6232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Validate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F1361-A6B8-47F2-98C2-F2516A96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90900"/>
            <a:ext cx="3667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All original conditions; score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0ECC8-B2CB-4C4E-AD22-5B227472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143375"/>
            <a:ext cx="66008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62373D-A6E1-4617-82A5-9C002975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B4017-796D-45E0-AC69-92238409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576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Consume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9E19BC-0361-432F-A71B-82531F99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86250"/>
            <a:ext cx="3667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Actual native Work consumes 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25595D-3249-4B7F-A4F4-1AED2AD0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038725"/>
            <a:ext cx="66008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E86F0C-6112-4FF8-B3AB-47058D43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0065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3E57C8-B31B-41F1-ABDA-323D4B7E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5302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Accept + save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C9089-3D86-4354-8560-B1A92846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181600"/>
            <a:ext cx="3667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Current Root; separate JSON/HTML save</a:t>
            </a:r>
          </a:p>
        </p:txBody>
      </p:sp>
    </p:spTree>
    <p:extLst>
      <p:ext uri="{BB962C8B-B14F-4D97-AF65-F5344CB8AC3E}">
        <p14:creationId xmlns:p14="http://schemas.microsoft.com/office/powerpoint/2010/main" val="16720189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61498-780E-4423-B5F1-3414733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4DC97-2EF5-4278-A275-E3765620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Waiting preserved task identity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without extending old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D8896-8419-4F90-BE4A-0344B0CA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Submission and later result consumption remained separate, bounded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1CE08-6F67-4AB5-9E1A-EB213DD3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35D38-8C0A-4E0B-B7AD-485302D6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C1A21-7C55-48A4-AF7E-4CF0E9EF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dd136667bda24620"/>
              </a:rPr>
              <a:t>Technical evidence · A22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B274D-9270-4AF7-817F-5E18C02B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32558cbcaac461f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984AC-8FF1-40FE-9FB3-1487B60E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14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09550-6269-44FE-A61F-3B2D000B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07:18 UTC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261CF-2C94-4B71-BE53-E09EB1DC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2619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B8809-7088-4A38-9398-B22D46D7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Two task IDs created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0FC8A-1989-4A91-80EB-528DFE80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146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QUEUED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EFCE5-C578-4F07-8D23-C5C86CDA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09925"/>
            <a:ext cx="2619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137C8-FDFA-4E59-A5F1-AA90DF59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7662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No replacement submissions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9D905-B0CB-4623-9DC1-7067F02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146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09:00 UTC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8123F-F9FA-46CC-B28C-AD2C7627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9925"/>
            <a:ext cx="2619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B3402-C7EC-4DDF-84D9-B1E6D3B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7662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Both tasks 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3F9B3-100C-4A11-9A41-D556089C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146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RESUME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F6A99-5790-44B5-BCEC-D493592C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09925"/>
            <a:ext cx="2619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C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76935-91D5-4EAE-BDA1-2C9AB8DB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7662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Read those same task IDs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06913-0470-41A4-9D54-6994C82B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5334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~102 minutes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90CCB-D9D7-4A8B-AA7E-7944AE62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539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Creation-to-completion: queue + execution.</a:t>
            </a:r>
          </a:p>
          <a:p xmlns:a="http://schemas.openxmlformats.org/drawingml/2006/main">
            <a:pPr algn="l">
              <a:defRPr sz="1725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Not isolated QPU compute time.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6DCADA-60C1-4641-A635-0654CA4B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62475"/>
            <a:ext cx="53054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Read existing task → current review</a:t>
            </a:r>
          </a:p>
          <a:p xmlns:a="http://schemas.openxmlformats.org/drawingml/2006/main">
            <a:pPr algn="l">
              <a:def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Prepare fresh consumption → approve SAVE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89A3A6-F252-4B8C-AA22-4605C654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638800"/>
            <a:ext cx="53054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The 96.71 s resume process is not a device benchmark.</a:t>
            </a:r>
          </a:p>
        </p:txBody>
      </p:sp>
    </p:spTree>
    <p:extLst>
      <p:ext uri="{BB962C8B-B14F-4D97-AF65-F5344CB8AC3E}">
        <p14:creationId xmlns:p14="http://schemas.microsoft.com/office/powerpoint/2010/main" val="9368030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4332C-ECA3-45AB-8526-3EDF045A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CF5C3-FCC3-47E7-BF53-EEF309A6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Each participant received a different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projection of the same activity.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0C93D-B330-4E68-BCFF-D937B100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Disclosure controls protected selected synthetic fields, with explicit trust assumptions.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08051-847B-4F46-8496-799DFC7F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58BB9-09B8-42F2-93E3-AA0AAA55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4DFDF-30C6-45CF-B29D-A03CA505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98819f896d647f1"/>
              </a:rPr>
              <a:t>Technical evidence · A18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20014-C566-49A1-B1B9-A12D1BD6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fcb66ddb196419a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591FB-BAEB-40A0-ACBF-459C6C61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15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BA7DF-A7A2-4524-AF06-9182EBD4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3505200" cy="231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50578-4754-4599-BA55-EEA8B799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3124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Local private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92602-C00E-4302-8A5B-E243F3BD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Private fields stay local.</a:t>
            </a:r>
          </a:p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Owner retains the full instance.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8EE72-6BC1-43F5-B8F9-1A32D1C6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3505200" cy="231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EE136-34C4-44E0-83CE-5A8FA63D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0325"/>
            <a:ext cx="3124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Semantic projection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2C0F8-44D5-481A-83C0-10C3B008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3377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Approved synthetic IDs, wishes</a:t>
            </a:r>
          </a:p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and allowed condition catalogue.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1EF94-3656-4E7D-A8E3-235FF989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505200" cy="231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BC976-BF5D-4182-9E5C-4FAE5BEA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0325"/>
            <a:ext cx="3124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Numeric projection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168FE-39D0-483C-BEA3-39790F37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Approved coefficients, circuit</a:t>
            </a:r>
          </a:p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and task/result identities.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25278-3507-4334-ADE9-3FBEF742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Cloud principal: radiolaria-quantum IAM user.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Pseudonyms still disclose relationship structure; hashes do not anonymize data.</a:t>
            </a:r>
          </a:p>
        </p:txBody>
      </p:sp>
    </p:spTree>
    <p:extLst>
      <p:ext uri="{BB962C8B-B14F-4D97-AF65-F5344CB8AC3E}">
        <p14:creationId xmlns:p14="http://schemas.microsoft.com/office/powerpoint/2010/main" val="10120560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B10E5-0302-4FA6-8EB0-CD4B3487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EE56C-46E9-4A23-84B6-EEA9BE92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 measured candidate could fail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even when its decoding was coherent.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19230-D69B-459B-BA93-DF5F9940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The original domain rules decided admissibility before acceptance.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8153A-4507-48D9-ACB3-970930E1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6E692-1D67-4669-A525-0759BF46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18821-0310-4F68-99B1-6C67D45C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fe222052cc5495c"/>
              </a:rPr>
              <a:t>Technical evidence · A23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B8F2F-591A-4BFB-98D6-D87BA047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55933236b214eaf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60696-77E6-4FEF-8A26-E4A724FE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16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E6390-4055-4CDE-89E6-928D358D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5334000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BA994-18CB-47DE-A813-FB69D835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4914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551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9B5516"/>
                </a:solidFill>
                <a:latin typeface="DejaVu Sans"/>
                <a:ea typeface="DejaVu Sans"/>
                <a:cs typeface="DejaVu Sans"/>
              </a:rPr>
              <a:t>KEEP · raw shot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CC463-01E4-4A98-99CA-6AF54F75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1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0000000100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D35D3-0B35-4ABB-A6B2-8E664443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914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Decoded, then INVALID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Table capacities violated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Guests 01 and 05 must sit apart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9C2C8-DAB0-478F-8203-6900453A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71725"/>
            <a:ext cx="5410200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31D55-105F-4AAB-9422-60C7F903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4991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KEEP · raw shot 63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FAE63-7D70-47BB-AB34-7AFA84C0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499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1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1010000001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180FD-32EB-450B-B2D2-4D019EC1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4991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Decoded, then VALID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All original conditions satisfied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Consumed and separately saved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CFD69-525E-4A8D-8280-5FCBE1F4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91175"/>
            <a:ext cx="11125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Additional recorded controls cover changed sources, foreign result binding and pending-task handling.</a:t>
            </a:r>
          </a:p>
        </p:txBody>
      </p:sp>
    </p:spTree>
    <p:extLst>
      <p:ext uri="{BB962C8B-B14F-4D97-AF65-F5344CB8AC3E}">
        <p14:creationId xmlns:p14="http://schemas.microsoft.com/office/powerpoint/2010/main" val="3716347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78131-1A75-420A-8BF1-F0E37E8F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85E02-DB03-4FE1-AC3B-BB02DFEE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The recorded result can be checked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without buying another QPU task.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F16CC-C64F-48E9-9E42-F3CCF058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An external pin binds the accepted portable bytes; installed code checks supported relations.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E91EC-1F13-42E9-8265-54A133EC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6A4D2-536E-4521-BE52-D9C5285E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68B8C-6D3D-4791-ACC7-DCA2BD3E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41a3af8df3d04842"/>
              </a:rPr>
              <a:t>Technical evidence · A24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DEA54-7CEE-4142-98A0-8BA6BE7E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de94a55bd0f4290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A850C-46A1-4D95-BB9E-F9206232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17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85028-C14A-4135-B45A-96364F24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B391B-D998-496D-B39E-F066975E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343150"/>
            <a:ext cx="985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Use the accepted 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6B36F-E587-4077-8C45-9142B3BF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71775"/>
            <a:ext cx="985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fbb136f4… on owner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E79DC-2999-4A4C-BDC4-F0D51884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5FB36-5CEE-4D8F-94CA-C4C6813B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95650"/>
            <a:ext cx="985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Supply the independent package pin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BA41B-CB48-4E68-A53D-5C7F11C2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24275"/>
            <a:ext cx="985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3c924898…33bf1552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C6290-23C7-4CF2-A662-A68E2208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1E300-8E48-441D-81B7-5BB065AE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48150"/>
            <a:ext cx="985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Run the read-only verifier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23F01-C071-43DD-B6DE-AEFF1935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76775"/>
            <a:ext cx="985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Canonical result e4a1a644…cad09b0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CC3B3-9F5A-4BDC-BEB9-7A4075A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9592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No new Root, Host, solver, LLM, AWS or QPU execution.</a:t>
            </a:r>
          </a:p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This validates stored event relationships, not a replay of every native schema.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6ED6E-BF02-4C89-B590-D76CFDB2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9252C"/>
                </a:solidFill>
                <a:latin typeface="DejaVu Sans Mono"/>
                <a:ea typeface="DejaVu Sans Mono"/>
                <a:cs typeface="DejaVu Sans Mono"/>
              </a:rPr>
              <a:t>python demo/run_wedding_seating_v01.py verify 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46AA3-5FC4-4A9E-885C-72DFDAB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14925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af231efcabd649a7"/>
              </a:rPr>
              <a:t>Full command + independent pin</a:t>
            </a:r>
          </a:p>
        </p:txBody>
      </p:sp>
    </p:spTree>
    <p:extLst>
      <p:ext uri="{BB962C8B-B14F-4D97-AF65-F5344CB8AC3E}">
        <p14:creationId xmlns:p14="http://schemas.microsoft.com/office/powerpoint/2010/main" val="13401190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7000B-EED7-4989-88F7-913B1DC1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232FC-E3A9-46C2-BD90-DDC5402E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The comparison concerns evaluated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scope, not a solver leaderboard.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1386D-4169-479D-BCB9-72620A4C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Related work already formulates seating, exchanges optimizers and checks feasibility.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1298A-62D2-48A8-A9E3-CC4E4D62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A2565-A074-42A8-958F-3961713E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C2176-F492-4D73-B33F-651ADF9C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35767c0482b4e3c"/>
              </a:rPr>
              <a:t>Technical evidence · A25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70D03-7F09-4929-9295-7AC779D6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d1ba3176760b4b88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7BECF-4418-4DAD-A6BB-7817FD65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18 / 20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33400" y="2352675"/>
          <a:ext xmlns:a="http://schemas.openxmlformats.org/drawingml/2006/main" cx="1112520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4191000"/>
                <a:gridCol w="4505325"/>
              </a:tblGrid>
              <a:tr h="615315"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Reference</a:t>
                      </a:r>
                    </a:p>
                  </a:txBody>
                  <a:tcPr marL="91440" marR="91440" marT="45720" marB="45720" anchor="ctr">
                    <a:solidFill>
                      <a:srgbClr val="19252C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the cited work evaluates</a:t>
                      </a:r>
                    </a:p>
                  </a:txBody>
                  <a:tcPr marL="91440" marR="91440" marT="45720" marB="45720" anchor="ctr">
                    <a:solidFill>
                      <a:srgbClr val="19252C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Wedding case study</a:t>
                      </a:r>
                    </a:p>
                  </a:txBody>
                  <a:tcPr marL="91440" marR="91440" marT="45720" marB="45720" anchor="ctr">
                    <a:solidFill>
                      <a:srgbClr val="19252C"/>
                    </a:solidFill>
                  </a:tcPr>
                </a:tc>
              </a:tr>
              <a:tr h="615315"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PuLP / OR-Tools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Set partitioning / CP-SAT</a:t>
                      </a:r>
                    </a:p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with prepared inputs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Changing intent selects performed work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315"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Bellows &amp; Peterson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107 guests; best-found plan</a:t>
                      </a:r>
                    </a:p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36 h + human revisions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Explicit revision and acceptance history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</a:tr>
              <a:tr h="615315"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Nicholas &amp; Mulligan v2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CFN; classical and D-Wave</a:t>
                      </a:r>
                    </a:p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mappings; 37-person case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Rigetti measurement-to-save chain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315"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Masala Core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Runtime plugins and</a:t>
                      </a:r>
                    </a:p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interchangeable representations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95250" rIns="114300" bIns="762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925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Ownership, time and evidence around computation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70BA1-22BE-4300-8999-E21D0BFA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Not evaluated in a cited work ≠ impossible in that system. No matched benchmark or quantum speedup.</a:t>
            </a:r>
          </a:p>
        </p:txBody>
      </p:sp>
    </p:spTree>
    <p:extLst>
      <p:ext uri="{BB962C8B-B14F-4D97-AF65-F5344CB8AC3E}">
        <p14:creationId xmlns:p14="http://schemas.microsoft.com/office/powerpoint/2010/main" val="6544069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47EC1-7394-49C3-B57B-7B962A24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797D0-732E-47F1-990F-EE3873B8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 107-guest profile needs new domain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engineering, not a new owner principle.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8C293-78EC-4C46-89A3-268A712F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Architectural extension argument. The observed experiment remains 12 guests.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22C56-665D-4C7D-BF49-68D50D03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2B35E-D659-4469-BFF8-125DD049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F4E9-0370-4743-8FBE-E62F2149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e2940c798bbb4bf6"/>
              </a:rPr>
              <a:t>Technical evidence · A26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43EAE-011A-45D6-AE9E-592B3320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535694843d34968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F4C0D-7739-4299-B3C5-CF460EEC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19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4D4E8-CFCC-43D2-840F-30D90C32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6750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CD564-7F0D-4F27-B511-EB09C306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observed guests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C5F39-C962-4225-A92E-FB6489CC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957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Three tables of four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Fixed pairs and 10-qubit encoding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D2BB8-63EF-450E-9616-E41632F5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28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728196"/>
                </a:solidFill>
                <a:latin typeface="DejaVu Sans"/>
                <a:ea typeface="DejaVu Sans"/>
                <a:cs typeface="DejaVu Sans"/>
              </a:defRPr>
            </a:pPr>
            <a:r>
              <a:rPr sz="6750" b="1">
                <a:solidFill>
                  <a:srgbClr val="728196"/>
                </a:solidFill>
                <a:latin typeface="DejaVu Sans"/>
                <a:ea typeface="DejaVu Sans"/>
                <a:cs typeface="DejaVu Sans"/>
              </a:rPr>
              <a:t>107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1BBFF-8CA6-4B2B-BE22-B6EA910E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480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future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7B9A6-458D-4323-99EA-74C57290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New capacity rules and guest bounds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New solver / encoding / cost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5C319-41FA-447E-95B4-F9999CB3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24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96BD7-A0BC-45B0-B6BB-5E55E2B9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Keep explicit conditions, source identities, current review and independent validation.</a:t>
            </a:r>
          </a:p>
          <a:p xmlns:a="http://schemas.openxmlformats.org/drawingml/2006/main">
            <a:pPr algn="l">
              <a:def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Rebuild the numerical profile; do not stretch a fixed 12-guest contract.</a:t>
            </a:r>
          </a:p>
        </p:txBody>
      </p:sp>
    </p:spTree>
    <p:extLst>
      <p:ext uri="{BB962C8B-B14F-4D97-AF65-F5344CB8AC3E}">
        <p14:creationId xmlns:p14="http://schemas.microsoft.com/office/powerpoint/2010/main" val="7000881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3CFED-4023-496A-9770-C22A77E2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RADIOLARIA OS  /  WEDDING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CBB9A-9F1C-4636-B53A-D059C66C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Inspect the words. Trace the sample.</a:t>
            </a:r>
          </a:p>
          <a:p xmlns:a="http://schemas.openxmlformats.org/drawingml/2006/main">
            <a:pPr algn="l">
              <a:def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Verify the result.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5E154-EDA4-4198-8BF3-839C80CB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The computation changed. The commitment did not.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38078-3FBB-498C-86F8-64D96FA9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D1375-6A71-4F48-AB12-BE186C59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W6 • 24 SEP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C3CC5-CB10-4BFD-AFE1-F2ECB7DE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449af4dc62024b0d"/>
              </a:rPr>
              <a:t>Technical evidence · A30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54171-E080-454D-8BA5-DD5601F6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543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424f4d087a38486d"/>
              </a:rPr>
              <a:t>Implementation fbb136f4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AD53E-6627-4AA9-834B-E3BECD81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3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20 / 20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cc693b2224b60"/>
          <a:stretch xmlns:a="http://schemas.openxmlformats.org/drawingml/2006/main"/>
        </p:blipFill>
        <p:spPr>
          <a:xfrm xmlns:a="http://schemas.openxmlformats.org/drawingml/2006/main">
            <a:off x="7791450" y="2152650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D9A42-E1E2-4E01-A1FC-9CF5F777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19 real calls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5DE1E-E4B1-4447-9179-93D5F206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6924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Task choice, objectives and revisions.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F85DF-6D31-4557-BDD3-6BA64BE0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757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2 hardware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95786-F6DD-4519-B307-AEB786E0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6924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One measured candidate per saved plan.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111A4-EDCC-4518-BF26-B904B986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4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15AC8"/>
                </a:solidFill>
                <a:latin typeface="DejaVu Sans"/>
                <a:ea typeface="DejaVu Sans"/>
                <a:cs typeface="DejaVu Sans"/>
              </a:rPr>
              <a:t>34 added source paths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774AB-F24A-4985-81AB-3C7CBAC6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6924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252C"/>
                </a:solidFill>
                <a:latin typeface="DejaVu Sans"/>
                <a:ea typeface="DejaVu Sans"/>
                <a:cs typeface="DejaVu Sans"/>
              </a:rPr>
              <a:t>Accepted domain extension; common core preserved.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3E71F-B5BF-44BE-8416-90825A27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0adc962b5824637"/>
              </a:rPr>
              <a:t>Technical appendix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D00DD-9312-4F90-9B44-CD2F5333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8388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f54c12ad8604dae"/>
              </a:rPr>
              <a:t>Complete XML Reader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6DB42-7062-4AB9-9B42-2E3C978D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838825"/>
            <a:ext cx="253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5A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15AC8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a30e1ae800741a7"/>
              </a:rPr>
              <a:t>Sources +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951FE-CA6F-4F6F-AAC0-3CFCCE28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62675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3636F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53636F"/>
                </a:solidFill>
                <a:latin typeface="DejaVu Sans"/>
                <a:ea typeface="DejaVu Sans"/>
                <a:cs typeface="DejaVu Sans"/>
              </a:rPr>
              <a:t>Finite case study · No quantum speedup or production certification · Repository access required; new links activate after publication.</a:t>
            </a:r>
          </a:p>
        </p:txBody>
      </p:sp>
    </p:spTree>
    <p:extLst>
      <p:ext uri="{BB962C8B-B14F-4D97-AF65-F5344CB8AC3E}">
        <p14:creationId xmlns:p14="http://schemas.microsoft.com/office/powerpoint/2010/main" val="1621802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2026-09-24T11:45:04.2740000Z</dcterms:created>
  <dcterms:modified xsi:type="dcterms:W3CDTF">2026-09-24T11:45:04.2750000Z</dcterms:modified>
</coreProperties>
</file>