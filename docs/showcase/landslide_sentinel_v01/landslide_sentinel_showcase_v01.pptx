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1.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888abebd4844718" /><Relationship Type="http://schemas.openxmlformats.org/officeDocument/2006/relationships/extended-properties" Target="/docProps/app.xml" Id="R6c2db52448b04ec6" /><Relationship Type="http://schemas.openxmlformats.org/officeDocument/2006/relationships/officeDocument" Target="/ppt/presentation.xml" Id="Rde91e5a8ffc64e2e" /></Relationships>
</file>

<file path=ppt/presentation.xml><?xml version="1.0" encoding="utf-8"?>
<p:presentation xmlns:p="http://schemas.openxmlformats.org/presentationml/2006/main">
  <p:sldMasterIdLst>
    <p:sldMasterId xmlns:r="http://schemas.openxmlformats.org/officeDocument/2006/relationships" id="2147483648" r:id="R6ca6728702864e29"/>
  </p:sldMasterIdLst>
  <p:notesMasterIdLst>
    <p:notesMasterId xmlns:r="http://schemas.openxmlformats.org/officeDocument/2006/relationships" r:id="R1023a472bdf44c4a"/>
  </p:notesMasterIdLst>
  <p:sldIdLst>
    <p:sldId xmlns:r="http://schemas.openxmlformats.org/officeDocument/2006/relationships" id="256" r:id="R8b5da139f39249e1"/>
    <p:sldId xmlns:r="http://schemas.openxmlformats.org/officeDocument/2006/relationships" id="257" r:id="R4e593bb0a2ff4471"/>
    <p:sldId xmlns:r="http://schemas.openxmlformats.org/officeDocument/2006/relationships" id="258" r:id="Rf8547f2b3ea74417"/>
    <p:sldId xmlns:r="http://schemas.openxmlformats.org/officeDocument/2006/relationships" id="259" r:id="R5e7d8bf89dc24fff"/>
    <p:sldId xmlns:r="http://schemas.openxmlformats.org/officeDocument/2006/relationships" id="260" r:id="Rea46ed99d9334c47"/>
    <p:sldId xmlns:r="http://schemas.openxmlformats.org/officeDocument/2006/relationships" id="261" r:id="R114f3086e7bc4b77"/>
    <p:sldId xmlns:r="http://schemas.openxmlformats.org/officeDocument/2006/relationships" id="262" r:id="R4b17239bdf874833"/>
    <p:sldId xmlns:r="http://schemas.openxmlformats.org/officeDocument/2006/relationships" id="263" r:id="R0488fb712c57493a"/>
    <p:sldId xmlns:r="http://schemas.openxmlformats.org/officeDocument/2006/relationships" id="264" r:id="Reac02f527caa4199"/>
    <p:sldId xmlns:r="http://schemas.openxmlformats.org/officeDocument/2006/relationships" id="265" r:id="R111609a312214a76"/>
    <p:sldId xmlns:r="http://schemas.openxmlformats.org/officeDocument/2006/relationships" id="266" r:id="Rae6e6cb306be4d68"/>
    <p:sldId xmlns:r="http://schemas.openxmlformats.org/officeDocument/2006/relationships" id="267" r:id="R168ca376a60241b4"/>
    <p:sldId xmlns:r="http://schemas.openxmlformats.org/officeDocument/2006/relationships" id="268" r:id="R149ace2c131847cb"/>
    <p:sldId xmlns:r="http://schemas.openxmlformats.org/officeDocument/2006/relationships" id="269" r:id="Rd5c7487f862843ea"/>
    <p:sldId xmlns:r="http://schemas.openxmlformats.org/officeDocument/2006/relationships" id="270" r:id="R09e5a170055940c0"/>
    <p:sldId xmlns:r="http://schemas.openxmlformats.org/officeDocument/2006/relationships" id="271" r:id="R606516af827a49d2"/>
    <p:sldId xmlns:r="http://schemas.openxmlformats.org/officeDocument/2006/relationships" id="272" r:id="R808bd4a39031434a"/>
    <p:sldId xmlns:r="http://schemas.openxmlformats.org/officeDocument/2006/relationships" id="273" r:id="R93e0298792d043e7"/>
    <p:sldId xmlns:r="http://schemas.openxmlformats.org/officeDocument/2006/relationships" id="274" r:id="R3d57e6d82d6b44da"/>
    <p:sldId xmlns:r="http://schemas.openxmlformats.org/officeDocument/2006/relationships" id="275" r:id="Rd4b2ab4db9fd4fba"/>
    <p:sldId xmlns:r="http://schemas.openxmlformats.org/officeDocument/2006/relationships" id="276" r:id="R49b07fc58526498e"/>
    <p:sldId xmlns:r="http://schemas.openxmlformats.org/officeDocument/2006/relationships" id="277" r:id="R5b1aceb7e0014425"/>
    <p:sldId xmlns:r="http://schemas.openxmlformats.org/officeDocument/2006/relationships" id="278" r:id="R302dcdfe63e94141"/>
    <p:sldId xmlns:r="http://schemas.openxmlformats.org/officeDocument/2006/relationships" id="279" r:id="R51da650070814017"/>
    <p:sldId xmlns:r="http://schemas.openxmlformats.org/officeDocument/2006/relationships" id="280" r:id="Rdcecd22c3db54d6d"/>
    <p:sldId xmlns:r="http://schemas.openxmlformats.org/officeDocument/2006/relationships" id="281" r:id="Rfad63561d4544e31"/>
    <p:sldId xmlns:r="http://schemas.openxmlformats.org/officeDocument/2006/relationships" id="282" r:id="R545d61d00cdd492f"/>
    <p:sldId xmlns:r="http://schemas.openxmlformats.org/officeDocument/2006/relationships" id="283" r:id="R6c20f44b02ca472b"/>
    <p:sldId xmlns:r="http://schemas.openxmlformats.org/officeDocument/2006/relationships" id="284" r:id="Rb6917ea491024e16"/>
    <p:sldId xmlns:r="http://schemas.openxmlformats.org/officeDocument/2006/relationships" id="285" r:id="R43726799b75a4f84"/>
    <p:sldId xmlns:r="http://schemas.openxmlformats.org/officeDocument/2006/relationships" id="286" r:id="R3bf70ee6456341ef"/>
    <p:sldId xmlns:r="http://schemas.openxmlformats.org/officeDocument/2006/relationships" id="287" r:id="R583b5749ec504c7f"/>
    <p:sldId xmlns:r="http://schemas.openxmlformats.org/officeDocument/2006/relationships" id="288" r:id="R53a0c55feac44e67"/>
    <p:sldId xmlns:r="http://schemas.openxmlformats.org/officeDocument/2006/relationships" id="289" r:id="Ra30dab9956d548db"/>
    <p:sldId xmlns:r="http://schemas.openxmlformats.org/officeDocument/2006/relationships" id="290" r:id="Rd5be36a964ab448c"/>
    <p:sldId xmlns:r="http://schemas.openxmlformats.org/officeDocument/2006/relationships" id="291" r:id="Ra577636f7a6d4da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cf4995fe0d4af8" /><Relationship Type="http://schemas.openxmlformats.org/officeDocument/2006/relationships/slideMaster" Target="/ppt/slideMasters/slideMaster1.xml" Id="R6ca6728702864e29" /><Relationship Type="http://schemas.openxmlformats.org/officeDocument/2006/relationships/notesMaster" Target="/ppt/notesMasters/notesMaster1.xml" Id="R1023a472bdf44c4a" /><Relationship Type="http://schemas.openxmlformats.org/officeDocument/2006/relationships/presProps" Target="/ppt/presProps.xml" Id="R3bc9d0b698ff437d" /><Relationship Type="http://schemas.openxmlformats.org/officeDocument/2006/relationships/tableStyles" Target="/ppt/tableStyles.xml" Id="R6aadca2dbfc449f1" /><Relationship Type="http://schemas.openxmlformats.org/officeDocument/2006/relationships/slide" Target="/ppt/slides/slide1.xml" Id="R8b5da139f39249e1" /><Relationship Type="http://schemas.openxmlformats.org/officeDocument/2006/relationships/slide" Target="/ppt/slides/slide2.xml" Id="R4e593bb0a2ff4471" /><Relationship Type="http://schemas.openxmlformats.org/officeDocument/2006/relationships/slide" Target="/ppt/slides/slide3.xml" Id="Rf8547f2b3ea74417" /><Relationship Type="http://schemas.openxmlformats.org/officeDocument/2006/relationships/slide" Target="/ppt/slides/slide4.xml" Id="R5e7d8bf89dc24fff" /><Relationship Type="http://schemas.openxmlformats.org/officeDocument/2006/relationships/slide" Target="/ppt/slides/slide5.xml" Id="Rea46ed99d9334c47" /><Relationship Type="http://schemas.openxmlformats.org/officeDocument/2006/relationships/slide" Target="/ppt/slides/slide6.xml" Id="R114f3086e7bc4b77" /><Relationship Type="http://schemas.openxmlformats.org/officeDocument/2006/relationships/slide" Target="/ppt/slides/slide7.xml" Id="R4b17239bdf874833" /><Relationship Type="http://schemas.openxmlformats.org/officeDocument/2006/relationships/slide" Target="/ppt/slides/slide8.xml" Id="R0488fb712c57493a" /><Relationship Type="http://schemas.openxmlformats.org/officeDocument/2006/relationships/slide" Target="/ppt/slides/slide9.xml" Id="Reac02f527caa4199" /><Relationship Type="http://schemas.openxmlformats.org/officeDocument/2006/relationships/slide" Target="/ppt/slides/slide10.xml" Id="R111609a312214a76" /><Relationship Type="http://schemas.openxmlformats.org/officeDocument/2006/relationships/slide" Target="/ppt/slides/slide11.xml" Id="Rae6e6cb306be4d68" /><Relationship Type="http://schemas.openxmlformats.org/officeDocument/2006/relationships/slide" Target="/ppt/slides/slide12.xml" Id="R168ca376a60241b4" /><Relationship Type="http://schemas.openxmlformats.org/officeDocument/2006/relationships/slide" Target="/ppt/slides/slide13.xml" Id="R149ace2c131847cb" /><Relationship Type="http://schemas.openxmlformats.org/officeDocument/2006/relationships/slide" Target="/ppt/slides/slide14.xml" Id="Rd5c7487f862843ea" /><Relationship Type="http://schemas.openxmlformats.org/officeDocument/2006/relationships/slide" Target="/ppt/slides/slide15.xml" Id="R09e5a170055940c0" /><Relationship Type="http://schemas.openxmlformats.org/officeDocument/2006/relationships/slide" Target="/ppt/slides/slide16.xml" Id="R606516af827a49d2" /><Relationship Type="http://schemas.openxmlformats.org/officeDocument/2006/relationships/slide" Target="/ppt/slides/slide17.xml" Id="R808bd4a39031434a" /><Relationship Type="http://schemas.openxmlformats.org/officeDocument/2006/relationships/slide" Target="/ppt/slides/slide18.xml" Id="R93e0298792d043e7" /><Relationship Type="http://schemas.openxmlformats.org/officeDocument/2006/relationships/slide" Target="/ppt/slides/slide19.xml" Id="R3d57e6d82d6b44da" /><Relationship Type="http://schemas.openxmlformats.org/officeDocument/2006/relationships/slide" Target="/ppt/slides/slide20.xml" Id="Rd4b2ab4db9fd4fba" /><Relationship Type="http://schemas.openxmlformats.org/officeDocument/2006/relationships/slide" Target="/ppt/slides/slide21.xml" Id="R49b07fc58526498e" /><Relationship Type="http://schemas.openxmlformats.org/officeDocument/2006/relationships/slide" Target="/ppt/slides/slide22.xml" Id="R5b1aceb7e0014425" /><Relationship Type="http://schemas.openxmlformats.org/officeDocument/2006/relationships/slide" Target="/ppt/slides/slide23.xml" Id="R302dcdfe63e94141" /><Relationship Type="http://schemas.openxmlformats.org/officeDocument/2006/relationships/slide" Target="/ppt/slides/slide24.xml" Id="R51da650070814017" /><Relationship Type="http://schemas.openxmlformats.org/officeDocument/2006/relationships/slide" Target="/ppt/slides/slide25.xml" Id="Rdcecd22c3db54d6d" /><Relationship Type="http://schemas.openxmlformats.org/officeDocument/2006/relationships/slide" Target="/ppt/slides/slide26.xml" Id="Rfad63561d4544e31" /><Relationship Type="http://schemas.openxmlformats.org/officeDocument/2006/relationships/slide" Target="/ppt/slides/slide27.xml" Id="R545d61d00cdd492f" /><Relationship Type="http://schemas.openxmlformats.org/officeDocument/2006/relationships/slide" Target="/ppt/slides/slide28.xml" Id="R6c20f44b02ca472b" /><Relationship Type="http://schemas.openxmlformats.org/officeDocument/2006/relationships/slide" Target="/ppt/slides/slide29.xml" Id="Rb6917ea491024e16" /><Relationship Type="http://schemas.openxmlformats.org/officeDocument/2006/relationships/slide" Target="/ppt/slides/slide30.xml" Id="R43726799b75a4f84" /><Relationship Type="http://schemas.openxmlformats.org/officeDocument/2006/relationships/slide" Target="/ppt/slides/slide31.xml" Id="R3bf70ee6456341ef" /><Relationship Type="http://schemas.openxmlformats.org/officeDocument/2006/relationships/slide" Target="/ppt/slides/slide32.xml" Id="R583b5749ec504c7f" /><Relationship Type="http://schemas.openxmlformats.org/officeDocument/2006/relationships/slide" Target="/ppt/slides/slide33.xml" Id="R53a0c55feac44e67" /><Relationship Type="http://schemas.openxmlformats.org/officeDocument/2006/relationships/slide" Target="/ppt/slides/slide34.xml" Id="Ra30dab9956d548db" /><Relationship Type="http://schemas.openxmlformats.org/officeDocument/2006/relationships/slide" Target="/ppt/slides/slide35.xml" Id="Rd5be36a964ab448c" /><Relationship Type="http://schemas.openxmlformats.org/officeDocument/2006/relationships/slide" Target="/ppt/slides/slide36.xml" Id="Ra577636f7a6d4da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845724d3ef143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70abb1d33614dd7" /><Relationship Type="http://schemas.openxmlformats.org/officeDocument/2006/relationships/notesMaster" Target="/ppt/notesMasters/notesMaster1.xml" Id="R60da1a13f79c4a8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76e63cc5d043d0" /><Relationship Type="http://schemas.openxmlformats.org/officeDocument/2006/relationships/notesMaster" Target="/ppt/notesMasters/notesMaster1.xml" Id="R06a1b5a1fa73427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b9baf33787040e3" /><Relationship Type="http://schemas.openxmlformats.org/officeDocument/2006/relationships/notesMaster" Target="/ppt/notesMasters/notesMaster1.xml" Id="R49fcb02310f645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9c3da285ec4d23" /><Relationship Type="http://schemas.openxmlformats.org/officeDocument/2006/relationships/notesMaster" Target="/ppt/notesMasters/notesMaster1.xml" Id="R5f405f0c899c46b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e6ff19c50e2450b" /><Relationship Type="http://schemas.openxmlformats.org/officeDocument/2006/relationships/notesMaster" Target="/ppt/notesMasters/notesMaster1.xml" Id="R43e4f04f9be7425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91c9d8990ae4a0d" /><Relationship Type="http://schemas.openxmlformats.org/officeDocument/2006/relationships/notesMaster" Target="/ppt/notesMasters/notesMaster1.xml" Id="R92155b07a1a942fd" /></Relationships>
</file>

<file path=ppt/notesSlides/_rels/notesSlide7.xml.rels>&#65279;<?xml version="1.0" encoding="utf-8"?><Relationships xmlns="http://schemas.openxmlformats.org/package/2006/relationships"><Relationship Type="http://schemas.openxmlformats.org/officeDocument/2006/relationships/slide" Target="/ppt/slides/slide7.xml" Id="R03bafe5f8bae43fd" /><Relationship Type="http://schemas.openxmlformats.org/officeDocument/2006/relationships/notesMaster" Target="/ppt/notesMasters/notesMaster1.xml" Id="R75f0710e5dce47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5c9cb87b2b40df" /><Relationship Type="http://schemas.openxmlformats.org/officeDocument/2006/relationships/notesMaster" Target="/ppt/notesMasters/notesMaster1.xml" Id="Refbc88f9580645b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b51841f3ff944f4" /><Relationship Type="http://schemas.openxmlformats.org/officeDocument/2006/relationships/notesMaster" Target="/ppt/notesMasters/notesMaster1.xml" Id="R1895b83eb59046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deaf05e09444eca" /><Relationship Type="http://schemas.openxmlformats.org/officeDocument/2006/relationships/notesMaster" Target="/ppt/notesMasters/notesMaster1.xml" Id="Rc7c204fbe6894a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d4b07d55c0407c" /><Relationship Type="http://schemas.openxmlformats.org/officeDocument/2006/relationships/notesMaster" Target="/ppt/notesMasters/notesMaster1.xml" Id="R69f168bfb9f64e5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be5bc1d85854d9a" /><Relationship Type="http://schemas.openxmlformats.org/officeDocument/2006/relationships/notesMaster" Target="/ppt/notesMasters/notesMaster1.xml" Id="R4a87ba36c752471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df7be75deb4b67" /><Relationship Type="http://schemas.openxmlformats.org/officeDocument/2006/relationships/notesMaster" Target="/ppt/notesMasters/notesMaster1.xml" Id="R517bd0fb3e494ac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41c613596624153" /><Relationship Type="http://schemas.openxmlformats.org/officeDocument/2006/relationships/notesMaster" Target="/ppt/notesMasters/notesMaster1.xml" Id="R2547b5113f2841e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8a9617c31524ff7" /><Relationship Type="http://schemas.openxmlformats.org/officeDocument/2006/relationships/notesMaster" Target="/ppt/notesMasters/notesMaster1.xml" Id="Ra889496512ba40d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19c9f6fbf1448f5" /><Relationship Type="http://schemas.openxmlformats.org/officeDocument/2006/relationships/notesMaster" Target="/ppt/notesMasters/notesMaster1.xml" Id="R62f1690c448746d3"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b64c543cdd54118" /><Relationship Type="http://schemas.openxmlformats.org/officeDocument/2006/relationships/notesMaster" Target="/ppt/notesMasters/notesMaster1.xml" Id="R7149a8efa2d74d6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ef328be16647bc" /><Relationship Type="http://schemas.openxmlformats.org/officeDocument/2006/relationships/notesMaster" Target="/ppt/notesMasters/notesMaster1.xml" Id="R4641608bc8ab4fa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290e153b784bc5" /><Relationship Type="http://schemas.openxmlformats.org/officeDocument/2006/relationships/notesMaster" Target="/ppt/notesMasters/notesMaster1.xml" Id="R84915a38de2946a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c44128e886540fc" /><Relationship Type="http://schemas.openxmlformats.org/officeDocument/2006/relationships/notesMaster" Target="/ppt/notesMasters/notesMaster1.xml" Id="R1f0e7e952481461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29e35cbc2cc4d28" /><Relationship Type="http://schemas.openxmlformats.org/officeDocument/2006/relationships/notesMaster" Target="/ppt/notesMasters/notesMaster1.xml" Id="Redbfac33522d432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16334cc218914b5e" /><Relationship Type="http://schemas.openxmlformats.org/officeDocument/2006/relationships/notesMaster" Target="/ppt/notesMasters/notesMaster1.xml" Id="Ra25e12c0f2e44300"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51735c994254583" /><Relationship Type="http://schemas.openxmlformats.org/officeDocument/2006/relationships/notesMaster" Target="/ppt/notesMasters/notesMaster1.xml" Id="Rffc62d6c9cbe480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9a9f632df4d460b" /><Relationship Type="http://schemas.openxmlformats.org/officeDocument/2006/relationships/notesMaster" Target="/ppt/notesMasters/notesMaster1.xml" Id="R20b82657f96c49e3"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d92965038d44590" /><Relationship Type="http://schemas.openxmlformats.org/officeDocument/2006/relationships/notesMaster" Target="/ppt/notesMasters/notesMaster1.xml" Id="R45b5e1f373e24cb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15726ca909d4474" /><Relationship Type="http://schemas.openxmlformats.org/officeDocument/2006/relationships/notesMaster" Target="/ppt/notesMasters/notesMaster1.xml" Id="R6fc182cbba844b0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64af828861b4e73" /><Relationship Type="http://schemas.openxmlformats.org/officeDocument/2006/relationships/notesMaster" Target="/ppt/notesMasters/notesMaster1.xml" Id="Ra0ca7878dfc64015"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b7a1b552d2a4f28" /><Relationship Type="http://schemas.openxmlformats.org/officeDocument/2006/relationships/notesMaster" Target="/ppt/notesMasters/notesMaster1.xml" Id="R263f7fe8705f4ec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f21e80447f942f3" /><Relationship Type="http://schemas.openxmlformats.org/officeDocument/2006/relationships/notesMaster" Target="/ppt/notesMasters/notesMaster1.xml" Id="Rd86a0e546699408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c401fdab76554cf3" /><Relationship Type="http://schemas.openxmlformats.org/officeDocument/2006/relationships/notesMaster" Target="/ppt/notesMasters/notesMaster1.xml" Id="R0abdd8f5727d49d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b40f9361128425a" /><Relationship Type="http://schemas.openxmlformats.org/officeDocument/2006/relationships/notesMaster" Target="/ppt/notesMasters/notesMaster1.xml" Id="Raf848982261f40b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781416b519f41ba" /><Relationship Type="http://schemas.openxmlformats.org/officeDocument/2006/relationships/notesMaster" Target="/ppt/notesMasters/notesMaster1.xml" Id="R8c8976eac5514019"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ced324fa5ac4360" /><Relationship Type="http://schemas.openxmlformats.org/officeDocument/2006/relationships/notesMaster" Target="/ppt/notesMasters/notesMaster1.xml" Id="R0c4700b2a05f4c9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b7c7a3007a04715" /><Relationship Type="http://schemas.openxmlformats.org/officeDocument/2006/relationships/notesMaster" Target="/ppt/notesMasters/notesMaster1.xml" Id="Rb8eedb3bc9994dfa"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bda3fc26c9949b6" /><Relationship Type="http://schemas.openxmlformats.org/officeDocument/2006/relationships/notesMaster" Target="/ppt/notesMasters/notesMaster1.xml" Id="R731c546c71824af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47081bae45b64a6c" /><Relationship Type="http://schemas.openxmlformats.org/officeDocument/2006/relationships/notesMaster" Target="/ppt/notesMasters/notesMaster1.xml" Id="Rb659e6b9426c4f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Landslide Sentinel v0.1 demonstrates one local cell retaining responsibility as observations, connectivity, reasoning roles and monitoring requirements change. The demonstrated physical domain is synthetic. The implementation uses real common C/D/E/Work/Root boundaries, real Gemini transport in a separately identified lane and historical real Environment Agency acquisition. Siren, report and local acquisition effects are admitted local mocks. The source and evidence landing is committed at 2f328be634247be11bc18a3b22a919f393d6ed1d. The radiolarian cover is conceptual domain artwork, not a sensor image or a scientific model. This presentation explains the scoped accepted demonstration, including preserved failures and evidence limitations.</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Research-informed scenarios. Source-bound execution evidence. Published operational challenges informed the scenario design. Radiolaria demonstrates selected software responses on controlled observations and mock effects; the cited researchers and institutions are not presented as project endorsers.</a:t>
            </a:r>
          </a:p>
          <a:p xmlns:a="http://schemas.openxmlformats.org/drawingml/2006/main">
            <a:r>
              <a:t/>
            </a:r>
          </a:p>
          <a:p xmlns:a="http://schemas.openxmlformats.org/drawingml/2006/main">
            <a:r>
              <a:t>The chain is published problem → our software criterion → observed Sentinel behavior → exact execution source. R01–R12 establish external context; S and C identify recorded scenarios and contrasts; D01–D07 locate internal evidence. The translation into requirements is our engineering judgment, not a request attributed to the cited authors. Human direction, prepared AI assistants, Codex, domain adapters and the existing kernel all contributed. This is not automatic compilation of articles by BSEP. Specialists can inspect and challenge the mapping; a specialist-led revision cycle remains a future possibility, not an experiment already conducted.</a:t>
            </a:r>
          </a:p>
          <a:p xmlns:a="http://schemas.openxmlformats.org/drawingml/2006/main">
            <a:r>
              <a:t/>
            </a:r>
          </a:p>
          <a:p xmlns:a="http://schemas.openxmlformats.org/drawingml/2006/main">
            <a:r>
              <a:t>Published source context:</a:t>
            </a:r>
          </a:p>
          <a:p xmlns:a="http://schemas.openxmlformats.org/drawingml/2006/main">
            <a:r>
              <a:t>R04: A Rainfall-Driven Virtual Sensors Model to preserve Landslide Early-Warning Capabilities under Monitoring Systems Failures — https://meetingorganizer.copernicus.org/EGU26/EGU26-10345.html</a:t>
            </a:r>
          </a:p>
          <a:p xmlns:a="http://schemas.openxmlformats.org/drawingml/2006/main">
            <a:r>
              <a:t>R07: Rainfall — https://www.api.gov.uk/ea/rainfall/</a:t>
            </a:r>
          </a:p>
          <a:p xmlns:a="http://schemas.openxmlformats.org/drawingml/2006/main">
            <a:r>
              <a:t>R10: A debris-flow alarm system for the Alpine Illgraben catchment: design and performance — https://link.springer.com/article/10.1007/s11069-008-9303-x</a:t>
            </a:r>
          </a:p>
          <a:p xmlns:a="http://schemas.openxmlformats.org/drawingml/2006/main">
            <a:r>
              <a:t/>
            </a:r>
          </a:p>
          <a:p xmlns:a="http://schemas.openxmlformats.org/drawingml/2006/main">
            <a:r>
              <a:t>Recorded Sentinel results:</a:t>
            </a:r>
          </a:p>
          <a:p xmlns:a="http://schemas.openxmlformats.org/drawingml/2006/main">
            <a:r>
              <a:t>C03: controlled primary/reserve loss gives LIMITED then INSUFFICIENT. C02: a new receipt does not refresh an old observation; LS2R2 adds coherent hourly interval requirements. C07/S5: measured recovery and separate native OFF, with later current-age/dependency corrections. These are recorded software outcomes, not findings claimed by the research sources.</a:t>
            </a:r>
          </a:p>
          <a:p xmlns:a="http://schemas.openxmlformats.org/drawingml/2006/main">
            <a:r>
              <a:t/>
            </a:r>
          </a:p>
          <a:p xmlns:a="http://schemas.openxmlformats.org/drawingml/2006/main">
            <a:r>
              <a:t>Approximately 12 hours of Sentinel implementation on the existing kernel — owner-reported elapsed time. The owner’s estimate covers implementation and checks reaching accepted commit/push. Earlier kernel/domain development is excluded; the complete duration and cost of prior research and specification are not established. Presentation preparation followed implementation and was interrupted by tool limits. This is neither an independently timed benchmark nor a comparison against another stack, a model-call duration, an alarm-response measurement or total research-and-development time.</a:t>
            </a:r>
          </a:p>
          <a:p xmlns:a="http://schemas.openxmlformats.org/drawingml/2006/main">
            <a:r>
              <a:t/>
            </a:r>
          </a:p>
          <a:p xmlns:a="http://schemas.openxmlformats.org/drawingml/2006/main">
            <a:r>
              <a:t>S0–S5 and C01–C10 span controlled, live and later correction lanes. They are not a newly executed aggregate test suite. Earlier inconclusive C01 pairs remain history beside the later valid live pair. The real cloud provider’s provenance remains visible; a physical local SLM was not installed. A model-free local branch is distinct from cloud emulation of a local analyst role. The independent safe-derived pin covers only enumerated LS2R2 package fields, not this research insert, the whole history or physical truth. No domain, provider, sensor or D/E execution was performed for this update.</a:t>
            </a:r>
          </a:p>
          <a:p xmlns:a="http://schemas.openxmlformats.org/drawingml/2006/main">
            <a:r>
              <a:t/>
            </a:r>
          </a:p>
          <a:p xmlns:a="http://schemas.openxmlformats.org/drawingml/2006/main">
            <a:r>
              <a:t>Exact recorded source references:</a:t>
            </a:r>
          </a:p>
          <a:p xmlns:a="http://schemas.openxmlformats.org/drawingml/2006/main">
            <a:r>
              <a:t>RADIOLARIA_LANDSLIDE_SENTINEL_LS2_RETURN_20260915T005304Z.tar.gz :: runs/20260914T235815068481Z/c02_consumer/result.json :: SHA256 9ac4121207bbc6fc60b34ececb14de9a740cf570f7daf600212e68eb9d910f24</a:t>
            </a:r>
          </a:p>
          <a:p xmlns:a="http://schemas.openxmlformats.org/drawingml/2006/main">
            <a:r>
              <a:t>RADIOLARIA_LANDSLIDE_SENTINEL_LS2_RETURN_20260915T005304Z.tar.gz :: runs/20260915T001201754409Z/c02_consumer/result.json :: SHA256 08afc0072e81402d7aa8c7163bfdc8a1d3d477845a6c90c935e2cc1375102910</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runs/20260914T233501115920Z/r1/result.json :: SHA256 b6943a540a39214debc753b28215a37a24904465129b82f18d5953ed87ec2916</a:t>
            </a:r>
          </a:p>
          <a:p xmlns:a="http://schemas.openxmlformats.org/drawingml/2006/main">
            <a:r>
              <a:t>RADIOLARIA_LANDSLIDE_SENTINEL_LS2_RETURN_20260915T005304Z.tar.gz :: runs/20260914T233825758862Z/r1/result.json :: SHA256 c8690dec95642850bbe383a846d5617e577ce2fae512a435b04b342a843d79b3</a:t>
            </a:r>
          </a:p>
          <a:p xmlns:a="http://schemas.openxmlformats.org/drawingml/2006/main">
            <a:r>
              <a:t>RADIOLARIA_LANDSLIDE_SENTINEL_LS2_RETURN_20260915T005304Z.tar.gz :: runs/20260914T235214994572Z/r1/result.json :: SHA256 62b307916657f580254b4de991b8de7cc441cd660ae55405d8ce9d0d97919651</a:t>
            </a:r>
          </a:p>
          <a:p xmlns:a="http://schemas.openxmlformats.org/drawingml/2006/main">
            <a:r>
              <a:t>RADIOLARIA_LANDSLIDE_SENTINEL_LS2_RETURN_20260915T005304Z.tar.gz :: runs/20260914T235600945652Z/r1/result.json :: SHA256 51beb8f95b03803c921711aaf17b77b83faefe7cbaa4e93be24625eb31045cb1</a:t>
            </a:r>
          </a:p>
          <a:p xmlns:a="http://schemas.openxmlformats.org/drawingml/2006/main">
            <a:r>
              <a:t>RADIOLARIA_LANDSLIDE_SENTINEL_LS2_RETURN_20260915T005304Z.tar.gz :: runs/20260915T001201754409Z/r1/result.json :: SHA256 f4450a91d4f2f64c01b36b05c08701e8e2f0a549147e72dfe7352a19da6d7b12</a:t>
            </a:r>
          </a:p>
          <a:p xmlns:a="http://schemas.openxmlformats.org/drawingml/2006/main">
            <a:r>
              <a:t>RADIOLARIA_LANDSLIDE_SENTINEL_LS2_RETURN_20260915T005304Z.tar.gz :: runs/20260915T001421055364Z/story/clearance.json :: SHA256 a9488e6859e8ddfdaf9a33333e04252069806cbbb0047c80ee2e6e0c1703c5bd</a:t>
            </a:r>
          </a:p>
          <a:p xmlns:a="http://schemas.openxmlformats.org/drawingml/2006/main">
            <a:r>
              <a:t>RADIOLARIA_LANDSLIDE_SENTINEL_LS2_RETURN_20260915T005304Z.tar.gz :: held_out_execution_03/HO03-R1.json :: SHA256 81930e51c0a7e333a4bf88f689c4867881fb6b9916d22c91c0605e25ef419ef5</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Research attribution:</a:t>
            </a:r>
          </a:p>
          <a:p xmlns:a="http://schemas.openxmlformats.org/drawingml/2006/main">
            <a:r>
              <a:t>R04: Emilia Bertorelle; Mohammad Jeddi; Paolo Falcone; Laura Giarrè; Monica Ghirotti; Angelo Ballaera; Federica Ceccotto; Matteo Mantovani. A Rainfall-Driven Virtual Sensors Model to preserve Landslide Early-Warning Capabilities under Monitoring Systems Failures. CC BY 4.0 (open abstract) https://meetingorganizer.copernicus.org/EGU26/EGU26-10345.html</a:t>
            </a:r>
          </a:p>
          <a:p xmlns:a="http://schemas.openxmlformats.org/drawingml/2006/main">
            <a:r>
              <a:t>R07: Environment Agency. Rainfall. Open Government Licence; catalogue does not identify a version. OGL v3 linked as the standard terms reference. https://www.api.gov.uk/ea/rainfall/</a:t>
            </a:r>
          </a:p>
          <a:p xmlns:a="http://schemas.openxmlformats.org/drawingml/2006/main">
            <a:r>
              <a:t>R10: Alexandre Badoux; Christoph Graf; Jakob Rhyner; Richard Kuntner; Brian W. McArdell. A debris-flow alarm system for the Alpine Illgraben catchment: design and performance. Subscription article; no open reuse licence asserted. https://link.springer.com/article/10.1007/s11069-008-9303-x</a:t>
            </a:r>
          </a:p>
          <a:p xmlns:a="http://schemas.openxmlformats.org/drawingml/2006/main">
            <a:r>
              <a:t/>
            </a:r>
          </a:p>
          <a:p xmlns:a="http://schemas.openxmlformats.org/drawingml/2006/main">
            <a:r>
              <a:t>Supplementary slide text:</a:t>
            </a:r>
          </a:p>
          <a:p xmlns:a="http://schemas.openxmlformats.org/drawingml/2006/main">
            <a:r>
              <a:t>Monitoring failure → reserve or insufficiency.</a:t>
            </a:r>
          </a:p>
          <a:p xmlns:a="http://schemas.openxmlformats.org/drawingml/2006/main">
            <a:r>
              <a:t>Delayed telemetry → observation-time checks.</a:t>
            </a:r>
          </a:p>
          <a:p xmlns:a="http://schemas.openxmlformats.org/drawingml/2006/main">
            <a:r>
              <a:t>Multiple surges → measured recovery before OFF.</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235815068481Z/c02_consumer/result.json","bytes":261972,"sha256":"9ac4121207bbc6fc60b34ececb14de9a740cf570f7daf600212e68eb9d910f24"}</a:t>
            </a:r>
          </a:p>
          <a:p xmlns:a="http://schemas.openxmlformats.org/drawingml/2006/main">
            <a:r>
              <a:t>{"archive":"RADIOLARIA_LANDSLIDE_SENTINEL_LS2_RETURN_20260915T005304Z.tar.gz","archive_sha256":"c26ec2bad672071ba05ef597b5c64e5f00f8d5cc83da37f4d8c7b057ed526ef9","member":"runs/20260915T001201754409Z/c02_consumer/result.json","bytes":261972,"sha256":"08afc0072e81402d7aa8c7163bfdc8a1d3d477845a6c90c935e2cc1375102910"}</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233501115920Z/r1/result.json","bytes":109684,"sha256":"b6943a540a39214debc753b28215a37a24904465129b82f18d5953ed87ec2916"}</a:t>
            </a:r>
          </a:p>
          <a:p xmlns:a="http://schemas.openxmlformats.org/drawingml/2006/main">
            <a:r>
              <a:t>{"archive":"RADIOLARIA_LANDSLIDE_SENTINEL_LS2_RETURN_20260915T005304Z.tar.gz","archive_sha256":"c26ec2bad672071ba05ef597b5c64e5f00f8d5cc83da37f4d8c7b057ed526ef9","member":"runs/20260914T233825758862Z/r1/result.json","bytes":112258,"sha256":"c8690dec95642850bbe383a846d5617e577ce2fae512a435b04b342a843d79b3"}</a:t>
            </a:r>
          </a:p>
          <a:p xmlns:a="http://schemas.openxmlformats.org/drawingml/2006/main">
            <a:r>
              <a:t>{"archive":"RADIOLARIA_LANDSLIDE_SENTINEL_LS2_RETURN_20260915T005304Z.tar.gz","archive_sha256":"c26ec2bad672071ba05ef597b5c64e5f00f8d5cc83da37f4d8c7b057ed526ef9","member":"runs/20260914T235214994572Z/r1/result.json","bytes":112258,"sha256":"62b307916657f580254b4de991b8de7cc441cd660ae55405d8ce9d0d97919651"}</a:t>
            </a:r>
          </a:p>
          <a:p xmlns:a="http://schemas.openxmlformats.org/drawingml/2006/main">
            <a:r>
              <a:t>{"archive":"RADIOLARIA_LANDSLIDE_SENTINEL_LS2_RETURN_20260915T005304Z.tar.gz","archive_sha256":"c26ec2bad672071ba05ef597b5c64e5f00f8d5cc83da37f4d8c7b057ed526ef9","member":"runs/20260914T235600945652Z/r1/result.json","bytes":112258,"sha256":"51beb8f95b03803c921711aaf17b77b83faefe7cbaa4e93be24625eb31045cb1"}</a:t>
            </a:r>
          </a:p>
          <a:p xmlns:a="http://schemas.openxmlformats.org/drawingml/2006/main">
            <a:r>
              <a:t>{"archive":"RADIOLARIA_LANDSLIDE_SENTINEL_LS2_RETURN_20260915T005304Z.tar.gz","archive_sha256":"c26ec2bad672071ba05ef597b5c64e5f00f8d5cc83da37f4d8c7b057ed526ef9","member":"runs/20260915T001201754409Z/r1/result.json","bytes":112258,"sha256":"f4450a91d4f2f64c01b36b05c08701e8e2f0a549147e72dfe7352a19da6d7b12"}</a:t>
            </a:r>
          </a:p>
          <a:p xmlns:a="http://schemas.openxmlformats.org/drawingml/2006/main">
            <a:r>
              <a:t>{"archive":"RADIOLARIA_LANDSLIDE_SENTINEL_LS2_RETURN_20260915T005304Z.tar.gz","archive_sha256":"c26ec2bad672071ba05ef597b5c64e5f00f8d5cc83da37f4d8c7b057ed526ef9","member":"runs/20260915T001421055364Z/story/clearance.json","bytes":33735,"sha256":"a9488e6859e8ddfdaf9a33333e04252069806cbbb0047c80ee2e6e0c1703c5bd"}</a:t>
            </a:r>
          </a:p>
          <a:p xmlns:a="http://schemas.openxmlformats.org/drawingml/2006/main">
            <a:r>
              <a:t>{"archive":"RADIOLARIA_LANDSLIDE_SENTINEL_LS2_RETURN_20260915T005304Z.tar.gz","archive_sha256":"c26ec2bad672071ba05ef597b5c64e5f00f8d5cc83da37f4d8c7b057ed526ef9","member":"held_out_execution_03/HO03-R1.json","bytes":83668,"sha256":"81930e51c0a7e333a4bf88f689c4867881fb6b9916d22c91c0605e25ef419ef5"}</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C03, C02, C07, S5,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is not to have a chatbot announce a landslide. It is to keep a bounded local monitoring process coherent across changed evidence and optional dependencies. A synthetic slope supplies rainfall, displacement and an independent reserve channel. The site coordinates a finite catalogue of diagnostic operations and monitoring actions. It can ask an analyst which investigation would resolve the present uncertainty, but that response does not set thresholds, invoke an arbitrary sensor, modify the Host or authorize a signal. The chronological S0-S5 story exercises configuration, changed rainfall, roles, outage and signal, queued report delivery, measured recovery and local semantic memory. Separate latest live experiments establish real semantic producer-to-consumer relationships that the controlled whole story does not claim to demonstrate.</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
            </a:r>
          </a:p>
          <a:p xmlns:a="http://schemas.openxmlformats.org/drawingml/2006/main">
            <a:r>
              <a:t>Supplementary slide text:</a:t>
            </a:r>
          </a:p>
          <a:p xmlns:a="http://schemas.openxmlformats.org/drawingml/2006/main">
            <a:r>
              <a:t>Changes in rainfall alter the next monitoring interval.</a:t>
            </a:r>
          </a:p>
          <a:p xmlns:a="http://schemas.openxmlformats.org/drawingml/2006/main">
            <a:r>
              <a:t>Fresh local evidence can justify a bounded signal while optional reasoning is still pending.</a:t>
            </a:r>
          </a:p>
          <a:p xmlns:a="http://schemas.openxmlformats.org/drawingml/2006/main">
            <a:r>
              <a:t>Recovery requires new measurements and a separate OFF decision.</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
            </a:r>
          </a:p>
          <a:p xmlns:a="http://schemas.openxmlformats.org/drawingml/2006/main">
            <a:r>
              <a:t>Claim identifiers: S0, S1, S3, S5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separates a semantic role from the physical engine that supplies its contribution. A local algorithm, a future local SLM or a cloud model can fill a permitted role with truthful provenance. Sentinel uses common semantic-work DTOs and trust profiles to validate a contribution, common BSEP/router boundaries for current meaning, actual Work execution and independent Root review. Root is neither the Gemini response nor the deterministic diagnostic function. A Root acceptance of information does not automatically create permission. When an effect is needed, a separate current action packet, live Host state and admitted capability validation are required. The point is local responsibility with replaceable reasoning, not a claim that the demonstrated software is a certified landslide-warning system.</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RADIOLARIA_LANDSLIDE_SENTINEL_LS2R2_RETURN_20260915T061539Z.tar.gz :: live_01/profile_provenance.json :: SHA256 b0780bcf62bdefd686ab1463701aa6f518bff7cc4aaaa7d66cbecbde362359cf</a:t>
            </a:r>
          </a:p>
          <a:p xmlns:a="http://schemas.openxmlformats.org/drawingml/2006/main">
            <a:r>
              <a:t/>
            </a:r>
          </a:p>
          <a:p xmlns:a="http://schemas.openxmlformats.org/drawingml/2006/main">
            <a:r>
              <a:t>Supplementary slide text:</a:t>
            </a:r>
          </a:p>
          <a:p xmlns:a="http://schemas.openxmlformats.org/drawingml/2006/main">
            <a:r>
              <a:t>Reasoning proposes a finite investigation.</a:t>
            </a:r>
          </a:p>
          <a:p xmlns:a="http://schemas.openxmlformats.org/drawingml/2006/main">
            <a:r>
              <a:t>The runtime binds sources, requirements and actual work.</a:t>
            </a:r>
          </a:p>
          <a:p xmlns:a="http://schemas.openxmlformats.org/drawingml/2006/main">
            <a:r>
              <a:t>Root remains the sole final authority; Host and Firewall enforce effects.</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2_RETURN_20260915T061539Z.tar.gz","archive_sha256":"07942bbe01b826307ea93329ec3bb70a4d7687254be140eed32d644fcae368fc","member":"live_01/profile_provenance.json","bytes":3817,"sha256":"b0780bcf62bdefd686ab1463701aa6f518bff7cc4aaaa7d66cbecbde362359cf"}</a:t>
            </a:r>
          </a:p>
          <a:p xmlns:a="http://schemas.openxmlformats.org/drawingml/2006/main">
            <a:r>
              <a:t/>
            </a:r>
          </a:p>
          <a:p xmlns:a="http://schemas.openxmlformats.org/drawingml/2006/main">
            <a:r>
              <a:t>Claim identifiers: THREE_LIVE_ROLES, TWO_NODE_PROFILES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complete chronological story is CONTROLLED_SYNTHETIC: deterministic semantic fixtures and mock physical effects still pass real core machinery. The latest live lane contains five genuine Gemini requests, three roles in one C/D/Work/Root composition, a note-only semantic contrast and an internal-role emulation after site-network withdrawal. EA acquisition is a third lane: actual historical HTTP readings, including zeros, with interval and physical mapping limitations retained. These lanes support different claims and are not retroactively merged into a single all-live end-to-end run. The source-impact index bridges historical evidence to changed final bodies within named scope. Later landing tests and replay have separate receipts. A green label must never erase that distinction.</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RADIOLARIA_LANDSLIDE_SENTINEL_LS2R_RETURN_20260915T021418Z.tar.gz :: ea_capture_02/result.json :: SHA256 aeb5b1ddce8ed7fe3d23efc8afeb06a255574f614fd75807a9a498bea08049db</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_RETURN_20260915T021418Z.tar.gz","archive_sha256":"96a3e7fc1d959fd959433413681e6d91ed9b9799e31cb765db3bd00d6d24f45e","member":"ea_capture_02/result.json","bytes":8776,"sha256":"aeb5b1ddce8ed7fe3d23efc8afeb06a255574f614fd75807a9a498bea08049db"}</a:t>
            </a:r>
          </a:p>
          <a:p xmlns:a="http://schemas.openxmlformats.org/drawingml/2006/main">
            <a:r>
              <a:t/>
            </a:r>
          </a:p>
          <a:p xmlns:a="http://schemas.openxmlformats.org/drawingml/2006/main">
            <a:r>
              <a:t>Claim identifiers: S0, THREE_LIVE_ROLES, EA_ACQUISITION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SiteSafetyRoot and persistent Host own a session. The domain adapter provides finite admitted transformations and effect operations. The semantic catalogue contains reference integrity, independent reserve series, temporal context applicability, spatial context applicability and evidence gaps. The native command interface includes monitoring configuration, an admitted reserve read, signal actions and report handling. Capability availability is specific to a source or transport: site-cloud context and remote rainfall may disappear while the separately authorized harness transport remains available. No generic execute-code, arbitrary source URL, policy-writing model capability or public emergency endpoint is part of this demonstration. The topology here is a conceptual explanation of the source-bound cell, not an exact rendering of every native graph artifact.</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RADIOLARIA_LANDSLIDE_SENTINEL_LS2R2_RETURN_20260915T061539Z.tar.gz :: live_01/profile_provenance.json :: SHA256 b0780bcf62bdefd686ab1463701aa6f518bff7cc4aaaa7d66cbecbde362359cf</a:t>
            </a:r>
          </a:p>
          <a:p xmlns:a="http://schemas.openxmlformats.org/drawingml/2006/main">
            <a:r>
              <a:t/>
            </a:r>
          </a:p>
          <a:p xmlns:a="http://schemas.openxmlformats.org/drawingml/2006/main">
            <a:r>
              <a:t>Supplementary slide text:</a:t>
            </a:r>
          </a:p>
          <a:p xmlns:a="http://schemas.openxmlformats.org/drawingml/2006/main">
            <a:r>
              <a:t>Inputs: rainfall, displacement, reserve and declared metadata.</a:t>
            </a:r>
          </a:p>
          <a:p xmlns:a="http://schemas.openxmlformats.org/drawingml/2006/main">
            <a:r>
              <a:t>Reasoning: local, environmental and adversarial duties.</a:t>
            </a:r>
          </a:p>
          <a:p xmlns:a="http://schemas.openxmlformats.org/drawingml/2006/main">
            <a:r>
              <a:t>Outputs: monitoring configuration, bounded reads, mock signal and reports.</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2_RETURN_20260915T061539Z.tar.gz","archive_sha256":"07942bbe01b826307ea93329ec3bb70a4d7687254be140eed32d644fcae368fc","member":"live_01/profile_provenance.json","bytes":3817,"sha256":"b0780bcf62bdefd686ab1463701aa6f518bff7cc4aaaa7d66cbecbde362359cf"}</a:t>
            </a:r>
          </a:p>
          <a:p xmlns:a="http://schemas.openxmlformats.org/drawingml/2006/main">
            <a:r>
              <a:t/>
            </a:r>
          </a:p>
          <a:p xmlns:a="http://schemas.openxmlformats.org/drawingml/2006/main">
            <a:r>
              <a:t>Claim identifiers: THREE_LIVE_ROLES, TWO_NODE_PROFILES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retained LS1 and LS2 histories provide the chronological baseline. S0 applies an initial configuration, performs a new calm intake and consumes local semantic memory. S1 changes rainfall while a next configuration is prepared but not yet executed. The old pending action is invalidated; actual public D/E recomputation returns changed work, retained sibling evidence and consumed results. A new current review and dispatch apply the next cadence. S2 consumes three controlled role proposals with independent current Work and Root checks. Controlled role fixtures are deliberately separated from the latest actual Gemini demonstration. The historical story includes real kernel execution; its source-bound measured times are not a physical sampling SLA.</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
            </a:r>
          </a:p>
          <a:p xmlns:a="http://schemas.openxmlformats.org/drawingml/2006/main">
            <a:r>
              <a:t>Claim identifiers: S0, S1, S2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S3 starts an optional reasoning worker before new critical local evidence arrives. The local task completes ordinary Work, Root review and native mock ON before the pending response returns; duplicate execution is refused. S4 queues an immutable report through the local mock outbox and later records an exact receiver acknowledgement. S5 requires a measured low-value interval on both independent local channels and a distinct native OFF. The story closes with informational LocalDRS consumption. Late model text, a process cleanup, a return to network availability or a report acknowledgement cannot substitute for recovery evidence. These are related but distinct state transitions, each with its own identities and current boundary checks.</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
            </a:r>
          </a:p>
          <a:p xmlns:a="http://schemas.openxmlformats.org/drawingml/2006/main">
            <a:r>
              <a:t>Claim identifiers: S3, S4, S5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semantic_adapter_v01.context filters channels by intended duty. Local slope and adversarial duties receive displacement and reserve observations plus the maintenance note. The environmental duty receives rainfall and omits that local note. Source records include identity, time, unit, calibration and lineage as applicable. The supplied context states the synthetic origin and the channels not included. It supplies duty-specific investigation contracts: target, intended use, required evidence, bounded result classes and limits. The model is asked to select a useful investigation, not to choose an outcome. Provider requests are captured privately with exact context digests. This is a finite semantic boundary, not a claim that the LLM never sees domain measurements or that all context is cryptographically secret.</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RADIOLARIA_LANDSLIDE_SENTINEL_LS2R2_RETURN_20260915T061539Z.tar.gz :: live_01/live_AB.json :: SHA256 3080c1d6efb6295534daf8c5a94c8f1ea320cbb2157c29f46e83e7f5a07b7ab1</a:t>
            </a:r>
          </a:p>
          <a:p xmlns:a="http://schemas.openxmlformats.org/drawingml/2006/main">
            <a:r>
              <a:t/>
            </a:r>
          </a:p>
          <a:p xmlns:a="http://schemas.openxmlformats.org/drawingml/2006/main">
            <a:r>
              <a:t>Supplementary slide text:</a:t>
            </a:r>
          </a:p>
          <a:p xmlns:a="http://schemas.openxmlformats.org/drawingml/2006/main">
            <a:r>
              <a:t>Local and adversarial duties receive current local channels and the maintenance note.</a:t>
            </a:r>
          </a:p>
          <a:p xmlns:a="http://schemas.openxmlformats.org/drawingml/2006/main">
            <a:r>
              <a:t>The environmental duty receives rainfall context and its declared site/time support.</a:t>
            </a:r>
          </a:p>
          <a:p xmlns:a="http://schemas.openxmlformats.org/drawingml/2006/main">
            <a:r>
              <a:t>Each role receives a finite catalogue, current policy and capability snapshot.</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2_RETURN_20260915T061539Z.tar.gz","archive_sha256":"07942bbe01b826307ea93329ec3bb70a4d7687254be140eed32d644fcae368fc","member":"live_01/live_AB.json","bytes":31872,"sha256":"3080c1d6efb6295534daf8c5a94c8f1ea320cbb2157c29f46e83e7f5a07b7ab1"}</a:t>
            </a:r>
          </a:p>
          <a:p xmlns:a="http://schemas.openxmlformats.org/drawingml/2006/main">
            <a:r>
              <a:t/>
            </a:r>
          </a:p>
          <a:p xmlns:a="http://schemas.openxmlformats.org/drawingml/2006/main">
            <a:r>
              <a:t>Claim identifiers: THREE_LIVE_ROLES, LIVE_C01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allowed response has diagnostic, source_refs and reason. validate_response checks a closed dictionary shape, an allowed diagnostic for this duty, a nonempty unique set of references belonging to supplied sources, and a bounded nonempty reason. Gemini uses a structured response schema, but the local validator remains the actual consumer-side check. Source references are citations: they cannot suppress compulsory companion observations, trigger a new acquisition, select arbitrary endpoints, change cadence, edit policy or provide a permission token. The runtime creates ActorContributionV01 with actual contribution_mode CLOUD_LLM and actor_role provider_llm, checks it against the semantic request and default trust profiles, and builds a review packet. Intended local role and actual cloud origin remain separate fields.</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RADIOLARIA_LANDSLIDE_SENTINEL_LS2R2_RETURN_20260915T061539Z.tar.gz :: live_01/profile_provenance.json :: SHA256 b0780bcf62bdefd686ab1463701aa6f518bff7cc4aaaa7d66cbecbde362359cf</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2_RETURN_20260915T061539Z.tar.gz","archive_sha256":"07942bbe01b826307ea93329ec3bb70a4d7687254be140eed32d644fcae368fc","member":"live_01/profile_provenance.json","bytes":3817,"sha256":"b0780bcf62bdefd686ab1463701aa6f518bff7cc4aaaa7d66cbecbde362359cf"}</a:t>
            </a:r>
          </a:p>
          <a:p xmlns:a="http://schemas.openxmlformats.org/drawingml/2006/main">
            <a:r>
              <a:t/>
            </a:r>
          </a:p>
          <a:p xmlns:a="http://schemas.openxmlformats.org/drawingml/2006/main">
            <a:r>
              <a:t>Claim identifiers: THREE_LIVE_ROLES, TWO_NODE_PROFILES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kernel_adapter_v01.semantic_source validates the material, builds a business context and orchestrator route context, produces a bounded structured rationale, and constructs the common BoundedSemanticEvidencePacket. The BSEP observed facts include a compact selection/input_ref pair and the semantic request, bounded context and contribution identities with their roles. It carries missing-evidence, uncertainty, risk, required-guard and authority-boundary records. BSEP is explicitly neither truth nor an ActionCommitPacket nor FinalOutput. The full validated semantic material is also bound in the advisory SemanticArchitectProposal and actual Work input; a small BSEP does not mean the consumer discards the model contribution. Raw cross-role text is absent from BSEP, while private captures preserve source identity outside the public presentation.</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RADIOLARIA_LANDSLIDE_SENTINEL_LS2R2_RETURN_20260915T061539Z.tar.gz :: live_01/captured_reexecution.json :: SHA256 1b600d34c3e4b412a9bcc438c2a7fbda0801741f898c6f33f4b54f712530806d</a:t>
            </a:r>
          </a:p>
          <a:p xmlns:a="http://schemas.openxmlformats.org/drawingml/2006/main">
            <a:r>
              <a:t/>
            </a:r>
          </a:p>
          <a:p xmlns:a="http://schemas.openxmlformats.org/drawingml/2006/main">
            <a:r>
              <a:t>Supplementary slide text:</a:t>
            </a:r>
          </a:p>
          <a:p xmlns:a="http://schemas.openxmlformats.org/drawingml/2006/main">
            <a:r>
              <a:t>BSEP contains the selected investigation, an input identity and contribution references.</a:t>
            </a:r>
          </a:p>
          <a:p xmlns:a="http://schemas.openxmlformats.org/drawingml/2006/main">
            <a:r>
              <a:t>Raw user and cross-role text are not copied into BSEP.</a:t>
            </a:r>
          </a:p>
          <a:p xmlns:a="http://schemas.openxmlformats.org/drawingml/2006/main">
            <a:r>
              <a:t>Candidate-only evidence still needs C, Work and Root checks.</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2_RETURN_20260915T061539Z.tar.gz","archive_sha256":"07942bbe01b826307ea93329ec3bb70a4d7687254be140eed32d644fcae368fc","member":"live_01/captured_reexecution.json","bytes":411674,"sha256":"1b600d34c3e4b412a9bcc438c2a7fbda0801741f898c6f33f4b54f712530806d"}</a:t>
            </a:r>
          </a:p>
          <a:p xmlns:a="http://schemas.openxmlformats.org/drawingml/2006/main">
            <a:r>
              <a:t/>
            </a:r>
          </a:p>
          <a:p xmlns:a="http://schemas.openxmlformats.org/drawingml/2006/main">
            <a:r>
              <a:t>Claim identifiers: THREE_LIVE_ROLES, CAPTURED_REEXECUTION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source_family path creates a local routing snapshot and actual source context, calls route_execution_mode_v01, validates the proposal and independently reviews it at Root. It projects route eligibility and builds build_fractal_runtime_source_context_v02. The selected first live composition uses full_fractal with bounded work. local_slm remains unavailable because there is no installed local model. assemble creates a real Work candidate, a D review obligation, invokes run_fractal_runtime_v02, validates the returned binding, advances the Work program and validates actual results. The pure Work item does not make hidden provider calls: semantic production occurs earlier under its own transport accounting. This is actual common C/D execution, not a domain-specific simulation named after those stages.</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
            </a:r>
          </a:p>
          <a:p xmlns:a="http://schemas.openxmlformats.org/drawingml/2006/main">
            <a:r>
              <a:t>Claim identifiers: THREE_LIVE_ROLES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corrected operation has two Work phases. plan_roles builds pure PLAN material with no series read. A ReviewedWorkBasis binds live Host, program, results, artifact, current dependencies and Root review. execute_role_plan checks the entire batch and all current bindings before native acquisition. READ_RESERVE_SERIES then requires ordinary current action preparation, Root decision, Host installation and dispatch. Its resulting EvidenceReceipt is attached to the later RESULT material; the later Work result is again reviewed by Root. In the latest live trace the series branch has PLAN at phase 10, native read receipt at 15 and RESULT at 16; the offline-site emulation branch repeats the order at phases 18, 23 and 24. Those ordinal relationships are source evidence, not a drawn narrative substituting for execution.</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RADIOLARIA_LANDSLIDE_SENTINEL_LS2R2_RETURN_20260915T061539Z.tar.gz :: live_01/live_AB.json :: SHA256 3080c1d6efb6295534daf8c5a94c8f1ea320cbb2157c29f46e83e7f5a07b7ab1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2_RETURN_20260915T061539Z.tar.gz","archive_sha256":"07942bbe01b826307ea93329ec3bb70a4d7687254be140eed32d644fcae368fc","member":"live_01/live_AB.json","bytes":31872,"sha256":"3080c1d6efb6295534daf8c5a94c8f1ea320cbb2157c29f46e83e7f5a07b7ab1"}</a:t>
            </a:r>
          </a:p>
          <a:p xmlns:a="http://schemas.openxmlformats.org/drawingml/2006/main">
            <a:r>
              <a:t/>
            </a:r>
          </a:p>
          <a:p xmlns:a="http://schemas.openxmlformats.org/drawingml/2006/main">
            <a:r>
              <a:t>Claim identifiers: THREE_LIVE_ROLES, LIVE_C01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latest first three actual Gemini responses share one current composition. LOCAL_SLOPE_ANALYST selects REFERENCE_INTEGRITY and compares current metadata; CLOUD_ENVIRONMENTAL_ANALYST selects SPATIAL_CONTEXT_APPLICABILITY and checks declared site identity; ADVERSARIAL_SENSOR_REVIEWER also selects REFERENCE_INTEGRITY, independently contributing its review. There is no requirement that every role select a different enum. The evidence demonstrates contribution identities in the common BSEP, D source context, current PLAN and RESULT materials, outputs and independent Root acceptance. The environmental result supports synthetic site identity while retaining physical_applicability UNRESOLVED_NO_VERIFIED_MAPPING. Informational Root acceptance in this composition reports permission_created false and effect_requested false; it does not sound a siren.</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
            </a:r>
          </a:p>
          <a:p xmlns:a="http://schemas.openxmlformats.org/drawingml/2006/main">
            <a:r>
              <a:t>Claim identifiers: THREE_LIVE_ROLES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pair holds non-note context constant and changes only the maintenance note. Note A questions the health and current calibration association attached to the latest reserve record. Note B questions the range and measured duration of the reserve history. Both notes are selected after the implementation freeze and before the live calls. Their non-text envelope remains the same: source identity, site, observed_at 3710, received_at 3715 and version 2. The current observations, policy and operation catalogue are otherwise identical. The experiment therefore tests semantic choice of useful work, rather than a hardcoded numeric threshold or hidden change in source availability. The full note text and byte comparison are retained privately; the presentation paraphrases the bounded uncertainty.</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live_01/live_AB.json :: SHA256 3080c1d6efb6295534daf8c5a94c8f1ea320cbb2157c29f46e83e7f5a07b7ab1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live_01/live_AB.json","bytes":31872,"sha256":"3080c1d6efb6295534daf8c5a94c8f1ea320cbb2157c29f46e83e7f5a07b7ab1"}</a:t>
            </a:r>
          </a:p>
          <a:p xmlns:a="http://schemas.openxmlformats.org/drawingml/2006/main">
            <a:r>
              <a:t/>
            </a:r>
          </a:p>
          <a:p xmlns:a="http://schemas.openxmlformats.org/drawingml/2006/main">
            <a:r>
              <a:t>Claim identifiers: LIVE_C01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selects REFERENCE_INTEGRITY and performs record relationship checks over the current displacement/reserve records. It returns supported current calibration associations and distinct lineage identities, without a reserve history read. B selects INDEPENDENT_RESERVE_SERIES. After accepted PLAN and native acquisition, it measures three actual synthetic history samples: span 20 seconds, range 150 micrometres and ELIGIBLE source fitness. The performed_investigation comparator compares checked relationships, source/sample identities and computed measurements; changing a response reason, operation label or hash alone does not establish a contrast. In particular reference and evidence-gap operations performing the same checks count as the same substantive work. This result closes the declared live C01 contrast for this bounded pair.</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live_01/live_AB.json :: SHA256 3080c1d6efb6295534daf8c5a94c8f1ea320cbb2157c29f46e83e7f5a07b7ab1</a:t>
            </a:r>
          </a:p>
          <a:p xmlns:a="http://schemas.openxmlformats.org/drawingml/2006/main">
            <a:r>
              <a:t/>
            </a:r>
          </a:p>
          <a:p xmlns:a="http://schemas.openxmlformats.org/drawingml/2006/main">
            <a:r>
              <a:t>Chart values are exact acquired synthetic reserve observations: (3700,1600), (3710,1700), (3720,1750), in scenario seconds and micrometres. The chart depicts recorded mock-source history, not physical field readings.</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live_01/live_AB.json","bytes":31872,"sha256":"3080c1d6efb6295534daf8c5a94c8f1ea320cbb2157c29f46e83e7f5a07b7ab1"}</a:t>
            </a:r>
          </a:p>
          <a:p xmlns:a="http://schemas.openxmlformats.org/drawingml/2006/main">
            <a:r>
              <a:t/>
            </a:r>
          </a:p>
          <a:p xmlns:a="http://schemas.openxmlformats.org/drawingml/2006/main">
            <a:r>
              <a:t>Claim identifiers: LIVE_C01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sentinel.investigation.v02 contract names a target, intended use, checked relationship, required evidence and permissible result statuses: SUPPORTED, MISSING, INCOMPATIBLE and UNRESOLVED. This change addresses a real ambiguity. Earlier reserve-history work also checked source independence, so two differently worded questions reasonably selected the same operation. The updated contract distinguishes the purpose of an investigation from the guards needed before trusting its input. Similarly, absence of physical certification is no longer an unconditional evidence-gap answer for every role. It remains an explicit limit, while the actual findings depend on the declared question. The model still has multiple useful choices and can return evidence gaps; no valid response is retried merely to obtain a preferred enum.</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RADIOLARIA_LANDSLIDE_SENTINEL_LS2R2_RETURN_20260915T061539Z.tar.gz :: live_01/live_AB.json :: SHA256 3080c1d6efb6295534daf8c5a94c8f1ea320cbb2157c29f46e83e7f5a07b7ab1</a:t>
            </a:r>
          </a:p>
          <a:p xmlns:a="http://schemas.openxmlformats.org/drawingml/2006/main">
            <a:r>
              <a:t/>
            </a:r>
          </a:p>
          <a:p xmlns:a="http://schemas.openxmlformats.org/drawingml/2006/main">
            <a:r>
              <a:t>Supplementary slide text:</a:t>
            </a:r>
          </a:p>
          <a:p xmlns:a="http://schemas.openxmlformats.org/drawingml/2006/main">
            <a:r>
              <a:t>Reference integrity investigates current metadata relationships.</a:t>
            </a:r>
          </a:p>
          <a:p xmlns:a="http://schemas.openxmlformats.org/drawingml/2006/main">
            <a:r>
              <a:t>Reserve history investigates measured variation after source-fitness checks.</a:t>
            </a:r>
          </a:p>
          <a:p xmlns:a="http://schemas.openxmlformats.org/drawingml/2006/main">
            <a:r>
              <a:t>Evidence gaps compares supplied facts with the selected duty and intended use.</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archive":"RADIOLARIA_LANDSLIDE_SENTINEL_LS2R2_RETURN_20260915T061539Z.tar.gz","archive_sha256":"07942bbe01b826307ea93329ec3bb70a4d7687254be140eed32d644fcae368fc","member":"live_01/live_AB.json","bytes":31872,"sha256":"3080c1d6efb6295534daf8c5a94c8f1ea320cbb2157c29f46e83e7f5a07b7ab1"}</a:t>
            </a:r>
          </a:p>
          <a:p xmlns:a="http://schemas.openxmlformats.org/drawingml/2006/main">
            <a:r>
              <a:t/>
            </a:r>
          </a:p>
          <a:p xmlns:a="http://schemas.openxmlformats.org/drawingml/2006/main">
            <a:r>
              <a:t>Claim identifiers: LS2R2_SCOPE, LIVE_C01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prior A/B pairs remain NOT_DEMONSTRATED in the public claim map. Their valid answers are not reclassified as errors, discarded, or pooled selectively into a new success rate. LS2R additionally exposed a duty-scoping problem: the evidence-gap description and consumer made missing physical certification a permanent answer, drawing the environmental role away from applicability. LS2R2 changes the domain contracts and consumer checks, freezes the new implementation, then runs a new independent pair. Five actual Gemini attempts in that lane are validated; there are no valid-answer retries. The acceptance claim is the recorded finite contrast and causal consumption, not universal model behavior across arbitrary prompts or probabilistic reliability estimated from a single pair.</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live_04/live_AB.json :: SHA256 be1bb1e223fa533cdacd839e35d0b5da16babdb3711a223cbaf24129d9260585</a:t>
            </a:r>
          </a:p>
          <a:p xmlns:a="http://schemas.openxmlformats.org/drawingml/2006/main">
            <a:r>
              <a:t>RADIOLARIA_LANDSLIDE_SENTINEL_LS2_RETURN_20260915T005304Z.tar.gz :: live_04/composition_1.json :: SHA256 21b079f54cc231ab09196f7ff946da4d96cd236ebde590bc67d5d0019f42613a</a:t>
            </a:r>
          </a:p>
          <a:p xmlns:a="http://schemas.openxmlformats.org/drawingml/2006/main">
            <a:r>
              <a:t>RADIOLARIA_LANDSLIDE_SENTINEL_LS2_RETURN_20260915T005304Z.tar.gz :: live_04/composition_2.json :: SHA256 c7d9f5584d045220a5fee4bf606979466bb101f649ef57503c79aabdae026eb7</a:t>
            </a:r>
          </a:p>
          <a:p xmlns:a="http://schemas.openxmlformats.org/drawingml/2006/main">
            <a:r>
              <a:t>RADIOLARIA_LANDSLIDE_SENTINEL_LS2R_RETURN_20260915T021418Z.tar.gz :: live_02/live_AB.json :: SHA256 c419bc1be8d7698f1e0358582c6954590bc9a5cfafcf1fcde2396234948aaa05</a:t>
            </a:r>
          </a:p>
          <a:p xmlns:a="http://schemas.openxmlformats.org/drawingml/2006/main">
            <a:r>
              <a:t>RADIOLARIA_LANDSLIDE_SENTINEL_LS2R2_RETURN_20260915T061539Z.tar.gz :: live_01/live_AB.json :: SHA256 3080c1d6efb6295534daf8c5a94c8f1ea320cbb2157c29f46e83e7f5a07b7ab1</a:t>
            </a:r>
          </a:p>
          <a:p xmlns:a="http://schemas.openxmlformats.org/drawingml/2006/main">
            <a:r>
              <a:t/>
            </a:r>
          </a:p>
          <a:p xmlns:a="http://schemas.openxmlformats.org/drawingml/2006/main">
            <a:r>
              <a:t>Supplementary slide text:</a:t>
            </a:r>
          </a:p>
          <a:p xmlns:a="http://schemas.openxmlformats.org/drawingml/2006/main">
            <a:r>
              <a:t>LS2: both valid answers chose the same diagnostic.</a:t>
            </a:r>
          </a:p>
          <a:p xmlns:a="http://schemas.openxmlformats.org/drawingml/2006/main">
            <a:r>
              <a:t>LS2R: both chose reserve history for defensible overlapping reasons.</a:t>
            </a:r>
          </a:p>
          <a:p xmlns:a="http://schemas.openxmlformats.org/drawingml/2006/main">
            <a:r>
              <a:t>LS2R2: repaired investigation semantics, then a new frozen experiment.</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live_04/live_AB.json","bytes":21830,"sha256":"be1bb1e223fa533cdacd839e35d0b5da16babdb3711a223cbaf24129d9260585"}</a:t>
            </a:r>
          </a:p>
          <a:p xmlns:a="http://schemas.openxmlformats.org/drawingml/2006/main">
            <a:r>
              <a:t>{"archive":"RADIOLARIA_LANDSLIDE_SENTINEL_LS2_RETURN_20260915T005304Z.tar.gz","archive_sha256":"c26ec2bad672071ba05ef597b5c64e5f00f8d5cc83da37f4d8c7b057ed526ef9","member":"live_04/composition_1.json","bytes":96591,"sha256":"21b079f54cc231ab09196f7ff946da4d96cd236ebde590bc67d5d0019f42613a"}</a:t>
            </a:r>
          </a:p>
          <a:p xmlns:a="http://schemas.openxmlformats.org/drawingml/2006/main">
            <a:r>
              <a:t>{"archive":"RADIOLARIA_LANDSLIDE_SENTINEL_LS2_RETURN_20260915T005304Z.tar.gz","archive_sha256":"c26ec2bad672071ba05ef597b5c64e5f00f8d5cc83da37f4d8c7b057ed526ef9","member":"live_04/composition_2.json","bytes":95995,"sha256":"c7d9f5584d045220a5fee4bf606979466bb101f649ef57503c79aabdae026eb7"}</a:t>
            </a:r>
          </a:p>
          <a:p xmlns:a="http://schemas.openxmlformats.org/drawingml/2006/main">
            <a:r>
              <a:t>{"archive":"RADIOLARIA_LANDSLIDE_SENTINEL_LS2R_RETURN_20260915T021418Z.tar.gz","archive_sha256":"96a3e7fc1d959fd959433413681e6d91ed9b9799e31cb765db3bd00d6d24f45e","member":"live_02/live_AB.json","bytes":22144,"sha256":"c419bc1be8d7698f1e0358582c6954590bc9a5cfafcf1fcde2396234948aaa05"}</a:t>
            </a:r>
          </a:p>
          <a:p xmlns:a="http://schemas.openxmlformats.org/drawingml/2006/main">
            <a:r>
              <a:t>{"archive":"RADIOLARIA_LANDSLIDE_SENTINEL_LS2R2_RETURN_20260915T061539Z.tar.gz","archive_sha256":"07942bbe01b826307ea93329ec3bb70a4d7687254be140eed32d644fcae368fc","member":"live_01/live_AB.json","bytes":31872,"sha256":"3080c1d6efb6295534daf8c5a94c8f1ea320cbb2157c29f46e83e7f5a07b7ab1"}</a:t>
            </a:r>
          </a:p>
          <a:p xmlns:a="http://schemas.openxmlformats.org/drawingml/2006/main">
            <a:r>
              <a:t/>
            </a:r>
          </a:p>
          <a:p xmlns:a="http://schemas.openxmlformats.org/drawingml/2006/main">
            <a:r>
              <a:t>Claim identifiers: C01, PRIOR_INCONCLUSIVE_LS2R, LIVE_C01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chronological story prepares an unexecuted next monitoring configuration. A changed rainfall dependency invalidates that pending packet. The common E path captures the current source and invalidation, selectively recomputes affected D work, retains unchanged sibling evidence, and supplies the actual consumed result to current configuration Work. A fresh current Root decision and native APPLY_MONITORING_CONFIG dispatch then determine the next intake. The previous packet cannot execute again or return from CONSUMED. This proves a meaningful action basis for E before any alarm: configuring how the next local observation will occur. It does not merely generate an explanatory report or claim a new cadence in text.</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RADIOLARIA_LANDSLIDE_SENTINEL_LS2R_RETURN_20260915T021418Z.tar.gz :: configuration_01/actual_policy_E_result.json :: SHA256 279e7785a0f4eb0e9514a8684dc30d5328762f516999551c44e2cc5454a1ea11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archive":"RADIOLARIA_LANDSLIDE_SENTINEL_LS2R_RETURN_20260915T021418Z.tar.gz","archive_sha256":"96a3e7fc1d959fd959433413681e6d91ed9b9799e31cb765db3bd00d6d24f45e","member":"configuration_01/actual_policy_E_result.json","bytes":39331,"sha256":"279e7785a0f4eb0e9514a8684dc30d5328762f516999551c44e2cc5454a1ea11"}</a:t>
            </a:r>
          </a:p>
          <a:p xmlns:a="http://schemas.openxmlformats.org/drawingml/2006/main">
            <a:r>
              <a:t/>
            </a:r>
          </a:p>
          <a:p xmlns:a="http://schemas.openxmlformats.org/drawingml/2006/main">
            <a:r>
              <a:t>Claim identifiers: S1, CURRENT_POLICY_E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separate recorded current-policy experiment sets rain_fast_mm_x1000 to 50000, rather than the original 30000. Rainfall changes from 12000 to 41000 in fixed-point millimetres. Under the accepted threshold of 50000, the actual E result and configuration Work retain the 60-second cadence. The mock configuration is applied at scenario tick 90 with due_at and next_intake 150, and the recorded next intake occurs at 150. Under the old threshold, 41000 would select the fast 15-second interval. This is a discriminating current-policy check. The source contract, changed source artifact, recomputed result, retained consumption and final review are all retained. A policy change during an old continuation is refused with policy_change_requires_fresh_baseline; changing metadata cannot launder an obsolete D baseline.</a:t>
            </a:r>
          </a:p>
          <a:p xmlns:a="http://schemas.openxmlformats.org/drawingml/2006/main">
            <a:r>
              <a:t/>
            </a:r>
          </a:p>
          <a:p xmlns:a="http://schemas.openxmlformats.org/drawingml/2006/main">
            <a:r>
              <a:t>Evidence references:</a:t>
            </a:r>
          </a:p>
          <a:p xmlns:a="http://schemas.openxmlformats.org/drawingml/2006/main">
            <a:r>
              <a:t>RADIOLARIA_LANDSLIDE_SENTINEL_LS2R_RETURN_20260915T021418Z.tar.gz :: configuration_01/actual_policy_E_result.json :: SHA256 279e7785a0f4eb0e9514a8684dc30d5328762f516999551c44e2cc5454a1ea11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Configured at tick 90. Next intake at tick 150.</a:t>
            </a:r>
          </a:p>
          <a:p xmlns:a="http://schemas.openxmlformats.org/drawingml/2006/main">
            <a:r>
              <a:t/>
            </a:r>
          </a:p>
          <a:p xmlns:a="http://schemas.openxmlformats.org/drawingml/2006/main">
            <a:r>
              <a:t>Source records:</a:t>
            </a:r>
          </a:p>
          <a:p xmlns:a="http://schemas.openxmlformats.org/drawingml/2006/main">
            <a:r>
              <a:t>{"archive":"RADIOLARIA_LANDSLIDE_SENTINEL_LS2R_RETURN_20260915T021418Z.tar.gz","archive_sha256":"96a3e7fc1d959fd959433413681e6d91ed9b9799e31cb765db3bd00d6d24f45e","member":"configuration_01/actual_policy_E_result.json","bytes":39331,"sha256":"279e7785a0f4eb0e9514a8684dc30d5328762f516999551c44e2cc5454a1ea11"}</a:t>
            </a:r>
          </a:p>
          <a:p xmlns:a="http://schemas.openxmlformats.org/drawingml/2006/main">
            <a:r>
              <a:t/>
            </a:r>
          </a:p>
          <a:p xmlns:a="http://schemas.openxmlformats.org/drawingml/2006/main">
            <a:r>
              <a:t>Claim identifiers: CURRENT_POLICY_E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C06 uses a controlled pending provider, not an artificially delayed display of an already returned answer and not a paid timeout claim. The optional worker receives an immutable snapshot and is demonstrably started before the fresh critical observation. It holds no Host lock or effect authority. A fresh local invocation under the same Root and Host consumes current observations and a separately accounted finite budget. Work, Root and native mock ON complete before the worker is released. Offline-site and online-but-nonresponding branches are both retained. The late response keeps its old context identity and does not change the current result automatically. Completing or cancelling the optional request is not a precondition for local action.</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runs/20260914T233825758862Z/pending_False/result.json :: SHA256 0b0e241fb1584288e1b6c9372f6693a9786e47426a0fe5ee5a80d59b1b7f4c8e</a:t>
            </a:r>
          </a:p>
          <a:p xmlns:a="http://schemas.openxmlformats.org/drawingml/2006/main">
            <a:r>
              <a:t>RADIOLARIA_LANDSLIDE_SENTINEL_LS2_RETURN_20260915T005304Z.tar.gz :: runs/20260914T233825758862Z/pending_True/result.json :: SHA256 5f12d1bc76e70de7f9d5a72dcbf784dcf14d0104b61464fcc5dcecb4b051aacc</a:t>
            </a:r>
          </a:p>
          <a:p xmlns:a="http://schemas.openxmlformats.org/drawingml/2006/main">
            <a:r>
              <a:t>RADIOLARIA_LANDSLIDE_SENTINEL_LS2_RETURN_20260915T005304Z.tar.gz :: runs/20260914T235214994572Z/pending_False/result.json :: SHA256 32def85b08c3c09e77ea61dc65e8463596843bfa1e0e5219c928c7cb472b626f</a:t>
            </a:r>
          </a:p>
          <a:p xmlns:a="http://schemas.openxmlformats.org/drawingml/2006/main">
            <a:r>
              <a:t>RADIOLARIA_LANDSLIDE_SENTINEL_LS2_RETURN_20260915T005304Z.tar.gz :: runs/20260914T235214994572Z/pending_True/result.json :: SHA256 56287931a815bdbb4af873c0d1a81f25550a6c9c190e31f3105dd4c4a8022bd8</a:t>
            </a:r>
          </a:p>
          <a:p xmlns:a="http://schemas.openxmlformats.org/drawingml/2006/main">
            <a:r>
              <a:t>RADIOLARIA_LANDSLIDE_SENTINEL_LS2_RETURN_20260915T005304Z.tar.gz :: runs/20260915T001201754409Z/pending_False/result.json :: SHA256 c073881884bebde05c90e892857d56ebb8f8202f912ec2dc8cc4a06458260682</a:t>
            </a:r>
          </a:p>
          <a:p xmlns:a="http://schemas.openxmlformats.org/drawingml/2006/main">
            <a:r>
              <a:t>RADIOLARIA_LANDSLIDE_SENTINEL_LS2_RETURN_20260915T005304Z.tar.gz :: runs/20260915T001201754409Z/pending_True/result.json :: SHA256 68ad97906e57019a2afc9fdaee9589cff4d6a5255226dd176c708e41ef7e51b8</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233825758862Z/pending_False/result.json","bytes":102238,"sha256":"0b0e241fb1584288e1b6c9372f6693a9786e47426a0fe5ee5a80d59b1b7f4c8e"}</a:t>
            </a:r>
          </a:p>
          <a:p xmlns:a="http://schemas.openxmlformats.org/drawingml/2006/main">
            <a:r>
              <a:t>{"archive":"RADIOLARIA_LANDSLIDE_SENTINEL_LS2_RETURN_20260915T005304Z.tar.gz","archive_sha256":"c26ec2bad672071ba05ef597b5c64e5f00f8d5cc83da37f4d8c7b057ed526ef9","member":"runs/20260914T233825758862Z/pending_True/result.json","bytes":102238,"sha256":"5f12d1bc76e70de7f9d5a72dcbf784dcf14d0104b61464fcc5dcecb4b051aacc"}</a:t>
            </a:r>
          </a:p>
          <a:p xmlns:a="http://schemas.openxmlformats.org/drawingml/2006/main">
            <a:r>
              <a:t>{"archive":"RADIOLARIA_LANDSLIDE_SENTINEL_LS2_RETURN_20260915T005304Z.tar.gz","archive_sha256":"c26ec2bad672071ba05ef597b5c64e5f00f8d5cc83da37f4d8c7b057ed526ef9","member":"runs/20260914T235214994572Z/pending_False/result.json","bytes":102237,"sha256":"32def85b08c3c09e77ea61dc65e8463596843bfa1e0e5219c928c7cb472b626f"}</a:t>
            </a:r>
          </a:p>
          <a:p xmlns:a="http://schemas.openxmlformats.org/drawingml/2006/main">
            <a:r>
              <a:t>{"archive":"RADIOLARIA_LANDSLIDE_SENTINEL_LS2_RETURN_20260915T005304Z.tar.gz","archive_sha256":"c26ec2bad672071ba05ef597b5c64e5f00f8d5cc83da37f4d8c7b057ed526ef9","member":"runs/20260914T235214994572Z/pending_True/result.json","bytes":102237,"sha256":"56287931a815bdbb4af873c0d1a81f25550a6c9c190e31f3105dd4c4a8022bd8"}</a:t>
            </a:r>
          </a:p>
          <a:p xmlns:a="http://schemas.openxmlformats.org/drawingml/2006/main">
            <a:r>
              <a:t>{"archive":"RADIOLARIA_LANDSLIDE_SENTINEL_LS2_RETURN_20260915T005304Z.tar.gz","archive_sha256":"c26ec2bad672071ba05ef597b5c64e5f00f8d5cc83da37f4d8c7b057ed526ef9","member":"runs/20260915T001201754409Z/pending_False/result.json","bytes":102237,"sha256":"c073881884bebde05c90e892857d56ebb8f8202f912ec2dc8cc4a06458260682"}</a:t>
            </a:r>
          </a:p>
          <a:p xmlns:a="http://schemas.openxmlformats.org/drawingml/2006/main">
            <a:r>
              <a:t>{"archive":"RADIOLARIA_LANDSLIDE_SENTINEL_LS2_RETURN_20260915T005304Z.tar.gz","archive_sha256":"c26ec2bad672071ba05ef597b5c64e5f00f8d5cc83da37f4d8c7b057ed526ef9","member":"runs/20260915T001201754409Z/pending_True/result.json","bytes":102235,"sha256":"68ad97906e57019a2afc9fdaee9589cff4d6a5255226dd176c708e41ef7e51b8"}</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
            </a:r>
          </a:p>
          <a:p xmlns:a="http://schemas.openxmlformats.org/drawingml/2006/main">
            <a:r>
              <a:t>Claim identifiers: C06, 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Typed observations bind raw references and hashes, site, channel, unit, statistic, measured interval, receipt time, sequence, calibration and lineage. C02 distinguishes an old event arriving now from a current observation and handles a same-event correction through actual applicability Work and Root. C03 records LIMITED with a missing primary and INSUFFICIENT when the reserve is also absent, without fabricated ON. C04 covers chronology/projection, duplicate/reorder behavior and source independence. Additional C08 evidence admits synthetic channel-level and vibration inputs under the same site Root. These finite checks establish the demonstrated measurement contract, not real sensor calibration, independent physical hardware or an externally certified observability metric.</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runs/20260914T235815068481Z/c02_consumer/result.json :: SHA256 9ac4121207bbc6fc60b34ececb14de9a740cf570f7daf600212e68eb9d910f24</a:t>
            </a:r>
          </a:p>
          <a:p xmlns:a="http://schemas.openxmlformats.org/drawingml/2006/main">
            <a:r>
              <a:t>RADIOLARIA_LANDSLIDE_SENTINEL_LS2_RETURN_20260915T005304Z.tar.gz :: runs/20260915T001201754409Z/c02_consumer/result.json :: SHA256 08afc0072e81402d7aa8c7163bfdc8a1d3d477845a6c90c935e2cc1375102910</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runs/20260914T233334223062Z/projection/result.json :: SHA256 3dc50fb3b4fc76787dd2be350e5848fe9d4cff3ed117437265791e85a77615da</a:t>
            </a:r>
          </a:p>
          <a:p xmlns:a="http://schemas.openxmlformats.org/drawingml/2006/main">
            <a:r>
              <a:t>RADIOLARIA_LANDSLIDE_SENTINEL_LS2_RETURN_20260915T005304Z.tar.gz :: runs/20260914T233825758862Z/projection/result.json :: SHA256 3dc50fb3b4fc76787dd2be350e5848fe9d4cff3ed117437265791e85a77615da</a:t>
            </a:r>
          </a:p>
          <a:p xmlns:a="http://schemas.openxmlformats.org/drawingml/2006/main">
            <a:r>
              <a:t>RADIOLARIA_LANDSLIDE_SENTINEL_LS2_RETURN_20260915T005304Z.tar.gz :: runs/20260914T235214994572Z/projection/result.json :: SHA256 3dc50fb3b4fc76787dd2be350e5848fe9d4cff3ed117437265791e85a77615da</a:t>
            </a:r>
          </a:p>
          <a:p xmlns:a="http://schemas.openxmlformats.org/drawingml/2006/main">
            <a:r>
              <a:t>RADIOLARIA_LANDSLIDE_SENTINEL_LS2_RETURN_20260915T005304Z.tar.gz :: runs/20260915T001201754409Z/projection/result.json :: SHA256 3dc50fb3b4fc76787dd2be350e5848fe9d4cff3ed117437265791e85a77615da</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runs/20260914T233825758862Z/c08/result.json :: SHA256 75063388f06627e2bf17a9f0d6536bd6776e68e4e7145a5a1d57212a5365fa1d</a:t>
            </a:r>
          </a:p>
          <a:p xmlns:a="http://schemas.openxmlformats.org/drawingml/2006/main">
            <a:r>
              <a:t>RADIOLARIA_LANDSLIDE_SENTINEL_LS2_RETURN_20260915T005304Z.tar.gz :: runs/20260914T235214994572Z/c08/result.json :: SHA256 cb10ba795926a2cbc08ea4526617dd0dbe0930443309fcae291e4cfbfc165bdc</a:t>
            </a:r>
          </a:p>
          <a:p xmlns:a="http://schemas.openxmlformats.org/drawingml/2006/main">
            <a:r>
              <a:t>RADIOLARIA_LANDSLIDE_SENTINEL_LS2_RETURN_20260915T005304Z.tar.gz :: runs/20260915T001201754409Z/c08/result.json :: SHA256 265fdd18dd58016345721d1e9c6e8371c28df4836acbe0e62e6657996e0cbbb6</a:t>
            </a:r>
          </a:p>
          <a:p xmlns:a="http://schemas.openxmlformats.org/drawingml/2006/main">
            <a:r>
              <a:t/>
            </a:r>
          </a:p>
          <a:p xmlns:a="http://schemas.openxmlformats.org/drawingml/2006/main">
            <a:r>
              <a:t>Supplementary slide text:</a:t>
            </a:r>
          </a:p>
          <a:p xmlns:a="http://schemas.openxmlformats.org/drawingml/2006/main">
            <a:r>
              <a:t>Freshness uses measurement time; receipt time cannot renew an event.</a:t>
            </a:r>
          </a:p>
          <a:p xmlns:a="http://schemas.openxmlformats.org/drawingml/2006/main">
            <a:r>
              <a:t>Primary missing: LIMITED. Primary and reserve missing: INSUFFICIENT.</a:t>
            </a:r>
          </a:p>
          <a:p xmlns:a="http://schemas.openxmlformats.org/drawingml/2006/main">
            <a:r>
              <a:t>Independent lineage, order, units and explicit intervals are checked.</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235815068481Z/c02_consumer/result.json","bytes":261972,"sha256":"9ac4121207bbc6fc60b34ececb14de9a740cf570f7daf600212e68eb9d910f24"}</a:t>
            </a:r>
          </a:p>
          <a:p xmlns:a="http://schemas.openxmlformats.org/drawingml/2006/main">
            <a:r>
              <a:t>{"archive":"RADIOLARIA_LANDSLIDE_SENTINEL_LS2_RETURN_20260915T005304Z.tar.gz","archive_sha256":"c26ec2bad672071ba05ef597b5c64e5f00f8d5cc83da37f4d8c7b057ed526ef9","member":"runs/20260915T001201754409Z/c02_consumer/result.json","bytes":261972,"sha256":"08afc0072e81402d7aa8c7163bfdc8a1d3d477845a6c90c935e2cc1375102910"}</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233334223062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20260914T233825758862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20260914T235214994572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20260915T001201754409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233825758862Z/c08/result.json","bytes":50380,"sha256":"75063388f06627e2bf17a9f0d6536bd6776e68e4e7145a5a1d57212a5365fa1d"}</a:t>
            </a:r>
          </a:p>
          <a:p xmlns:a="http://schemas.openxmlformats.org/drawingml/2006/main">
            <a:r>
              <a:t>{"archive":"RADIOLARIA_LANDSLIDE_SENTINEL_LS2_RETURN_20260915T005304Z.tar.gz","archive_sha256":"c26ec2bad672071ba05ef597b5c64e5f00f8d5cc83da37f4d8c7b057ed526ef9","member":"runs/20260914T235214994572Z/c08/result.json","bytes":50380,"sha256":"cb10ba795926a2cbc08ea4526617dd0dbe0930443309fcae291e4cfbfc165bdc"}</a:t>
            </a:r>
          </a:p>
          <a:p xmlns:a="http://schemas.openxmlformats.org/drawingml/2006/main">
            <a:r>
              <a:t>{"archive":"RADIOLARIA_LANDSLIDE_SENTINEL_LS2_RETURN_20260915T005304Z.tar.gz","archive_sha256":"c26ec2bad672071ba05ef597b5c64e5f00f8d5cc83da37f4d8c7b057ed526ef9","member":"runs/20260915T001201754409Z/c08/result.json","bytes":50380,"sha256":"265fdd18dd58016345721d1e9c6e8371c28df4836acbe0e62e6657996e0cbbb6"}</a:t>
            </a:r>
          </a:p>
          <a:p xmlns:a="http://schemas.openxmlformats.org/drawingml/2006/main">
            <a:r>
              <a:t/>
            </a:r>
          </a:p>
          <a:p xmlns:a="http://schemas.openxmlformats.org/drawingml/2006/main">
            <a:r>
              <a:t>Claim identifiers: C02, C03, C04, C08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finite synthetic incident policy requires both displacement and reserve below or equal to 1000 micrometres, at least three new independent pairs, measured coverage of at least 30 seconds on each channel and no gap above 15 seconds. Current policy controls admissible local age. In LS2R2, a policy allowing age two seconds actually rejects five-second-old data; fresh witnesses can then establish valid recovery. Tests cover boundary values two, ten and twelve. Witnesses from changed calibration, lineage, units, statistic or relevant policy cannot be combined with earlier coverage: old witness history is retained as revoked evidence. Receipt timing and repeated old IDs cannot create a recovery interval. Even clearance remains a candidate condition until an independent current Root decision and native OFF complete.</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runs/20260914T233501115920Z/r1/result.json :: SHA256 b6943a540a39214debc753b28215a37a24904465129b82f18d5953ed87ec2916</a:t>
            </a:r>
          </a:p>
          <a:p xmlns:a="http://schemas.openxmlformats.org/drawingml/2006/main">
            <a:r>
              <a:t>RADIOLARIA_LANDSLIDE_SENTINEL_LS2_RETURN_20260915T005304Z.tar.gz :: runs/20260914T233825758862Z/r1/result.json :: SHA256 c8690dec95642850bbe383a846d5617e577ce2fae512a435b04b342a843d79b3</a:t>
            </a:r>
          </a:p>
          <a:p xmlns:a="http://schemas.openxmlformats.org/drawingml/2006/main">
            <a:r>
              <a:t>RADIOLARIA_LANDSLIDE_SENTINEL_LS2_RETURN_20260915T005304Z.tar.gz :: runs/20260914T235214994572Z/r1/result.json :: SHA256 62b307916657f580254b4de991b8de7cc441cd660ae55405d8ce9d0d97919651</a:t>
            </a:r>
          </a:p>
          <a:p xmlns:a="http://schemas.openxmlformats.org/drawingml/2006/main">
            <a:r>
              <a:t>RADIOLARIA_LANDSLIDE_SENTINEL_LS2_RETURN_20260915T005304Z.tar.gz :: runs/20260914T235600945652Z/r1/result.json :: SHA256 51beb8f95b03803c921711aaf17b77b83faefe7cbaa4e93be24625eb31045cb1</a:t>
            </a:r>
          </a:p>
          <a:p xmlns:a="http://schemas.openxmlformats.org/drawingml/2006/main">
            <a:r>
              <a:t>RADIOLARIA_LANDSLIDE_SENTINEL_LS2_RETURN_20260915T005304Z.tar.gz :: runs/20260915T001201754409Z/r1/result.json :: SHA256 f4450a91d4f2f64c01b36b05c08701e8e2f0a549147e72dfe7352a19da6d7b12</a:t>
            </a:r>
          </a:p>
          <a:p xmlns:a="http://schemas.openxmlformats.org/drawingml/2006/main">
            <a:r>
              <a:t>RADIOLARIA_LANDSLIDE_SENTINEL_LS2_RETURN_20260915T005304Z.tar.gz :: runs/20260915T001421055364Z/story/clearance.json :: SHA256 a9488e6859e8ddfdaf9a33333e04252069806cbbb0047c80ee2e6e0c1703c5bd</a:t>
            </a:r>
          </a:p>
          <a:p xmlns:a="http://schemas.openxmlformats.org/drawingml/2006/main">
            <a:r>
              <a:t>RADIOLARIA_LANDSLIDE_SENTINEL_LS2_RETURN_20260915T005304Z.tar.gz :: held_out_execution_03/HO03-R1.json :: SHA256 81930e51c0a7e333a4bf88f689c4867881fb6b9916d22c91c0605e25ef419ef5</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Maximum gap: 15 s. Local age: current accepted policy.</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233501115920Z/r1/result.json","bytes":109684,"sha256":"b6943a540a39214debc753b28215a37a24904465129b82f18d5953ed87ec2916"}</a:t>
            </a:r>
          </a:p>
          <a:p xmlns:a="http://schemas.openxmlformats.org/drawingml/2006/main">
            <a:r>
              <a:t>{"archive":"RADIOLARIA_LANDSLIDE_SENTINEL_LS2_RETURN_20260915T005304Z.tar.gz","archive_sha256":"c26ec2bad672071ba05ef597b5c64e5f00f8d5cc83da37f4d8c7b057ed526ef9","member":"runs/20260914T233825758862Z/r1/result.json","bytes":112258,"sha256":"c8690dec95642850bbe383a846d5617e577ce2fae512a435b04b342a843d79b3"}</a:t>
            </a:r>
          </a:p>
          <a:p xmlns:a="http://schemas.openxmlformats.org/drawingml/2006/main">
            <a:r>
              <a:t>{"archive":"RADIOLARIA_LANDSLIDE_SENTINEL_LS2_RETURN_20260915T005304Z.tar.gz","archive_sha256":"c26ec2bad672071ba05ef597b5c64e5f00f8d5cc83da37f4d8c7b057ed526ef9","member":"runs/20260914T235214994572Z/r1/result.json","bytes":112258,"sha256":"62b307916657f580254b4de991b8de7cc441cd660ae55405d8ce9d0d97919651"}</a:t>
            </a:r>
          </a:p>
          <a:p xmlns:a="http://schemas.openxmlformats.org/drawingml/2006/main">
            <a:r>
              <a:t>{"archive":"RADIOLARIA_LANDSLIDE_SENTINEL_LS2_RETURN_20260915T005304Z.tar.gz","archive_sha256":"c26ec2bad672071ba05ef597b5c64e5f00f8d5cc83da37f4d8c7b057ed526ef9","member":"runs/20260914T235600945652Z/r1/result.json","bytes":112258,"sha256":"51beb8f95b03803c921711aaf17b77b83faefe7cbaa4e93be24625eb31045cb1"}</a:t>
            </a:r>
          </a:p>
          <a:p xmlns:a="http://schemas.openxmlformats.org/drawingml/2006/main">
            <a:r>
              <a:t>{"archive":"RADIOLARIA_LANDSLIDE_SENTINEL_LS2_RETURN_20260915T005304Z.tar.gz","archive_sha256":"c26ec2bad672071ba05ef597b5c64e5f00f8d5cc83da37f4d8c7b057ed526ef9","member":"runs/20260915T001201754409Z/r1/result.json","bytes":112258,"sha256":"f4450a91d4f2f64c01b36b05c08701e8e2f0a549147e72dfe7352a19da6d7b12"}</a:t>
            </a:r>
          </a:p>
          <a:p xmlns:a="http://schemas.openxmlformats.org/drawingml/2006/main">
            <a:r>
              <a:t>{"archive":"RADIOLARIA_LANDSLIDE_SENTINEL_LS2_RETURN_20260915T005304Z.tar.gz","archive_sha256":"c26ec2bad672071ba05ef597b5c64e5f00f8d5cc83da37f4d8c7b057ed526ef9","member":"runs/20260915T001421055364Z/story/clearance.json","bytes":33735,"sha256":"a9488e6859e8ddfdaf9a33333e04252069806cbbb0047c80ee2e6e0c1703c5bd"}</a:t>
            </a:r>
          </a:p>
          <a:p xmlns:a="http://schemas.openxmlformats.org/drawingml/2006/main">
            <a:r>
              <a:t>{"archive":"RADIOLARIA_LANDSLIDE_SENTINEL_LS2_RETURN_20260915T005304Z.tar.gz","archive_sha256":"c26ec2bad672071ba05ef597b5c64e5f00f8d5cc83da37f4d8c7b057ed526ef9","member":"held_out_execution_03/HO03-R1.json","bytes":83668,"sha256":"81930e51c0a7e333a4bf88f689c4867881fb6b9916d22c91c0605e25ef419ef5"}</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C07,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mock outbox creates an immutable report payload, message identity and payload digest. Delivery attempts preserve those exact bytes, and the receiver acknowledgement must match the same identity and hash. The retained story records QUEUED, ATTEMPTED and RECEIVED. Negative controls cover a missing acknowledgement, changed payload, receipt misuse and expired action packets. A receipt is evidence of a prior bounded action; it is not authority to send again. This demonstrates a local source-bound report protocol and exact acknowledgement semantics. It does not claim distributed exactly-once delivery over arbitrary networks or that a public emergency authority received an alert. Network recovery does not clear the incident; recovery/OFF is a separate local path.</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runs/20260914T233825758862Z/pending_False/result.json :: SHA256 0b0e241fb1584288e1b6c9372f6693a9786e47426a0fe5ee5a80d59b1b7f4c8e</a:t>
            </a:r>
          </a:p>
          <a:p xmlns:a="http://schemas.openxmlformats.org/drawingml/2006/main">
            <a:r>
              <a:t>RADIOLARIA_LANDSLIDE_SENTINEL_LS2_RETURN_20260915T005304Z.tar.gz :: runs/20260914T233825758862Z/pending_True/result.json :: SHA256 5f12d1bc76e70de7f9d5a72dcbf784dcf14d0104b61464fcc5dcecb4b051aacc</a:t>
            </a:r>
          </a:p>
          <a:p xmlns:a="http://schemas.openxmlformats.org/drawingml/2006/main">
            <a:r>
              <a:t>RADIOLARIA_LANDSLIDE_SENTINEL_LS2_RETURN_20260915T005304Z.tar.gz :: runs/20260914T235214994572Z/pending_False/result.json :: SHA256 32def85b08c3c09e77ea61dc65e8463596843bfa1e0e5219c928c7cb472b626f</a:t>
            </a:r>
          </a:p>
          <a:p xmlns:a="http://schemas.openxmlformats.org/drawingml/2006/main">
            <a:r>
              <a:t>RADIOLARIA_LANDSLIDE_SENTINEL_LS2_RETURN_20260915T005304Z.tar.gz :: runs/20260914T235214994572Z/pending_True/result.json :: SHA256 56287931a815bdbb4af873c0d1a81f25550a6c9c190e31f3105dd4c4a8022bd8</a:t>
            </a:r>
          </a:p>
          <a:p xmlns:a="http://schemas.openxmlformats.org/drawingml/2006/main">
            <a:r>
              <a:t>RADIOLARIA_LANDSLIDE_SENTINEL_LS2_RETURN_20260915T005304Z.tar.gz :: runs/20260915T001201754409Z/pending_False/result.json :: SHA256 c073881884bebde05c90e892857d56ebb8f8202f912ec2dc8cc4a06458260682</a:t>
            </a:r>
          </a:p>
          <a:p xmlns:a="http://schemas.openxmlformats.org/drawingml/2006/main">
            <a:r>
              <a:t>RADIOLARIA_LANDSLIDE_SENTINEL_LS2_RETURN_20260915T005304Z.tar.gz :: runs/20260915T001201754409Z/pending_True/result.json :: SHA256 68ad97906e57019a2afc9fdaee9589cff4d6a5255226dd176c708e41ef7e51b8</a:t>
            </a:r>
          </a:p>
          <a:p xmlns:a="http://schemas.openxmlformats.org/drawingml/2006/main">
            <a:r>
              <a:t>RADIOLARIA_LANDSLIDE_SENTINEL_LS2_RETURN_20260915T005304Z.tar.gz :: runs/20260915T000651618300Z/expired/result.json :: SHA256 77176757e4dcf05f7d7ddd1eeae50874d618fecc4de509222b9eeea2a4ba8ef6</a:t>
            </a:r>
          </a:p>
          <a:p xmlns:a="http://schemas.openxmlformats.org/drawingml/2006/main">
            <a:r>
              <a:t>RADIOLARIA_LANDSLIDE_SENTINEL_LS2_RETURN_20260915T005304Z.tar.gz :: runs/20260915T001201754409Z/expired/result.json :: SHA256 025a6146aa3ddde4a128c970be4da470590a707037c6d5357cd40ca064b1229a</a:t>
            </a:r>
          </a:p>
          <a:p xmlns:a="http://schemas.openxmlformats.org/drawingml/2006/main">
            <a:r>
              <a:t>RADIOLARIA_LANDSLIDE_SENTINEL_LS2_RETURN_20260915T005304Z.tar.gz :: runs/20260915T001421055364Z/story/effects.json :: SHA256 d9ceab125538b2605175ed7cb736505ce2e611e49fc50d84b0c458cb82885387</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RADIOLARIA_LANDSLIDE_SENTINEL_LS1_RETURN_20260914T230203Z.tar.gz :: runs/20260914T225201759395Z/story/story.json :: SHA256 1711e4c9f80a16001ea8ac588cec92274e3a9f5a057522602938d0195a3fa1ca</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233825758862Z/pending_False/result.json","bytes":102238,"sha256":"0b0e241fb1584288e1b6c9372f6693a9786e47426a0fe5ee5a80d59b1b7f4c8e"}</a:t>
            </a:r>
          </a:p>
          <a:p xmlns:a="http://schemas.openxmlformats.org/drawingml/2006/main">
            <a:r>
              <a:t>{"archive":"RADIOLARIA_LANDSLIDE_SENTINEL_LS2_RETURN_20260915T005304Z.tar.gz","archive_sha256":"c26ec2bad672071ba05ef597b5c64e5f00f8d5cc83da37f4d8c7b057ed526ef9","member":"runs/20260914T233825758862Z/pending_True/result.json","bytes":102238,"sha256":"5f12d1bc76e70de7f9d5a72dcbf784dcf14d0104b61464fcc5dcecb4b051aacc"}</a:t>
            </a:r>
          </a:p>
          <a:p xmlns:a="http://schemas.openxmlformats.org/drawingml/2006/main">
            <a:r>
              <a:t>{"archive":"RADIOLARIA_LANDSLIDE_SENTINEL_LS2_RETURN_20260915T005304Z.tar.gz","archive_sha256":"c26ec2bad672071ba05ef597b5c64e5f00f8d5cc83da37f4d8c7b057ed526ef9","member":"runs/20260914T235214994572Z/pending_False/result.json","bytes":102237,"sha256":"32def85b08c3c09e77ea61dc65e8463596843bfa1e0e5219c928c7cb472b626f"}</a:t>
            </a:r>
          </a:p>
          <a:p xmlns:a="http://schemas.openxmlformats.org/drawingml/2006/main">
            <a:r>
              <a:t>{"archive":"RADIOLARIA_LANDSLIDE_SENTINEL_LS2_RETURN_20260915T005304Z.tar.gz","archive_sha256":"c26ec2bad672071ba05ef597b5c64e5f00f8d5cc83da37f4d8c7b057ed526ef9","member":"runs/20260914T235214994572Z/pending_True/result.json","bytes":102237,"sha256":"56287931a815bdbb4af873c0d1a81f25550a6c9c190e31f3105dd4c4a8022bd8"}</a:t>
            </a:r>
          </a:p>
          <a:p xmlns:a="http://schemas.openxmlformats.org/drawingml/2006/main">
            <a:r>
              <a:t>{"archive":"RADIOLARIA_LANDSLIDE_SENTINEL_LS2_RETURN_20260915T005304Z.tar.gz","archive_sha256":"c26ec2bad672071ba05ef597b5c64e5f00f8d5cc83da37f4d8c7b057ed526ef9","member":"runs/20260915T001201754409Z/pending_False/result.json","bytes":102237,"sha256":"c073881884bebde05c90e892857d56ebb8f8202f912ec2dc8cc4a06458260682"}</a:t>
            </a:r>
          </a:p>
          <a:p xmlns:a="http://schemas.openxmlformats.org/drawingml/2006/main">
            <a:r>
              <a:t>{"archive":"RADIOLARIA_LANDSLIDE_SENTINEL_LS2_RETURN_20260915T005304Z.tar.gz","archive_sha256":"c26ec2bad672071ba05ef597b5c64e5f00f8d5cc83da37f4d8c7b057ed526ef9","member":"runs/20260915T001201754409Z/pending_True/result.json","bytes":102235,"sha256":"68ad97906e57019a2afc9fdaee9589cff4d6a5255226dd176c708e41ef7e51b8"}</a:t>
            </a:r>
          </a:p>
          <a:p xmlns:a="http://schemas.openxmlformats.org/drawingml/2006/main">
            <a:r>
              <a:t>{"archive":"RADIOLARIA_LANDSLIDE_SENTINEL_LS2_RETURN_20260915T005304Z.tar.gz","archive_sha256":"c26ec2bad672071ba05ef597b5c64e5f00f8d5cc83da37f4d8c7b057ed526ef9","member":"runs/20260915T000651618300Z/expired/result.json","bytes":264,"sha256":"77176757e4dcf05f7d7ddd1eeae50874d618fecc4de509222b9eeea2a4ba8ef6"}</a:t>
            </a:r>
          </a:p>
          <a:p xmlns:a="http://schemas.openxmlformats.org/drawingml/2006/main">
            <a:r>
              <a:t>{"archive":"RADIOLARIA_LANDSLIDE_SENTINEL_LS2_RETURN_20260915T005304Z.tar.gz","archive_sha256":"c26ec2bad672071ba05ef597b5c64e5f00f8d5cc83da37f4d8c7b057ed526ef9","member":"runs/20260915T001201754409Z/expired/result.json","bytes":264,"sha256":"025a6146aa3ddde4a128c970be4da470590a707037c6d5357cd40ca064b1229a"}</a:t>
            </a:r>
          </a:p>
          <a:p xmlns:a="http://schemas.openxmlformats.org/drawingml/2006/main">
            <a:r>
              <a:t>{"archive":"RADIOLARIA_LANDSLIDE_SENTINEL_LS2_RETURN_20260915T005304Z.tar.gz","archive_sha256":"c26ec2bad672071ba05ef597b5c64e5f00f8d5cc83da37f4d8c7b057ed526ef9","member":"runs/20260915T001421055364Z/story/effects.json","bytes":168878,"sha256":"d9ceab125538b2605175ed7cb736505ce2e611e49fc50d84b0c458cb82885387"}</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1_RETURN_20260914T230203Z.tar.gz","archive_sha256":"eacb5329b5e5d0919b30cedb46affdc19cdd386c80cca61747362fd86596d663","member":"runs/20260914T225201759395Z/story/story.json","bytes":19813,"sha256":"1711e4c9f80a16001ea8ac588cec92274e3a9f5a057522602938d0195a3fa1ca"}</a:t>
            </a:r>
          </a:p>
          <a:p xmlns:a="http://schemas.openxmlformats.org/drawingml/2006/main">
            <a:r>
              <a:t/>
            </a:r>
          </a:p>
          <a:p xmlns:a="http://schemas.openxmlformats.org/drawingml/2006/main">
            <a:r>
              <a:t>Claim identifiers: C09, S4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low-cost architectural profile performs deterministic local algorithms and local semantic-memory descent with no model transport. The richer architectural profile includes an internal analyst intended for a local SLM, such as a model-capable compact edge computer. No such physical local SLM is installed or benchmarked in this demonstration. Actual Gemini cloud transport emulates that role through an independently authorized harness. After site-cloud and remote-rainfall withdrawal, the fifth real model call still serves only the internal local duty; it remains CLOUD_LLM/provider_llm with physical_local_slm unavailable. When harness transport also becomes unavailable, the role cannot be relabelled as functioning local hardware. Hardware price, memory fit, model parameter count and power usage are deployment possibilities, not measured results here.</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live_01/profile_provenance.json :: SHA256 b0780bcf62bdefd686ab1463701aa6f518bff7cc4aaaa7d66cbecbde362359cf</a:t>
            </a:r>
          </a:p>
          <a:p xmlns:a="http://schemas.openxmlformats.org/drawingml/2006/main">
            <a:r>
              <a:t>RADIOLARIA_LANDSLIDE_SENTINEL_LS2R2_RETURN_20260915T061539Z.tar.gz :: live_01/local_only_drs.json :: SHA256 06a16b7b774cd39ac42594e7f5c42353e5b43abddbe511b9f2e5bdc0be22ebc3</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live_01/profile_provenance.json","bytes":3817,"sha256":"b0780bcf62bdefd686ab1463701aa6f518bff7cc4aaaa7d66cbecbde362359cf"}</a:t>
            </a:r>
          </a:p>
          <a:p xmlns:a="http://schemas.openxmlformats.org/drawingml/2006/main">
            <a:r>
              <a:t>{"archive":"RADIOLARIA_LANDSLIDE_SENTINEL_LS2R2_RETURN_20260915T061539Z.tar.gz","archive_sha256":"07942bbe01b826307ea93329ec3bb70a4d7687254be140eed32d644fcae368fc","member":"live_01/local_only_drs.json","bytes":29652,"sha256":"06a16b7b774cd39ac42594e7f5c42353e5b43abddbe511b9f2e5bdc0be22ebc3"}</a:t>
            </a:r>
          </a:p>
          <a:p xmlns:a="http://schemas.openxmlformats.org/drawingml/2006/main">
            <a:r>
              <a:t/>
            </a:r>
          </a:p>
          <a:p xmlns:a="http://schemas.openxmlformats.org/drawingml/2006/main">
            <a:r>
              <a:t>Claim identifiers: TWO_NODE_PROFILES, FRESH_LOCAL_ONLY_DRS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uses actual LocalDRS semantic records, queries, resolution and descent. A semantic recipe or incident summary can be written after appropriate local review. Warm selection evaluates current query scope, root identity, dependency fingerprint and time, and requires fresh Root review before informational descent. Policy or calibration changes make stale content ineligible; old data remains history instead of becoming the current plan. The latest fresh LOCAL_ALGORITHMS_ONLY continuation records one search, one descent, two local Work operations and zero model transports, with a fresh local intake. This is different from CAPTURED_REEXECUTION, which explicitly consumes a saved semantic response through current consumers and retains original provenance. Neither operation is an executable permission cache.</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runs/20260914T233952354313Z/memory/result.json :: SHA256 c0406804bd5635b255ac5a942848c00ca257a3e1f831cb57f6f7ce6f79843ac3</a:t>
            </a:r>
          </a:p>
          <a:p xmlns:a="http://schemas.openxmlformats.org/drawingml/2006/main">
            <a:r>
              <a:t>RADIOLARIA_LANDSLIDE_SENTINEL_LS2_RETURN_20260915T005304Z.tar.gz :: runs/20260914T235214994572Z/memory/result.json :: SHA256 d191d461b457aec24d7b5b6aca62369bfb9ad5b6ff892fdfbb5e20588d03ace2</a:t>
            </a:r>
          </a:p>
          <a:p xmlns:a="http://schemas.openxmlformats.org/drawingml/2006/main">
            <a:r>
              <a:t>RADIOLARIA_LANDSLIDE_SENTINEL_LS2_RETURN_20260915T005304Z.tar.gz :: runs/20260914T235600945652Z/memory/result.json :: SHA256 1250efeb6f5aa1d7b4823bde0b7155373717f7de541cde0c5dab9e2ee1e72420</a:t>
            </a:r>
          </a:p>
          <a:p xmlns:a="http://schemas.openxmlformats.org/drawingml/2006/main">
            <a:r>
              <a:t>RADIOLARIA_LANDSLIDE_SENTINEL_LS2_RETURN_20260915T005304Z.tar.gz :: runs/20260915T001201754409Z/memory/result.json :: SHA256 0f7668c3d454325b4b185273be34ceb529495d559ac4d64864638dfdb186d1f0</a:t>
            </a:r>
          </a:p>
          <a:p xmlns:a="http://schemas.openxmlformats.org/drawingml/2006/main">
            <a:r>
              <a:t>RADIOLARIA_LANDSLIDE_SENTINEL_LS2_RETURN_20260915T005304Z.tar.gz :: held_out_execution_03/HO03-S1.json :: SHA256 8e5b8eca8c1bdbeba8e5ad6b7f09959719dcfe958720ab7eaf6da758f55d8c58</a:t>
            </a:r>
          </a:p>
          <a:p xmlns:a="http://schemas.openxmlformats.org/drawingml/2006/main">
            <a:r>
              <a:t>RADIOLARIA_LANDSLIDE_SENTINEL_LS2_RETURN_20260915T005304Z.tar.gz :: runs/20260915T001421055364Z/story/logs/delta_causal_material.json :: SHA256 69810716530c4faaa54a9303590a5401e5d2801ab7bd362edfdc1f80da23f3c6</a:t>
            </a:r>
          </a:p>
          <a:p xmlns:a="http://schemas.openxmlformats.org/drawingml/2006/main">
            <a:r>
              <a:t>RADIOLARIA_LANDSLIDE_SENTINEL_LS2R2_RETURN_20260915T061539Z.tar.gz :: live_01/local_only_drs.json :: SHA256 06a16b7b774cd39ac42594e7f5c42353e5b43abddbe511b9f2e5bdc0be22ebc3</a:t>
            </a:r>
          </a:p>
          <a:p xmlns:a="http://schemas.openxmlformats.org/drawingml/2006/main">
            <a:r>
              <a:t>RADIOLARIA_LANDSLIDE_SENTINEL_LS2R2_RETURN_20260915T061539Z.tar.gz :: live_01/captured_reexecution.json :: SHA256 1b600d34c3e4b412a9bcc438c2a7fbda0801741f898c6f33f4b54f712530806d</a:t>
            </a:r>
          </a:p>
          <a:p xmlns:a="http://schemas.openxmlformats.org/drawingml/2006/main">
            <a:r>
              <a:t/>
            </a:r>
          </a:p>
          <a:p xmlns:a="http://schemas.openxmlformats.org/drawingml/2006/main">
            <a:r>
              <a:t>Supplementary slide text:</a:t>
            </a:r>
          </a:p>
          <a:p xmlns:a="http://schemas.openxmlformats.org/drawingml/2006/main">
            <a:r>
              <a:t>Cold lookup, reviewed write, fresh query and bounded descent are separate steps.</a:t>
            </a:r>
          </a:p>
          <a:p xmlns:a="http://schemas.openxmlformats.org/drawingml/2006/main">
            <a:r>
              <a:t>Current Root, policy, calibration and dependency scope govern reuse.</a:t>
            </a:r>
          </a:p>
          <a:p xmlns:a="http://schemas.openxmlformats.org/drawingml/2006/main">
            <a:r>
              <a:t>Informational reuse yields new Work; it does not reopen an action packet.</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233952354313Z/memory/result.json","bytes":61859,"sha256":"c0406804bd5635b255ac5a942848c00ca257a3e1f831cb57f6f7ce6f79843ac3"}</a:t>
            </a:r>
          </a:p>
          <a:p xmlns:a="http://schemas.openxmlformats.org/drawingml/2006/main">
            <a:r>
              <a:t>{"archive":"RADIOLARIA_LANDSLIDE_SENTINEL_LS2_RETURN_20260915T005304Z.tar.gz","archive_sha256":"c26ec2bad672071ba05ef597b5c64e5f00f8d5cc83da37f4d8c7b057ed526ef9","member":"runs/20260914T235214994572Z/memory/result.json","bytes":62039,"sha256":"d191d461b457aec24d7b5b6aca62369bfb9ad5b6ff892fdfbb5e20588d03ace2"}</a:t>
            </a:r>
          </a:p>
          <a:p xmlns:a="http://schemas.openxmlformats.org/drawingml/2006/main">
            <a:r>
              <a:t>{"archive":"RADIOLARIA_LANDSLIDE_SENTINEL_LS2_RETURN_20260915T005304Z.tar.gz","archive_sha256":"c26ec2bad672071ba05ef597b5c64e5f00f8d5cc83da37f4d8c7b057ed526ef9","member":"runs/20260914T235600945652Z/memory/result.json","bytes":62039,"sha256":"1250efeb6f5aa1d7b4823bde0b7155373717f7de541cde0c5dab9e2ee1e72420"}</a:t>
            </a:r>
          </a:p>
          <a:p xmlns:a="http://schemas.openxmlformats.org/drawingml/2006/main">
            <a:r>
              <a:t>{"archive":"RADIOLARIA_LANDSLIDE_SENTINEL_LS2_RETURN_20260915T005304Z.tar.gz","archive_sha256":"c26ec2bad672071ba05ef597b5c64e5f00f8d5cc83da37f4d8c7b057ed526ef9","member":"runs/20260915T001201754409Z/memory/result.json","bytes":62039,"sha256":"0f7668c3d454325b4b185273be34ceb529495d559ac4d64864638dfdb186d1f0"}</a:t>
            </a:r>
          </a:p>
          <a:p xmlns:a="http://schemas.openxmlformats.org/drawingml/2006/main">
            <a:r>
              <a:t>{"archive":"RADIOLARIA_LANDSLIDE_SENTINEL_LS2_RETURN_20260915T005304Z.tar.gz","archive_sha256":"c26ec2bad672071ba05ef597b5c64e5f00f8d5cc83da37f4d8c7b057ed526ef9","member":"held_out_execution_03/HO03-S1.json","bytes":244808,"sha256":"8e5b8eca8c1bdbeba8e5ad6b7f09959719dcfe958720ab7eaf6da758f55d8c58"}</a:t>
            </a:r>
          </a:p>
          <a:p xmlns:a="http://schemas.openxmlformats.org/drawingml/2006/main">
            <a:r>
              <a:t>{"archive":"RADIOLARIA_LANDSLIDE_SENTINEL_LS2_RETURN_20260915T005304Z.tar.gz","archive_sha256":"c26ec2bad672071ba05ef597b5c64e5f00f8d5cc83da37f4d8c7b057ed526ef9","member":"runs/20260915T001421055364Z/story/logs/delta_causal_material.json","bytes":689870,"sha256":"69810716530c4faaa54a9303590a5401e5d2801ab7bd362edfdc1f80da23f3c6"}</a:t>
            </a:r>
          </a:p>
          <a:p xmlns:a="http://schemas.openxmlformats.org/drawingml/2006/main">
            <a:r>
              <a:t>{"archive":"RADIOLARIA_LANDSLIDE_SENTINEL_LS2R2_RETURN_20260915T061539Z.tar.gz","archive_sha256":"07942bbe01b826307ea93329ec3bb70a4d7687254be140eed32d644fcae368fc","member":"live_01/local_only_drs.json","bytes":29652,"sha256":"06a16b7b774cd39ac42594e7f5c42353e5b43abddbe511b9f2e5bdc0be22ebc3"}</a:t>
            </a:r>
          </a:p>
          <a:p xmlns:a="http://schemas.openxmlformats.org/drawingml/2006/main">
            <a:r>
              <a:t>{"archive":"RADIOLARIA_LANDSLIDE_SENTINEL_LS2R2_RETURN_20260915T061539Z.tar.gz","archive_sha256":"07942bbe01b826307ea93329ec3bb70a4d7687254be140eed32d644fcae368fc","member":"live_01/captured_reexecution.json","bytes":411674,"sha256":"1b600d34c3e4b412a9bcc438c2a7fbda0801741f898c6f33f4b54f712530806d"}</a:t>
            </a:r>
          </a:p>
          <a:p xmlns:a="http://schemas.openxmlformats.org/drawingml/2006/main">
            <a:r>
              <a:t/>
            </a:r>
          </a:p>
          <a:p xmlns:a="http://schemas.openxmlformats.org/drawingml/2006/main">
            <a:r>
              <a:t>Claim identifiers: C10, FRESH_LOCAL_ONLY_DRS, CAPTURED_REEXECUTION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Environment Agency acquisition first handles station metadata before retrieving measurements. Candidate station selection is based on the declared metadata/recency rules, with the chosen source pinned before its values are read. The successful retained source is 4163, Day Brook. Eight actual rainfall records were normalized; each reported value is zero. This does not fabricate a storm, replace missing records with zeros or pick a different station after inspecting values. The adapter retains unknown interval endpoints. It therefore does not aggregate these readings into a supported current hourly total or claim physical mapping from the UK gauge to slope_demo_site_001. A prior metadata-shape failure and the prior LS2 empty-reading result remain separate historical records. This slide is historical data evidence, not a current weather report.</a:t>
            </a:r>
          </a:p>
          <a:p xmlns:a="http://schemas.openxmlformats.org/drawingml/2006/main">
            <a:r>
              <a:t/>
            </a:r>
          </a:p>
          <a:p xmlns:a="http://schemas.openxmlformats.org/drawingml/2006/main">
            <a:r>
              <a:t>Evidence references:</a:t>
            </a:r>
          </a:p>
          <a:p xmlns:a="http://schemas.openxmlformats.org/drawingml/2006/main">
            <a:r>
              <a:t>RADIOLARIA_LANDSLIDE_SENTINEL_LS2R_RETURN_20260915T021418Z.tar.gz :: ea_capture_02/result.json :: SHA256 aeb5b1ddce8ed7fe3d23efc8afeb06a255574f614fd75807a9a498bea08049db</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Interval support unconfirmed. Physical site mapping not established.</a:t>
            </a:r>
          </a:p>
          <a:p xmlns:a="http://schemas.openxmlformats.org/drawingml/2006/main">
            <a:r>
              <a:t/>
            </a:r>
          </a:p>
          <a:p xmlns:a="http://schemas.openxmlformats.org/drawingml/2006/main">
            <a:r>
              <a:t>Source records:</a:t>
            </a:r>
          </a:p>
          <a:p xmlns:a="http://schemas.openxmlformats.org/drawingml/2006/main">
            <a:r>
              <a:t>{"archive":"RADIOLARIA_LANDSLIDE_SENTINEL_LS2R_RETURN_20260915T021418Z.tar.gz","archive_sha256":"96a3e7fc1d959fd959433413681e6d91ed9b9799e31cb765db3bd00d6d24f45e","member":"ea_capture_02/result.json","bytes":8776,"sha256":"aeb5b1ddce8ed7fe3d23efc8afeb06a255574f614fd75807a9a498bea08049db"}</a:t>
            </a:r>
          </a:p>
          <a:p xmlns:a="http://schemas.openxmlformats.org/drawingml/2006/main">
            <a:r>
              <a:t/>
            </a:r>
          </a:p>
          <a:p xmlns:a="http://schemas.openxmlformats.org/drawingml/2006/main">
            <a:r>
              <a:t>Claim identifiers: EA_ACQUISITION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temporal investigation explicitly tests scenario-second ordering start &lt;= end &lt;= received &lt;= evaluation; hourly accumulation requires a 3600-second interval, unit mm_x1000, statistic accumulation_1h and an adequate record. An old endpoint remains historical; a point labelled as an hour is incompatible. Missing interval support is named rather than invented. Spatial applicability separately compares declared synthetic site identities and always preserves the absence of a verified physical mapping. The real live environmental selection in LS2R2 performed the spatial investigation, not a live temporal choice: temporal fixes are established by targeted current consumer checks. A bounded SUPPORTED_FOR_DECLARED_USE result can coexist with UNRESOLVED_NO_VERIFIED_MAPPING, because those are different claims.</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RADIOLARIA_LANDSLIDE_SENTINEL_LS2R_RETURN_20260915T021418Z.tar.gz :: ea_capture_02/result.json :: SHA256 aeb5b1ddce8ed7fe3d23efc8afeb06a255574f614fd75807a9a498bea08049db</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_RETURN_20260915T021418Z.tar.gz","archive_sha256":"96a3e7fc1d959fd959433413681e6d91ed9b9799e31cb765db3bd00d6d24f45e","member":"ea_capture_02/result.json","bytes":8776,"sha256":"aeb5b1ddce8ed7fe3d23efc8afeb06a255574f614fd75807a9a498bea08049db"}</a:t>
            </a:r>
          </a:p>
          <a:p xmlns:a="http://schemas.openxmlformats.org/drawingml/2006/main">
            <a:r>
              <a:t/>
            </a:r>
          </a:p>
          <a:p xmlns:a="http://schemas.openxmlformats.org/drawingml/2006/main">
            <a:r>
              <a:t>Claim identifiers: LS2R2_SCOPE, THREE_LIVE_ROLES, EA_ACQUISITION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claim map indexes exact source archives, members, sizes and hashes. C01 is the latest live note-dependent substantive-work contrast, with earlier inconclusive pairs retained. C02 sends old observations with new receipt times through actual applicability Work and Root. C03 removes primary and reserve evidence and observes bounded insufficiency rather than fabricated action. C04 challenges typed time, identity, projection, sequence and independent lineage. C05 reduces the available Work budget from two to one to infeasible zero within the same episode budget. These are not five newly rerun post-landing cases: each row carries its execution lane and later source-impact disposition. A test exclusion in default pytest is neither a pass nor an execution.</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live_04/live_AB.json :: SHA256 be1bb1e223fa533cdacd839e35d0b5da16babdb3711a223cbaf24129d9260585</a:t>
            </a:r>
          </a:p>
          <a:p xmlns:a="http://schemas.openxmlformats.org/drawingml/2006/main">
            <a:r>
              <a:t>RADIOLARIA_LANDSLIDE_SENTINEL_LS2_RETURN_20260915T005304Z.tar.gz :: live_04/composition_1.json :: SHA256 21b079f54cc231ab09196f7ff946da4d96cd236ebde590bc67d5d0019f42613a</a:t>
            </a:r>
          </a:p>
          <a:p xmlns:a="http://schemas.openxmlformats.org/drawingml/2006/main">
            <a:r>
              <a:t>RADIOLARIA_LANDSLIDE_SENTINEL_LS2_RETURN_20260915T005304Z.tar.gz :: live_04/composition_2.json :: SHA256 c7d9f5584d045220a5fee4bf606979466bb101f649ef57503c79aabdae026eb7</a:t>
            </a:r>
          </a:p>
          <a:p xmlns:a="http://schemas.openxmlformats.org/drawingml/2006/main">
            <a:r>
              <a:t>RADIOLARIA_LANDSLIDE_SENTINEL_LS2_RETURN_20260915T005304Z.tar.gz :: runs/20260914T235815068481Z/c02_consumer/result.json :: SHA256 9ac4121207bbc6fc60b34ececb14de9a740cf570f7daf600212e68eb9d910f24</a:t>
            </a:r>
          </a:p>
          <a:p xmlns:a="http://schemas.openxmlformats.org/drawingml/2006/main">
            <a:r>
              <a:t>RADIOLARIA_LANDSLIDE_SENTINEL_LS2_RETURN_20260915T005304Z.tar.gz :: runs/20260915T001201754409Z/c02_consumer/result.json :: SHA256 08afc0072e81402d7aa8c7163bfdc8a1d3d477845a6c90c935e2cc1375102910</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runs/20260914T233334223062Z/projection/result.json :: SHA256 3dc50fb3b4fc76787dd2be350e5848fe9d4cff3ed117437265791e85a77615da</a:t>
            </a:r>
          </a:p>
          <a:p xmlns:a="http://schemas.openxmlformats.org/drawingml/2006/main">
            <a:r>
              <a:t>RADIOLARIA_LANDSLIDE_SENTINEL_LS2_RETURN_20260915T005304Z.tar.gz :: runs/20260914T233825758862Z/projection/result.json :: SHA256 3dc50fb3b4fc76787dd2be350e5848fe9d4cff3ed117437265791e85a77615da</a:t>
            </a:r>
          </a:p>
          <a:p xmlns:a="http://schemas.openxmlformats.org/drawingml/2006/main">
            <a:r>
              <a:t>RADIOLARIA_LANDSLIDE_SENTINEL_LS2_RETURN_20260915T005304Z.tar.gz :: runs/20260914T235214994572Z/projection/result.json :: SHA256 3dc50fb3b4fc76787dd2be350e5848fe9d4cff3ed117437265791e85a77615da</a:t>
            </a:r>
          </a:p>
          <a:p xmlns:a="http://schemas.openxmlformats.org/drawingml/2006/main">
            <a:r>
              <a:t>RADIOLARIA_LANDSLIDE_SENTINEL_LS2_RETURN_20260915T005304Z.tar.gz :: runs/20260915T001201754409Z/projection/result.json :: SHA256 3dc50fb3b4fc76787dd2be350e5848fe9d4cff3ed117437265791e85a77615da</a:t>
            </a:r>
          </a:p>
          <a:p xmlns:a="http://schemas.openxmlformats.org/drawingml/2006/main">
            <a:r>
              <a:t>RADIOLARIA_LANDSLIDE_SENTINEL_LS2_RETURN_20260915T005304Z.tar.gz :: runs/20260914T233825758862Z/c02_c03_c04/result.json :: SHA256 bff644089a289f871251ef6b20040755a83b4397b78dc97ae33c8d7cf76025cb</a:t>
            </a:r>
          </a:p>
          <a:p xmlns:a="http://schemas.openxmlformats.org/drawingml/2006/main">
            <a:r>
              <a:t>RADIOLARIA_LANDSLIDE_SENTINEL_LS2_RETURN_20260915T005304Z.tar.gz :: runs/20260914T235214994572Z/c02_c03_c04/result.json :: SHA256 0cf5b59700106009274d3c0330eff318ca43da97a4d76bb5898d8a318e743039</a:t>
            </a:r>
          </a:p>
          <a:p xmlns:a="http://schemas.openxmlformats.org/drawingml/2006/main">
            <a:r>
              <a:t>RADIOLARIA_LANDSLIDE_SENTINEL_LS2_RETURN_20260915T005304Z.tar.gz :: runs/20260915T001201754409Z/c02_c03_c04/result.json :: SHA256 a4b3bbbe63f9c253c96489ef0f9ed1ac1d5e8809184647f62f300ad4605b0c0d</a:t>
            </a:r>
          </a:p>
          <a:p xmlns:a="http://schemas.openxmlformats.org/drawingml/2006/main">
            <a:r>
              <a:t>RADIOLARIA_LANDSLIDE_SENTINEL_LS2_RETURN_20260915T005304Z.tar.gz :: runs/20260914T233952354313Z/c05_result.json :: SHA256 5b335874f3b81dcba459313a67e73e9541bae85ffe3ce84bb55e94368cd5bcbb</a:t>
            </a:r>
          </a:p>
          <a:p xmlns:a="http://schemas.openxmlformats.org/drawingml/2006/main">
            <a:r>
              <a:t>RADIOLARIA_LANDSLIDE_SENTINEL_LS2_RETURN_20260915T005304Z.tar.gz :: runs/20260914T235214994572Z/c05_result.json :: SHA256 5685ae6d7f6401d94b5e3e98a090709fa58a4fec6ecc8600f4507b90aff3b362</a:t>
            </a:r>
          </a:p>
          <a:p xmlns:a="http://schemas.openxmlformats.org/drawingml/2006/main">
            <a:r>
              <a:t>RADIOLARIA_LANDSLIDE_SENTINEL_LS2_RETURN_20260915T005304Z.tar.gz :: runs/20260915T001201754409Z/c05_result.json :: SHA256 86f73b975f0b97731fc97799a3e07108b99a8c4c7d27852a91b62d743b843e81</a:t>
            </a:r>
          </a:p>
          <a:p xmlns:a="http://schemas.openxmlformats.org/drawingml/2006/main">
            <a:r>
              <a:t>RADIOLARIA_LANDSLIDE_SENTINEL_LS2_RETURN_20260915T005304Z.tar.gz :: runs/20260915T003923643523Z/c05_result.json :: SHA256 3c348b781c2598b06506e929ff3bfe299f3fde4d5d34aec399683c425f871526</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live_04/live_AB.json","bytes":21830,"sha256":"be1bb1e223fa533cdacd839e35d0b5da16babdb3711a223cbaf24129d9260585"}</a:t>
            </a:r>
          </a:p>
          <a:p xmlns:a="http://schemas.openxmlformats.org/drawingml/2006/main">
            <a:r>
              <a:t>{"archive":"RADIOLARIA_LANDSLIDE_SENTINEL_LS2_RETURN_20260915T005304Z.tar.gz","archive_sha256":"c26ec2bad672071ba05ef597b5c64e5f00f8d5cc83da37f4d8c7b057ed526ef9","member":"live_04/composition_1.json","bytes":96591,"sha256":"21b079f54cc231ab09196f7ff946da4d96cd236ebde590bc67d5d0019f42613a"}</a:t>
            </a:r>
          </a:p>
          <a:p xmlns:a="http://schemas.openxmlformats.org/drawingml/2006/main">
            <a:r>
              <a:t>{"archive":"RADIOLARIA_LANDSLIDE_SENTINEL_LS2_RETURN_20260915T005304Z.tar.gz","archive_sha256":"c26ec2bad672071ba05ef597b5c64e5f00f8d5cc83da37f4d8c7b057ed526ef9","member":"live_04/composition_2.json","bytes":95995,"sha256":"c7d9f5584d045220a5fee4bf606979466bb101f649ef57503c79aabdae026eb7"}</a:t>
            </a:r>
          </a:p>
          <a:p xmlns:a="http://schemas.openxmlformats.org/drawingml/2006/main">
            <a:r>
              <a:t>{"archive":"RADIOLARIA_LANDSLIDE_SENTINEL_LS2_RETURN_20260915T005304Z.tar.gz","archive_sha256":"c26ec2bad672071ba05ef597b5c64e5f00f8d5cc83da37f4d8c7b057ed526ef9","member":"runs/20260914T235815068481Z/c02_consumer/result.json","bytes":261972,"sha256":"9ac4121207bbc6fc60b34ececb14de9a740cf570f7daf600212e68eb9d910f24"}</a:t>
            </a:r>
          </a:p>
          <a:p xmlns:a="http://schemas.openxmlformats.org/drawingml/2006/main">
            <a:r>
              <a:t>{"archive":"RADIOLARIA_LANDSLIDE_SENTINEL_LS2_RETURN_20260915T005304Z.tar.gz","archive_sha256":"c26ec2bad672071ba05ef597b5c64e5f00f8d5cc83da37f4d8c7b057ed526ef9","member":"runs/20260915T001201754409Z/c02_consumer/result.json","bytes":261972,"sha256":"08afc0072e81402d7aa8c7163bfdc8a1d3d477845a6c90c935e2cc1375102910"}</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233334223062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20260914T233825758862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20260914T235214994572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20260915T001201754409Z/projection/result.json","bytes":2179,"sha256":"3dc50fb3b4fc76787dd2be350e5848fe9d4cff3ed117437265791e85a77615da"}</a:t>
            </a:r>
          </a:p>
          <a:p xmlns:a="http://schemas.openxmlformats.org/drawingml/2006/main">
            <a:r>
              <a:t>{"archive":"RADIOLARIA_LANDSLIDE_SENTINEL_LS2_RETURN_20260915T005304Z.tar.gz","archive_sha256":"c26ec2bad672071ba05ef597b5c64e5f00f8d5cc83da37f4d8c7b057ed526ef9","member":"runs/20260914T233825758862Z/c02_c03_c04/result.json","bytes":55701,"sha256":"bff644089a289f871251ef6b20040755a83b4397b78dc97ae33c8d7cf76025cb"}</a:t>
            </a:r>
          </a:p>
          <a:p xmlns:a="http://schemas.openxmlformats.org/drawingml/2006/main">
            <a:r>
              <a:t>{"archive":"RADIOLARIA_LANDSLIDE_SENTINEL_LS2_RETURN_20260915T005304Z.tar.gz","archive_sha256":"c26ec2bad672071ba05ef597b5c64e5f00f8d5cc83da37f4d8c7b057ed526ef9","member":"runs/20260914T235214994572Z/c02_c03_c04/result.json","bytes":55701,"sha256":"0cf5b59700106009274d3c0330eff318ca43da97a4d76bb5898d8a318e743039"}</a:t>
            </a:r>
          </a:p>
          <a:p xmlns:a="http://schemas.openxmlformats.org/drawingml/2006/main">
            <a:r>
              <a:t>{"archive":"RADIOLARIA_LANDSLIDE_SENTINEL_LS2_RETURN_20260915T005304Z.tar.gz","archive_sha256":"c26ec2bad672071ba05ef597b5c64e5f00f8d5cc83da37f4d8c7b057ed526ef9","member":"runs/20260915T001201754409Z/c02_c03_c04/result.json","bytes":55701,"sha256":"a4b3bbbe63f9c253c96489ef0f9ed1ac1d5e8809184647f62f300ad4605b0c0d"}</a:t>
            </a:r>
          </a:p>
          <a:p xmlns:a="http://schemas.openxmlformats.org/drawingml/2006/main">
            <a:r>
              <a:t>{"archive":"RADIOLARIA_LANDSLIDE_SENTINEL_LS2_RETURN_20260915T005304Z.tar.gz","archive_sha256":"c26ec2bad672071ba05ef597b5c64e5f00f8d5cc83da37f4d8c7b057ed526ef9","member":"runs/20260914T233952354313Z/c05_result.json","bytes":128968,"sha256":"5b335874f3b81dcba459313a67e73e9541bae85ffe3ce84bb55e94368cd5bcbb"}</a:t>
            </a:r>
          </a:p>
          <a:p xmlns:a="http://schemas.openxmlformats.org/drawingml/2006/main">
            <a:r>
              <a:t>{"archive":"RADIOLARIA_LANDSLIDE_SENTINEL_LS2_RETURN_20260915T005304Z.tar.gz","archive_sha256":"c26ec2bad672071ba05ef597b5c64e5f00f8d5cc83da37f4d8c7b057ed526ef9","member":"runs/20260914T235214994572Z/c05_result.json","bytes":128968,"sha256":"5685ae6d7f6401d94b5e3e98a090709fa58a4fec6ecc8600f4507b90aff3b362"}</a:t>
            </a:r>
          </a:p>
          <a:p xmlns:a="http://schemas.openxmlformats.org/drawingml/2006/main">
            <a:r>
              <a:t>{"archive":"RADIOLARIA_LANDSLIDE_SENTINEL_LS2_RETURN_20260915T005304Z.tar.gz","archive_sha256":"c26ec2bad672071ba05ef597b5c64e5f00f8d5cc83da37f4d8c7b057ed526ef9","member":"runs/20260915T001201754409Z/c05_result.json","bytes":128968,"sha256":"86f73b975f0b97731fc97799a3e07108b99a8c4c7d27852a91b62d743b843e81"}</a:t>
            </a:r>
          </a:p>
          <a:p xmlns:a="http://schemas.openxmlformats.org/drawingml/2006/main">
            <a:r>
              <a:t>{"archive":"RADIOLARIA_LANDSLIDE_SENTINEL_LS2_RETURN_20260915T005304Z.tar.gz","archive_sha256":"c26ec2bad672071ba05ef597b5c64e5f00f8d5cc83da37f4d8c7b057ed526ef9","member":"runs/20260915T003923643523Z/c05_result.json","bytes":128956,"sha256":"3c348b781c2598b06506e929ff3bfe299f3fde4d5d34aec399683c425f871526"}</a:t>
            </a:r>
          </a:p>
          <a:p xmlns:a="http://schemas.openxmlformats.org/drawingml/2006/main">
            <a:r>
              <a:t/>
            </a:r>
          </a:p>
          <a:p xmlns:a="http://schemas.openxmlformats.org/drawingml/2006/main">
            <a:r>
              <a:t>Claim identifiers: C01, C02, C03, C04, C05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C06 demonstrates a fresh local invocation while an older provider worker remains pending. C07 requires measured recovery and a distinct OFF, with subsequent fixes for source/policy changes and actual accepted local age. C08 admits additional synthetic channel-level and vibration evidence under the same site Root. C09 checks immutable report/acknowledgement identity and refuses receipt-as-permission or expired-packet reuse. C10 exercises current policy/calibration, stale DRS eligibility and actual rainfall E with consumed results and retained siblings. The latest package does not cryptographically anchor all these historical rows; the source-bound claim map describes their provenance and limitations. The whole-source admission later preserves the accepted implementation with narrow setup-alignment test corrections.</a:t>
            </a:r>
          </a:p>
          <a:p xmlns:a="http://schemas.openxmlformats.org/drawingml/2006/main">
            <a:r>
              <a:t/>
            </a:r>
          </a:p>
          <a:p xmlns:a="http://schemas.openxmlformats.org/drawingml/2006/main">
            <a:r>
              <a:t>Evidence references:</a:t>
            </a:r>
          </a:p>
          <a:p xmlns:a="http://schemas.openxmlformats.org/drawingml/2006/main">
            <a:r>
              <a:t>RADIOLARIA_LANDSLIDE_SENTINEL_LS2_RETURN_20260915T005304Z.tar.gz :: runs/20260914T233825758862Z/pending_False/result.json :: SHA256 0b0e241fb1584288e1b6c9372f6693a9786e47426a0fe5ee5a80d59b1b7f4c8e</a:t>
            </a:r>
          </a:p>
          <a:p xmlns:a="http://schemas.openxmlformats.org/drawingml/2006/main">
            <a:r>
              <a:t>RADIOLARIA_LANDSLIDE_SENTINEL_LS2_RETURN_20260915T005304Z.tar.gz :: runs/20260914T233825758862Z/pending_True/result.json :: SHA256 5f12d1bc76e70de7f9d5a72dcbf784dcf14d0104b61464fcc5dcecb4b051aacc</a:t>
            </a:r>
          </a:p>
          <a:p xmlns:a="http://schemas.openxmlformats.org/drawingml/2006/main">
            <a:r>
              <a:t>RADIOLARIA_LANDSLIDE_SENTINEL_LS2_RETURN_20260915T005304Z.tar.gz :: runs/20260914T235214994572Z/pending_False/result.json :: SHA256 32def85b08c3c09e77ea61dc65e8463596843bfa1e0e5219c928c7cb472b626f</a:t>
            </a:r>
          </a:p>
          <a:p xmlns:a="http://schemas.openxmlformats.org/drawingml/2006/main">
            <a:r>
              <a:t>RADIOLARIA_LANDSLIDE_SENTINEL_LS2_RETURN_20260915T005304Z.tar.gz :: runs/20260914T235214994572Z/pending_True/result.json :: SHA256 56287931a815bdbb4af873c0d1a81f25550a6c9c190e31f3105dd4c4a8022bd8</a:t>
            </a:r>
          </a:p>
          <a:p xmlns:a="http://schemas.openxmlformats.org/drawingml/2006/main">
            <a:r>
              <a:t>RADIOLARIA_LANDSLIDE_SENTINEL_LS2_RETURN_20260915T005304Z.tar.gz :: runs/20260915T001201754409Z/pending_False/result.json :: SHA256 c073881884bebde05c90e892857d56ebb8f8202f912ec2dc8cc4a06458260682</a:t>
            </a:r>
          </a:p>
          <a:p xmlns:a="http://schemas.openxmlformats.org/drawingml/2006/main">
            <a:r>
              <a:t>RADIOLARIA_LANDSLIDE_SENTINEL_LS2_RETURN_20260915T005304Z.tar.gz :: runs/20260915T001201754409Z/pending_True/result.json :: SHA256 68ad97906e57019a2afc9fdaee9589cff4d6a5255226dd176c708e41ef7e51b8</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RADIOLARIA_LANDSLIDE_SENTINEL_LS2_RETURN_20260915T005304Z.tar.gz :: runs/20260914T233501115920Z/r1/result.json :: SHA256 b6943a540a39214debc753b28215a37a24904465129b82f18d5953ed87ec2916</a:t>
            </a:r>
          </a:p>
          <a:p xmlns:a="http://schemas.openxmlformats.org/drawingml/2006/main">
            <a:r>
              <a:t>RADIOLARIA_LANDSLIDE_SENTINEL_LS2_RETURN_20260915T005304Z.tar.gz :: runs/20260914T233825758862Z/r1/result.json :: SHA256 c8690dec95642850bbe383a846d5617e577ce2fae512a435b04b342a843d79b3</a:t>
            </a:r>
          </a:p>
          <a:p xmlns:a="http://schemas.openxmlformats.org/drawingml/2006/main">
            <a:r>
              <a:t>RADIOLARIA_LANDSLIDE_SENTINEL_LS2_RETURN_20260915T005304Z.tar.gz :: runs/20260914T235214994572Z/r1/result.json :: SHA256 62b307916657f580254b4de991b8de7cc441cd660ae55405d8ce9d0d97919651</a:t>
            </a:r>
          </a:p>
          <a:p xmlns:a="http://schemas.openxmlformats.org/drawingml/2006/main">
            <a:r>
              <a:t>RADIOLARIA_LANDSLIDE_SENTINEL_LS2_RETURN_20260915T005304Z.tar.gz :: runs/20260914T235600945652Z/r1/result.json :: SHA256 51beb8f95b03803c921711aaf17b77b83faefe7cbaa4e93be24625eb31045cb1</a:t>
            </a:r>
          </a:p>
          <a:p xmlns:a="http://schemas.openxmlformats.org/drawingml/2006/main">
            <a:r>
              <a:t>RADIOLARIA_LANDSLIDE_SENTINEL_LS2_RETURN_20260915T005304Z.tar.gz :: runs/20260915T001201754409Z/r1/result.json :: SHA256 f4450a91d4f2f64c01b36b05c08701e8e2f0a549147e72dfe7352a19da6d7b12</a:t>
            </a:r>
          </a:p>
          <a:p xmlns:a="http://schemas.openxmlformats.org/drawingml/2006/main">
            <a:r>
              <a:t>RADIOLARIA_LANDSLIDE_SENTINEL_LS2_RETURN_20260915T005304Z.tar.gz :: runs/20260915T001421055364Z/story/clearance.json :: SHA256 a9488e6859e8ddfdaf9a33333e04252069806cbbb0047c80ee2e6e0c1703c5bd</a:t>
            </a:r>
          </a:p>
          <a:p xmlns:a="http://schemas.openxmlformats.org/drawingml/2006/main">
            <a:r>
              <a:t>RADIOLARIA_LANDSLIDE_SENTINEL_LS2_RETURN_20260915T005304Z.tar.gz :: held_out_execution_03/HO03-R1.json :: SHA256 81930e51c0a7e333a4bf88f689c4867881fb6b9916d22c91c0605e25ef419ef5</a:t>
            </a:r>
          </a:p>
          <a:p xmlns:a="http://schemas.openxmlformats.org/drawingml/2006/main">
            <a:r>
              <a:t>RADIOLARIA_LANDSLIDE_SENTINEL_LS2_RETURN_20260915T005304Z.tar.gz :: runs/20260914T233825758862Z/c08/result.json :: SHA256 75063388f06627e2bf17a9f0d6536bd6776e68e4e7145a5a1d57212a5365fa1d</a:t>
            </a:r>
          </a:p>
          <a:p xmlns:a="http://schemas.openxmlformats.org/drawingml/2006/main">
            <a:r>
              <a:t>RADIOLARIA_LANDSLIDE_SENTINEL_LS2_RETURN_20260915T005304Z.tar.gz :: runs/20260914T235214994572Z/c08/result.json :: SHA256 cb10ba795926a2cbc08ea4526617dd0dbe0930443309fcae291e4cfbfc165bdc</a:t>
            </a:r>
          </a:p>
          <a:p xmlns:a="http://schemas.openxmlformats.org/drawingml/2006/main">
            <a:r>
              <a:t>RADIOLARIA_LANDSLIDE_SENTINEL_LS2_RETURN_20260915T005304Z.tar.gz :: runs/20260915T001201754409Z/c08/result.json :: SHA256 265fdd18dd58016345721d1e9c6e8371c28df4836acbe0e62e6657996e0cbbb6</a:t>
            </a:r>
          </a:p>
          <a:p xmlns:a="http://schemas.openxmlformats.org/drawingml/2006/main">
            <a:r>
              <a:t>RADIOLARIA_LANDSLIDE_SENTINEL_LS2_RETURN_20260915T005304Z.tar.gz :: runs/20260914T233825758862Z/pending_False/result.json :: SHA256 0b0e241fb1584288e1b6c9372f6693a9786e47426a0fe5ee5a80d59b1b7f4c8e</a:t>
            </a:r>
          </a:p>
          <a:p xmlns:a="http://schemas.openxmlformats.org/drawingml/2006/main">
            <a:r>
              <a:t>RADIOLARIA_LANDSLIDE_SENTINEL_LS2_RETURN_20260915T005304Z.tar.gz :: runs/20260914T233825758862Z/pending_True/result.json :: SHA256 5f12d1bc76e70de7f9d5a72dcbf784dcf14d0104b61464fcc5dcecb4b051aacc</a:t>
            </a:r>
          </a:p>
          <a:p xmlns:a="http://schemas.openxmlformats.org/drawingml/2006/main">
            <a:r>
              <a:t>RADIOLARIA_LANDSLIDE_SENTINEL_LS2_RETURN_20260915T005304Z.tar.gz :: runs/20260914T235214994572Z/pending_False/result.json :: SHA256 32def85b08c3c09e77ea61dc65e8463596843bfa1e0e5219c928c7cb472b626f</a:t>
            </a:r>
          </a:p>
          <a:p xmlns:a="http://schemas.openxmlformats.org/drawingml/2006/main">
            <a:r>
              <a:t>RADIOLARIA_LANDSLIDE_SENTINEL_LS2_RETURN_20260915T005304Z.tar.gz :: runs/20260914T235214994572Z/pending_True/result.json :: SHA256 56287931a815bdbb4af873c0d1a81f25550a6c9c190e31f3105dd4c4a8022bd8</a:t>
            </a:r>
          </a:p>
          <a:p xmlns:a="http://schemas.openxmlformats.org/drawingml/2006/main">
            <a:r>
              <a:t>RADIOLARIA_LANDSLIDE_SENTINEL_LS2_RETURN_20260915T005304Z.tar.gz :: runs/20260915T001201754409Z/pending_False/result.json :: SHA256 c073881884bebde05c90e892857d56ebb8f8202f912ec2dc8cc4a06458260682</a:t>
            </a:r>
          </a:p>
          <a:p xmlns:a="http://schemas.openxmlformats.org/drawingml/2006/main">
            <a:r>
              <a:t>RADIOLARIA_LANDSLIDE_SENTINEL_LS2_RETURN_20260915T005304Z.tar.gz :: runs/20260915T001201754409Z/pending_True/result.json :: SHA256 68ad97906e57019a2afc9fdaee9589cff4d6a5255226dd176c708e41ef7e51b8</a:t>
            </a:r>
          </a:p>
          <a:p xmlns:a="http://schemas.openxmlformats.org/drawingml/2006/main">
            <a:r>
              <a:t>RADIOLARIA_LANDSLIDE_SENTINEL_LS2_RETURN_20260915T005304Z.tar.gz :: runs/20260915T000651618300Z/expired/result.json :: SHA256 77176757e4dcf05f7d7ddd1eeae50874d618fecc4de509222b9eeea2a4ba8ef6</a:t>
            </a:r>
          </a:p>
          <a:p xmlns:a="http://schemas.openxmlformats.org/drawingml/2006/main">
            <a:r>
              <a:t>RADIOLARIA_LANDSLIDE_SENTINEL_LS2_RETURN_20260915T005304Z.tar.gz :: runs/20260915T001201754409Z/expired/result.json :: SHA256 025a6146aa3ddde4a128c970be4da470590a707037c6d5357cd40ca064b1229a</a:t>
            </a:r>
          </a:p>
          <a:p xmlns:a="http://schemas.openxmlformats.org/drawingml/2006/main">
            <a:r>
              <a:t>RADIOLARIA_LANDSLIDE_SENTINEL_LS2_RETURN_20260915T005304Z.tar.gz :: runs/20260915T001421055364Z/story/effects.json :: SHA256 d9ceab125538b2605175ed7cb736505ce2e611e49fc50d84b0c458cb82885387</a:t>
            </a:r>
          </a:p>
          <a:p xmlns:a="http://schemas.openxmlformats.org/drawingml/2006/main">
            <a:r>
              <a:t>RADIOLARIA_LANDSLIDE_SENTINEL_LS2_RETURN_20260915T005304Z.tar.gz :: runs/20260914T233952354313Z/memory/result.json :: SHA256 c0406804bd5635b255ac5a942848c00ca257a3e1f831cb57f6f7ce6f79843ac3</a:t>
            </a:r>
          </a:p>
          <a:p xmlns:a="http://schemas.openxmlformats.org/drawingml/2006/main">
            <a:r>
              <a:t>RADIOLARIA_LANDSLIDE_SENTINEL_LS2_RETURN_20260915T005304Z.tar.gz :: runs/20260914T235214994572Z/memory/result.json :: SHA256 d191d461b457aec24d7b5b6aca62369bfb9ad5b6ff892fdfbb5e20588d03ace2</a:t>
            </a:r>
          </a:p>
          <a:p xmlns:a="http://schemas.openxmlformats.org/drawingml/2006/main">
            <a:r>
              <a:t>RADIOLARIA_LANDSLIDE_SENTINEL_LS2_RETURN_20260915T005304Z.tar.gz :: runs/20260914T235600945652Z/memory/result.json :: SHA256 1250efeb6f5aa1d7b4823bde0b7155373717f7de541cde0c5dab9e2ee1e72420</a:t>
            </a:r>
          </a:p>
          <a:p xmlns:a="http://schemas.openxmlformats.org/drawingml/2006/main">
            <a:r>
              <a:t>RADIOLARIA_LANDSLIDE_SENTINEL_LS2_RETURN_20260915T005304Z.tar.gz :: runs/20260915T001201754409Z/memory/result.json :: SHA256 0f7668c3d454325b4b185273be34ceb529495d559ac4d64864638dfdb186d1f0</a:t>
            </a:r>
          </a:p>
          <a:p xmlns:a="http://schemas.openxmlformats.org/drawingml/2006/main">
            <a:r>
              <a:t>RADIOLARIA_LANDSLIDE_SENTINEL_LS2_RETURN_20260915T005304Z.tar.gz :: held_out_execution_03/HO03-S1.json :: SHA256 8e5b8eca8c1bdbeba8e5ad6b7f09959719dcfe958720ab7eaf6da758f55d8c58</a:t>
            </a:r>
          </a:p>
          <a:p xmlns:a="http://schemas.openxmlformats.org/drawingml/2006/main">
            <a:r>
              <a:t>RADIOLARIA_LANDSLIDE_SENTINEL_LS2_RETURN_20260915T005304Z.tar.gz :: runs/20260915T001421055364Z/story/logs/delta_causal_material.json :: SHA256 69810716530c4faaa54a9303590a5401e5d2801ab7bd362edfdc1f80da23f3c6</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_RETURN_20260915T005304Z.tar.gz","archive_sha256":"c26ec2bad672071ba05ef597b5c64e5f00f8d5cc83da37f4d8c7b057ed526ef9","member":"runs/20260914T233825758862Z/pending_False/result.json","bytes":102238,"sha256":"0b0e241fb1584288e1b6c9372f6693a9786e47426a0fe5ee5a80d59b1b7f4c8e"}</a:t>
            </a:r>
          </a:p>
          <a:p xmlns:a="http://schemas.openxmlformats.org/drawingml/2006/main">
            <a:r>
              <a:t>{"archive":"RADIOLARIA_LANDSLIDE_SENTINEL_LS2_RETURN_20260915T005304Z.tar.gz","archive_sha256":"c26ec2bad672071ba05ef597b5c64e5f00f8d5cc83da37f4d8c7b057ed526ef9","member":"runs/20260914T233825758862Z/pending_True/result.json","bytes":102238,"sha256":"5f12d1bc76e70de7f9d5a72dcbf784dcf14d0104b61464fcc5dcecb4b051aacc"}</a:t>
            </a:r>
          </a:p>
          <a:p xmlns:a="http://schemas.openxmlformats.org/drawingml/2006/main">
            <a:r>
              <a:t>{"archive":"RADIOLARIA_LANDSLIDE_SENTINEL_LS2_RETURN_20260915T005304Z.tar.gz","archive_sha256":"c26ec2bad672071ba05ef597b5c64e5f00f8d5cc83da37f4d8c7b057ed526ef9","member":"runs/20260914T235214994572Z/pending_False/result.json","bytes":102237,"sha256":"32def85b08c3c09e77ea61dc65e8463596843bfa1e0e5219c928c7cb472b626f"}</a:t>
            </a:r>
          </a:p>
          <a:p xmlns:a="http://schemas.openxmlformats.org/drawingml/2006/main">
            <a:r>
              <a:t>{"archive":"RADIOLARIA_LANDSLIDE_SENTINEL_LS2_RETURN_20260915T005304Z.tar.gz","archive_sha256":"c26ec2bad672071ba05ef597b5c64e5f00f8d5cc83da37f4d8c7b057ed526ef9","member":"runs/20260914T235214994572Z/pending_True/result.json","bytes":102237,"sha256":"56287931a815bdbb4af873c0d1a81f25550a6c9c190e31f3105dd4c4a8022bd8"}</a:t>
            </a:r>
          </a:p>
          <a:p xmlns:a="http://schemas.openxmlformats.org/drawingml/2006/main">
            <a:r>
              <a:t>{"archive":"RADIOLARIA_LANDSLIDE_SENTINEL_LS2_RETURN_20260915T005304Z.tar.gz","archive_sha256":"c26ec2bad672071ba05ef597b5c64e5f00f8d5cc83da37f4d8c7b057ed526ef9","member":"runs/20260915T001201754409Z/pending_False/result.json","bytes":102237,"sha256":"c073881884bebde05c90e892857d56ebb8f8202f912ec2dc8cc4a06458260682"}</a:t>
            </a:r>
          </a:p>
          <a:p xmlns:a="http://schemas.openxmlformats.org/drawingml/2006/main">
            <a:r>
              <a:t>{"archive":"RADIOLARIA_LANDSLIDE_SENTINEL_LS2_RETURN_20260915T005304Z.tar.gz","archive_sha256":"c26ec2bad672071ba05ef597b5c64e5f00f8d5cc83da37f4d8c7b057ed526ef9","member":"runs/20260915T001201754409Z/pending_True/result.json","bytes":102235,"sha256":"68ad97906e57019a2afc9fdaee9589cff4d6a5255226dd176c708e41ef7e51b8"}</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2_RETURN_20260915T005304Z.tar.gz","archive_sha256":"c26ec2bad672071ba05ef597b5c64e5f00f8d5cc83da37f4d8c7b057ed526ef9","member":"runs/20260914T233501115920Z/r1/result.json","bytes":109684,"sha256":"b6943a540a39214debc753b28215a37a24904465129b82f18d5953ed87ec2916"}</a:t>
            </a:r>
          </a:p>
          <a:p xmlns:a="http://schemas.openxmlformats.org/drawingml/2006/main">
            <a:r>
              <a:t>{"archive":"RADIOLARIA_LANDSLIDE_SENTINEL_LS2_RETURN_20260915T005304Z.tar.gz","archive_sha256":"c26ec2bad672071ba05ef597b5c64e5f00f8d5cc83da37f4d8c7b057ed526ef9","member":"runs/20260914T233825758862Z/r1/result.json","bytes":112258,"sha256":"c8690dec95642850bbe383a846d5617e577ce2fae512a435b04b342a843d79b3"}</a:t>
            </a:r>
          </a:p>
          <a:p xmlns:a="http://schemas.openxmlformats.org/drawingml/2006/main">
            <a:r>
              <a:t>{"archive":"RADIOLARIA_LANDSLIDE_SENTINEL_LS2_RETURN_20260915T005304Z.tar.gz","archive_sha256":"c26ec2bad672071ba05ef597b5c64e5f00f8d5cc83da37f4d8c7b057ed526ef9","member":"runs/20260914T235214994572Z/r1/result.json","bytes":112258,"sha256":"62b307916657f580254b4de991b8de7cc441cd660ae55405d8ce9d0d97919651"}</a:t>
            </a:r>
          </a:p>
          <a:p xmlns:a="http://schemas.openxmlformats.org/drawingml/2006/main">
            <a:r>
              <a:t>{"archive":"RADIOLARIA_LANDSLIDE_SENTINEL_LS2_RETURN_20260915T005304Z.tar.gz","archive_sha256":"c26ec2bad672071ba05ef597b5c64e5f00f8d5cc83da37f4d8c7b057ed526ef9","member":"runs/20260914T235600945652Z/r1/result.json","bytes":112258,"sha256":"51beb8f95b03803c921711aaf17b77b83faefe7cbaa4e93be24625eb31045cb1"}</a:t>
            </a:r>
          </a:p>
          <a:p xmlns:a="http://schemas.openxmlformats.org/drawingml/2006/main">
            <a:r>
              <a:t>{"archive":"RADIOLARIA_LANDSLIDE_SENTINEL_LS2_RETURN_20260915T005304Z.tar.gz","archive_sha256":"c26ec2bad672071ba05ef597b5c64e5f00f8d5cc83da37f4d8c7b057ed526ef9","member":"runs/20260915T001201754409Z/r1/result.json","bytes":112258,"sha256":"f4450a91d4f2f64c01b36b05c08701e8e2f0a549147e72dfe7352a19da6d7b12"}</a:t>
            </a:r>
          </a:p>
          <a:p xmlns:a="http://schemas.openxmlformats.org/drawingml/2006/main">
            <a:r>
              <a:t>{"archive":"RADIOLARIA_LANDSLIDE_SENTINEL_LS2_RETURN_20260915T005304Z.tar.gz","archive_sha256":"c26ec2bad672071ba05ef597b5c64e5f00f8d5cc83da37f4d8c7b057ed526ef9","member":"runs/20260915T001421055364Z/story/clearance.json","bytes":33735,"sha256":"a9488e6859e8ddfdaf9a33333e04252069806cbbb0047c80ee2e6e0c1703c5bd"}</a:t>
            </a:r>
          </a:p>
          <a:p xmlns:a="http://schemas.openxmlformats.org/drawingml/2006/main">
            <a:r>
              <a:t>{"archive":"RADIOLARIA_LANDSLIDE_SENTINEL_LS2_RETURN_20260915T005304Z.tar.gz","archive_sha256":"c26ec2bad672071ba05ef597b5c64e5f00f8d5cc83da37f4d8c7b057ed526ef9","member":"held_out_execution_03/HO03-R1.json","bytes":83668,"sha256":"81930e51c0a7e333a4bf88f689c4867881fb6b9916d22c91c0605e25ef419ef5"}</a:t>
            </a:r>
          </a:p>
          <a:p xmlns:a="http://schemas.openxmlformats.org/drawingml/2006/main">
            <a:r>
              <a:t>{"archive":"RADIOLARIA_LANDSLIDE_SENTINEL_LS2_RETURN_20260915T005304Z.tar.gz","archive_sha256":"c26ec2bad672071ba05ef597b5c64e5f00f8d5cc83da37f4d8c7b057ed526ef9","member":"runs/20260914T233825758862Z/c08/result.json","bytes":50380,"sha256":"75063388f06627e2bf17a9f0d6536bd6776e68e4e7145a5a1d57212a5365fa1d"}</a:t>
            </a:r>
          </a:p>
          <a:p xmlns:a="http://schemas.openxmlformats.org/drawingml/2006/main">
            <a:r>
              <a:t>{"archive":"RADIOLARIA_LANDSLIDE_SENTINEL_LS2_RETURN_20260915T005304Z.tar.gz","archive_sha256":"c26ec2bad672071ba05ef597b5c64e5f00f8d5cc83da37f4d8c7b057ed526ef9","member":"runs/20260914T235214994572Z/c08/result.json","bytes":50380,"sha256":"cb10ba795926a2cbc08ea4526617dd0dbe0930443309fcae291e4cfbfc165bdc"}</a:t>
            </a:r>
          </a:p>
          <a:p xmlns:a="http://schemas.openxmlformats.org/drawingml/2006/main">
            <a:r>
              <a:t>{"archive":"RADIOLARIA_LANDSLIDE_SENTINEL_LS2_RETURN_20260915T005304Z.tar.gz","archive_sha256":"c26ec2bad672071ba05ef597b5c64e5f00f8d5cc83da37f4d8c7b057ed526ef9","member":"runs/20260915T001201754409Z/c08/result.json","bytes":50380,"sha256":"265fdd18dd58016345721d1e9c6e8371c28df4836acbe0e62e6657996e0cbbb6"}</a:t>
            </a:r>
          </a:p>
          <a:p xmlns:a="http://schemas.openxmlformats.org/drawingml/2006/main">
            <a:r>
              <a:t>{"archive":"RADIOLARIA_LANDSLIDE_SENTINEL_LS2_RETURN_20260915T005304Z.tar.gz","archive_sha256":"c26ec2bad672071ba05ef597b5c64e5f00f8d5cc83da37f4d8c7b057ed526ef9","member":"runs/20260914T233825758862Z/pending_False/result.json","bytes":102238,"sha256":"0b0e241fb1584288e1b6c9372f6693a9786e47426a0fe5ee5a80d59b1b7f4c8e"}</a:t>
            </a:r>
          </a:p>
          <a:p xmlns:a="http://schemas.openxmlformats.org/drawingml/2006/main">
            <a:r>
              <a:t>{"archive":"RADIOLARIA_LANDSLIDE_SENTINEL_LS2_RETURN_20260915T005304Z.tar.gz","archive_sha256":"c26ec2bad672071ba05ef597b5c64e5f00f8d5cc83da37f4d8c7b057ed526ef9","member":"runs/20260914T233825758862Z/pending_True/result.json","bytes":102238,"sha256":"5f12d1bc76e70de7f9d5a72dcbf784dcf14d0104b61464fcc5dcecb4b051aacc"}</a:t>
            </a:r>
          </a:p>
          <a:p xmlns:a="http://schemas.openxmlformats.org/drawingml/2006/main">
            <a:r>
              <a:t>{"archive":"RADIOLARIA_LANDSLIDE_SENTINEL_LS2_RETURN_20260915T005304Z.tar.gz","archive_sha256":"c26ec2bad672071ba05ef597b5c64e5f00f8d5cc83da37f4d8c7b057ed526ef9","member":"runs/20260914T235214994572Z/pending_False/result.json","bytes":102237,"sha256":"32def85b08c3c09e77ea61dc65e8463596843bfa1e0e5219c928c7cb472b626f"}</a:t>
            </a:r>
          </a:p>
          <a:p xmlns:a="http://schemas.openxmlformats.org/drawingml/2006/main">
            <a:r>
              <a:t>{"archive":"RADIOLARIA_LANDSLIDE_SENTINEL_LS2_RETURN_20260915T005304Z.tar.gz","archive_sha256":"c26ec2bad672071ba05ef597b5c64e5f00f8d5cc83da37f4d8c7b057ed526ef9","member":"runs/20260914T235214994572Z/pending_True/result.json","bytes":102237,"sha256":"56287931a815bdbb4af873c0d1a81f25550a6c9c190e31f3105dd4c4a8022bd8"}</a:t>
            </a:r>
          </a:p>
          <a:p xmlns:a="http://schemas.openxmlformats.org/drawingml/2006/main">
            <a:r>
              <a:t>{"archive":"RADIOLARIA_LANDSLIDE_SENTINEL_LS2_RETURN_20260915T005304Z.tar.gz","archive_sha256":"c26ec2bad672071ba05ef597b5c64e5f00f8d5cc83da37f4d8c7b057ed526ef9","member":"runs/20260915T001201754409Z/pending_False/result.json","bytes":102237,"sha256":"c073881884bebde05c90e892857d56ebb8f8202f912ec2dc8cc4a06458260682"}</a:t>
            </a:r>
          </a:p>
          <a:p xmlns:a="http://schemas.openxmlformats.org/drawingml/2006/main">
            <a:r>
              <a:t>{"archive":"RADIOLARIA_LANDSLIDE_SENTINEL_LS2_RETURN_20260915T005304Z.tar.gz","archive_sha256":"c26ec2bad672071ba05ef597b5c64e5f00f8d5cc83da37f4d8c7b057ed526ef9","member":"runs/20260915T001201754409Z/pending_True/result.json","bytes":102235,"sha256":"68ad97906e57019a2afc9fdaee9589cff4d6a5255226dd176c708e41ef7e51b8"}</a:t>
            </a:r>
          </a:p>
          <a:p xmlns:a="http://schemas.openxmlformats.org/drawingml/2006/main">
            <a:r>
              <a:t>{"archive":"RADIOLARIA_LANDSLIDE_SENTINEL_LS2_RETURN_20260915T005304Z.tar.gz","archive_sha256":"c26ec2bad672071ba05ef597b5c64e5f00f8d5cc83da37f4d8c7b057ed526ef9","member":"runs/20260915T000651618300Z/expired/result.json","bytes":264,"sha256":"77176757e4dcf05f7d7ddd1eeae50874d618fecc4de509222b9eeea2a4ba8ef6"}</a:t>
            </a:r>
          </a:p>
          <a:p xmlns:a="http://schemas.openxmlformats.org/drawingml/2006/main">
            <a:r>
              <a:t>{"archive":"RADIOLARIA_LANDSLIDE_SENTINEL_LS2_RETURN_20260915T005304Z.tar.gz","archive_sha256":"c26ec2bad672071ba05ef597b5c64e5f00f8d5cc83da37f4d8c7b057ed526ef9","member":"runs/20260915T001201754409Z/expired/result.json","bytes":264,"sha256":"025a6146aa3ddde4a128c970be4da470590a707037c6d5357cd40ca064b1229a"}</a:t>
            </a:r>
          </a:p>
          <a:p xmlns:a="http://schemas.openxmlformats.org/drawingml/2006/main">
            <a:r>
              <a:t>{"archive":"RADIOLARIA_LANDSLIDE_SENTINEL_LS2_RETURN_20260915T005304Z.tar.gz","archive_sha256":"c26ec2bad672071ba05ef597b5c64e5f00f8d5cc83da37f4d8c7b057ed526ef9","member":"runs/20260915T001421055364Z/story/effects.json","bytes":168878,"sha256":"d9ceab125538b2605175ed7cb736505ce2e611e49fc50d84b0c458cb82885387"}</a:t>
            </a:r>
          </a:p>
          <a:p xmlns:a="http://schemas.openxmlformats.org/drawingml/2006/main">
            <a:r>
              <a:t>{"archive":"RADIOLARIA_LANDSLIDE_SENTINEL_LS2_RETURN_20260915T005304Z.tar.gz","archive_sha256":"c26ec2bad672071ba05ef597b5c64e5f00f8d5cc83da37f4d8c7b057ed526ef9","member":"runs/20260914T233952354313Z/memory/result.json","bytes":61859,"sha256":"c0406804bd5635b255ac5a942848c00ca257a3e1f831cb57f6f7ce6f79843ac3"}</a:t>
            </a:r>
          </a:p>
          <a:p xmlns:a="http://schemas.openxmlformats.org/drawingml/2006/main">
            <a:r>
              <a:t>{"archive":"RADIOLARIA_LANDSLIDE_SENTINEL_LS2_RETURN_20260915T005304Z.tar.gz","archive_sha256":"c26ec2bad672071ba05ef597b5c64e5f00f8d5cc83da37f4d8c7b057ed526ef9","member":"runs/20260914T235214994572Z/memory/result.json","bytes":62039,"sha256":"d191d461b457aec24d7b5b6aca62369bfb9ad5b6ff892fdfbb5e20588d03ace2"}</a:t>
            </a:r>
          </a:p>
          <a:p xmlns:a="http://schemas.openxmlformats.org/drawingml/2006/main">
            <a:r>
              <a:t>{"archive":"RADIOLARIA_LANDSLIDE_SENTINEL_LS2_RETURN_20260915T005304Z.tar.gz","archive_sha256":"c26ec2bad672071ba05ef597b5c64e5f00f8d5cc83da37f4d8c7b057ed526ef9","member":"runs/20260914T235600945652Z/memory/result.json","bytes":62039,"sha256":"1250efeb6f5aa1d7b4823bde0b7155373717f7de541cde0c5dab9e2ee1e72420"}</a:t>
            </a:r>
          </a:p>
          <a:p xmlns:a="http://schemas.openxmlformats.org/drawingml/2006/main">
            <a:r>
              <a:t>{"archive":"RADIOLARIA_LANDSLIDE_SENTINEL_LS2_RETURN_20260915T005304Z.tar.gz","archive_sha256":"c26ec2bad672071ba05ef597b5c64e5f00f8d5cc83da37f4d8c7b057ed526ef9","member":"runs/20260915T001201754409Z/memory/result.json","bytes":62039,"sha256":"0f7668c3d454325b4b185273be34ceb529495d559ac4d64864638dfdb186d1f0"}</a:t>
            </a:r>
          </a:p>
          <a:p xmlns:a="http://schemas.openxmlformats.org/drawingml/2006/main">
            <a:r>
              <a:t>{"archive":"RADIOLARIA_LANDSLIDE_SENTINEL_LS2_RETURN_20260915T005304Z.tar.gz","archive_sha256":"c26ec2bad672071ba05ef597b5c64e5f00f8d5cc83da37f4d8c7b057ed526ef9","member":"held_out_execution_03/HO03-S1.json","bytes":244808,"sha256":"8e5b8eca8c1bdbeba8e5ad6b7f09959719dcfe958720ab7eaf6da758f55d8c58"}</a:t>
            </a:r>
          </a:p>
          <a:p xmlns:a="http://schemas.openxmlformats.org/drawingml/2006/main">
            <a:r>
              <a:t>{"archive":"RADIOLARIA_LANDSLIDE_SENTINEL_LS2_RETURN_20260915T005304Z.tar.gz","archive_sha256":"c26ec2bad672071ba05ef597b5c64e5f00f8d5cc83da37f4d8c7b057ed526ef9","member":"runs/20260915T001421055364Z/story/logs/delta_causal_material.json","bytes":689870,"sha256":"69810716530c4faaa54a9303590a5401e5d2801ab7bd362edfdc1f80da23f3c6"}</a:t>
            </a:r>
          </a:p>
          <a:p xmlns:a="http://schemas.openxmlformats.org/drawingml/2006/main">
            <a:r>
              <a:t/>
            </a:r>
          </a:p>
          <a:p xmlns:a="http://schemas.openxmlformats.org/drawingml/2006/main">
            <a:r>
              <a:t>Claim identifiers: C06, C07, C08, C09, C10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public three-file package consists of projection.json, manifest.json and publication.json. It covers only the enumerated LS2R2 safe-derived fields. It does not anchor the entire S0-S5 history, all C01-C10 cases, earlier E or EA acquisition. Those claims are linked through a separately identified source-bound index. The original package keeps its EVIDENCE_ONLY, TEST_SUPPLIED_PIN and PENDING_REVIEW labels; later independent lead review and detached verification are separate records. Public presentation assets do not silently become members of the old seal. The landed showcase excludes raw provider captures. The new reader separately includes reviewed bounded synthetic inputs and exact structured outputs, with explicit provenance and no credential or private-environment dump. A self-contained LLM reader can include safe explanation, exact public evidence, code and clearly labelled derived historical summaries without impersonating private original evidence.</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Supplementary slide text:</a:t>
            </a:r>
          </a:p>
          <a:p xmlns:a="http://schemas.openxmlformats.org/drawingml/2006/main">
            <a:r>
              <a:t>Public safe package: exact LS2R2 fields in a frozen projection, manifest and publication.</a:t>
            </a:r>
          </a:p>
          <a:p xmlns:a="http://schemas.openxmlformats.org/drawingml/2006/main">
            <a:r>
              <a:t>Whole-story claim map: source archive/member/hash links with historical scope.</a:t>
            </a:r>
          </a:p>
          <a:p xmlns:a="http://schemas.openxmlformats.org/drawingml/2006/main">
            <a:r>
              <a:t>Presentation and XML: new explanatory derivatives with their own identities.</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verifier reopens the package and receives the expected anchor externally. The accepted pin is 7b91c496521e11c69fab9ea89a576474d37dbcb93c494b58a93269884fffb9b8. Genuine safe-derived replay passes; wrong-pin, changed-byte and coherent causal-link substitution controls are refused. Instrumented named boundaries record no new model, sensor or consequential effect calls during replay. The public wrapper uses an existing interpreter and dependencies and performs no installation. ANCHORED_PASS means the exact supported derivative is consistent with the independently supplied identity. It does not certify a sensor, authenticate a human signer, establish a trusted timestamp, reconstruct a live Host, create action permission or canonically replay unsupported historical native graphs.</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Latest LS2R2 live stage: 205.701933 seconds, including one common D of 100.552787 seconds and five Gemini calls totalling 67.423857 seconds. A distinct earlier LS2R current-policy experiment takes 381.194265 seconds, including common D 99.504709, common E 242.586459, supplied D 11.892811 and supplied E 13.105713. These timings overlap within their respective stages and must not be summed into one mega-run. The stage is not the coding assistant's wall-clock completion time. No per-reading LLM call, full D/E per sensor event or certified deadline is asserted. The finite local pending-provider path is separately demonstrated by ordering, not by borrowing the D/E duration as an alarm-response measurement.</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RADIOLARIA_LANDSLIDE_SENTINEL_LS2R_RETURN_20260915T021418Z.tar.gz :: configuration_01/actual_policy_E_result.json :: SHA256 279e7785a0f4eb0e9514a8684dc30d5328762f516999551c44e2cc5454a1ea11</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R_RETURN_20260915T021418Z.tar.gz","archive_sha256":"96a3e7fc1d959fd959433413681e6d91ed9b9799e31cb765db3bd00d6d24f45e","member":"configuration_01/actual_policy_E_result.json","bytes":39331,"sha256":"279e7785a0f4eb0e9514a8684dc30d5328762f516999551c44e2cc5454a1ea11"}</a:t>
            </a:r>
          </a:p>
          <a:p xmlns:a="http://schemas.openxmlformats.org/drawingml/2006/main">
            <a:r>
              <a:t/>
            </a:r>
          </a:p>
          <a:p xmlns:a="http://schemas.openxmlformats.org/drawingml/2006/main">
            <a:r>
              <a:t>Claim identifiers: THREE_LIVE_ROLES, CURRENT_POLICY_E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landing commit is 2f328be634247be11bc18a3b22a919f393d6ed1d. The owner return records ordinary push, matching remote branch and clean working tree. The two setup-alignment tests were corrected for the accepted investigation/time rules; their actual new checks remain separate from prior runtime evidence. The admission matrix preserves nine existing Living registrations and uses the established release binder rather than inventing a tenth authority or new Gate. No fresh Gemini, D/E or EA run was required merely to publish accepted source. The presentation is a subsequent documentation/artifact operation and must not rewrite the frozen accepted evidence. Source acceptance for this synthetic demonstration does not amount to scientific certification or physical deployment readiness.</a:t>
            </a:r>
          </a:p>
          <a:p xmlns:a="http://schemas.openxmlformats.org/drawingml/2006/main">
            <a:r>
              <a:t/>
            </a:r>
          </a:p>
          <a:p xmlns:a="http://schemas.openxmlformats.org/drawingml/2006/main">
            <a:r>
              <a:t>Landing details: final admitted state SENTINEL_IMPLEMENTATION_ADMITTED_COMMITTED. The 46 landed postimages plus 1,015 protected base files produce 1,061 final tracked entries. Two aligned tests passed in 11.82 seconds; the final three guard/release checks took 72.92 seconds; one Living-registry check took 7.37 seconds and retained exactly nine registrations. Across retained landing executions there are nine successful CALLs over six distinct test functions, not a single nine-test suite. Owner replay took 0.399 seconds and reported ANCHORED_PASS with zero new named execution calls. These are read from the detached landing return, not new executions for this presentation.</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Supplementary slide text:</a:t>
            </a:r>
          </a:p>
          <a:p xmlns:a="http://schemas.openxmlformats.org/drawingml/2006/main">
            <a:r>
              <a:t>46 landed files; 1,015 protected base files preserved.</a:t>
            </a:r>
          </a:p>
          <a:p xmlns:a="http://schemas.openxmlformats.org/drawingml/2006/main">
            <a:r>
              <a:t>Admission, 9 Living registrations, release binder and replay passed.</a:t>
            </a:r>
          </a:p>
          <a:p xmlns:a="http://schemas.openxmlformats.org/drawingml/2006/main">
            <a:r>
              <a:t>Source commit 2f328be; ordinary push; clean owner tree.</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evidence establishes a bounded demonstration of local continuation, meaningful interchangeable reasoning contributions, current-source and current-policy consumption, measured recovery, immutable reporting, scoped memory reuse and independently inspectable safe evidence. It does not establish physical landslide prediction, a calibrated gauge-to-slope model, installed local SLM performance, distributed exactly-once reporting, a production latency SLA or universal native replay. These are explicit claim boundaries rather than hidden qualifications. The reusable architectural point is that a domain adapter and finite investigations can use the same common semantic, Work and authority spine; the final decision remains local even when useful intelligence is optional, delayed or replaced.</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semantic_completion.json :: SHA256 4f534cbc0910639c38236386747fcaa0e99844371e9c36cfd22690cb966c8231</a:t>
            </a:r>
          </a:p>
          <a:p xmlns:a="http://schemas.openxmlformats.org/drawingml/2006/main">
            <a:r>
              <a:t>RADIOLARIA_LANDSLIDE_SENTINEL_LS2_RETURN_20260915T005304Z.tar.gz :: runs/20260914T233825758862Z/pending_False/result.json :: SHA256 0b0e241fb1584288e1b6c9372f6693a9786e47426a0fe5ee5a80d59b1b7f4c8e</a:t>
            </a:r>
          </a:p>
          <a:p xmlns:a="http://schemas.openxmlformats.org/drawingml/2006/main">
            <a:r>
              <a:t>RADIOLARIA_LANDSLIDE_SENTINEL_LS2_RETURN_20260915T005304Z.tar.gz :: runs/20260914T233825758862Z/pending_True/result.json :: SHA256 5f12d1bc76e70de7f9d5a72dcbf784dcf14d0104b61464fcc5dcecb4b051aacc</a:t>
            </a:r>
          </a:p>
          <a:p xmlns:a="http://schemas.openxmlformats.org/drawingml/2006/main">
            <a:r>
              <a:t>RADIOLARIA_LANDSLIDE_SENTINEL_LS2_RETURN_20260915T005304Z.tar.gz :: runs/20260914T235214994572Z/pending_False/result.json :: SHA256 32def85b08c3c09e77ea61dc65e8463596843bfa1e0e5219c928c7cb472b626f</a:t>
            </a:r>
          </a:p>
          <a:p xmlns:a="http://schemas.openxmlformats.org/drawingml/2006/main">
            <a:r>
              <a:t>RADIOLARIA_LANDSLIDE_SENTINEL_LS2_RETURN_20260915T005304Z.tar.gz :: runs/20260914T235214994572Z/pending_True/result.json :: SHA256 56287931a815bdbb4af873c0d1a81f25550a6c9c190e31f3105dd4c4a8022bd8</a:t>
            </a:r>
          </a:p>
          <a:p xmlns:a="http://schemas.openxmlformats.org/drawingml/2006/main">
            <a:r>
              <a:t>RADIOLARIA_LANDSLIDE_SENTINEL_LS2_RETURN_20260915T005304Z.tar.gz :: runs/20260915T001201754409Z/pending_False/result.json :: SHA256 c073881884bebde05c90e892857d56ebb8f8202f912ec2dc8cc4a06458260682</a:t>
            </a:r>
          </a:p>
          <a:p xmlns:a="http://schemas.openxmlformats.org/drawingml/2006/main">
            <a:r>
              <a:t>RADIOLARIA_LANDSLIDE_SENTINEL_LS2_RETURN_20260915T005304Z.tar.gz :: runs/20260915T001201754409Z/pending_True/result.json :: SHA256 68ad97906e57019a2afc9fdaee9589cff4d6a5255226dd176c708e41ef7e51b8</a:t>
            </a:r>
          </a:p>
          <a:p xmlns:a="http://schemas.openxmlformats.org/drawingml/2006/main">
            <a:r>
              <a:t>RADIOLARIA_LANDSLIDE_SENTINEL_LS2_RETURN_20260915T005304Z.tar.gz :: runs/20260915T001421055364Z/story/story.json :: SHA256 1baace288320533fd056eedc76f41e7ae8e0554b766d734aa74075d2dccc7b5b</a:t>
            </a:r>
          </a:p>
          <a:p xmlns:a="http://schemas.openxmlformats.org/drawingml/2006/main">
            <a:r>
              <a:t>RADIOLARIA_LANDSLIDE_SENTINEL_LS2_RETURN_20260915T005304Z.tar.gz :: runs/20260914T233501115920Z/r1/result.json :: SHA256 b6943a540a39214debc753b28215a37a24904465129b82f18d5953ed87ec2916</a:t>
            </a:r>
          </a:p>
          <a:p xmlns:a="http://schemas.openxmlformats.org/drawingml/2006/main">
            <a:r>
              <a:t>RADIOLARIA_LANDSLIDE_SENTINEL_LS2_RETURN_20260915T005304Z.tar.gz :: runs/20260914T233825758862Z/r1/result.json :: SHA256 c8690dec95642850bbe383a846d5617e577ce2fae512a435b04b342a843d79b3</a:t>
            </a:r>
          </a:p>
          <a:p xmlns:a="http://schemas.openxmlformats.org/drawingml/2006/main">
            <a:r>
              <a:t>RADIOLARIA_LANDSLIDE_SENTINEL_LS2_RETURN_20260915T005304Z.tar.gz :: runs/20260914T235214994572Z/r1/result.json :: SHA256 62b307916657f580254b4de991b8de7cc441cd660ae55405d8ce9d0d97919651</a:t>
            </a:r>
          </a:p>
          <a:p xmlns:a="http://schemas.openxmlformats.org/drawingml/2006/main">
            <a:r>
              <a:t>RADIOLARIA_LANDSLIDE_SENTINEL_LS2_RETURN_20260915T005304Z.tar.gz :: runs/20260914T235600945652Z/r1/result.json :: SHA256 51beb8f95b03803c921711aaf17b77b83faefe7cbaa4e93be24625eb31045cb1</a:t>
            </a:r>
          </a:p>
          <a:p xmlns:a="http://schemas.openxmlformats.org/drawingml/2006/main">
            <a:r>
              <a:t>RADIOLARIA_LANDSLIDE_SENTINEL_LS2_RETURN_20260915T005304Z.tar.gz :: runs/20260915T001201754409Z/r1/result.json :: SHA256 f4450a91d4f2f64c01b36b05c08701e8e2f0a549147e72dfe7352a19da6d7b12</a:t>
            </a:r>
          </a:p>
          <a:p xmlns:a="http://schemas.openxmlformats.org/drawingml/2006/main">
            <a:r>
              <a:t>RADIOLARIA_LANDSLIDE_SENTINEL_LS2_RETURN_20260915T005304Z.tar.gz :: runs/20260915T001421055364Z/story/clearance.json :: SHA256 a9488e6859e8ddfdaf9a33333e04252069806cbbb0047c80ee2e6e0c1703c5bd</a:t>
            </a:r>
          </a:p>
          <a:p xmlns:a="http://schemas.openxmlformats.org/drawingml/2006/main">
            <a:r>
              <a:t>RADIOLARIA_LANDSLIDE_SENTINEL_LS2_RETURN_20260915T005304Z.tar.gz :: held_out_execution_03/HO03-R1.json :: SHA256 81930e51c0a7e333a4bf88f689c4867881fb6b9916d22c91c0605e25ef419ef5</a:t>
            </a:r>
          </a:p>
          <a:p xmlns:a="http://schemas.openxmlformats.org/drawingml/2006/main">
            <a:r>
              <a:t>RADIOLARIA_LANDSLIDE_SENTINEL_LS2R2_RETURN_20260915T061539Z.tar.gz :: live_01/profile_provenance.json :: SHA256 b0780bcf62bdefd686ab1463701aa6f518bff7cc4aaaa7d66cbecbde362359cf</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Supplementary slide text:</a:t>
            </a:r>
          </a:p>
          <a:p xmlns:a="http://schemas.openxmlformats.org/drawingml/2006/main">
            <a:r>
              <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semantic_completion.json","bytes":16760,"sha256":"4f534cbc0910639c38236386747fcaa0e99844371e9c36cfd22690cb966c8231"}</a:t>
            </a:r>
          </a:p>
          <a:p xmlns:a="http://schemas.openxmlformats.org/drawingml/2006/main">
            <a:r>
              <a:t>{"archive":"RADIOLARIA_LANDSLIDE_SENTINEL_LS2_RETURN_20260915T005304Z.tar.gz","archive_sha256":"c26ec2bad672071ba05ef597b5c64e5f00f8d5cc83da37f4d8c7b057ed526ef9","member":"runs/20260914T233825758862Z/pending_False/result.json","bytes":102238,"sha256":"0b0e241fb1584288e1b6c9372f6693a9786e47426a0fe5ee5a80d59b1b7f4c8e"}</a:t>
            </a:r>
          </a:p>
          <a:p xmlns:a="http://schemas.openxmlformats.org/drawingml/2006/main">
            <a:r>
              <a:t>{"archive":"RADIOLARIA_LANDSLIDE_SENTINEL_LS2_RETURN_20260915T005304Z.tar.gz","archive_sha256":"c26ec2bad672071ba05ef597b5c64e5f00f8d5cc83da37f4d8c7b057ed526ef9","member":"runs/20260914T233825758862Z/pending_True/result.json","bytes":102238,"sha256":"5f12d1bc76e70de7f9d5a72dcbf784dcf14d0104b61464fcc5dcecb4b051aacc"}</a:t>
            </a:r>
          </a:p>
          <a:p xmlns:a="http://schemas.openxmlformats.org/drawingml/2006/main">
            <a:r>
              <a:t>{"archive":"RADIOLARIA_LANDSLIDE_SENTINEL_LS2_RETURN_20260915T005304Z.tar.gz","archive_sha256":"c26ec2bad672071ba05ef597b5c64e5f00f8d5cc83da37f4d8c7b057ed526ef9","member":"runs/20260914T235214994572Z/pending_False/result.json","bytes":102237,"sha256":"32def85b08c3c09e77ea61dc65e8463596843bfa1e0e5219c928c7cb472b626f"}</a:t>
            </a:r>
          </a:p>
          <a:p xmlns:a="http://schemas.openxmlformats.org/drawingml/2006/main">
            <a:r>
              <a:t>{"archive":"RADIOLARIA_LANDSLIDE_SENTINEL_LS2_RETURN_20260915T005304Z.tar.gz","archive_sha256":"c26ec2bad672071ba05ef597b5c64e5f00f8d5cc83da37f4d8c7b057ed526ef9","member":"runs/20260914T235214994572Z/pending_True/result.json","bytes":102237,"sha256":"56287931a815bdbb4af873c0d1a81f25550a6c9c190e31f3105dd4c4a8022bd8"}</a:t>
            </a:r>
          </a:p>
          <a:p xmlns:a="http://schemas.openxmlformats.org/drawingml/2006/main">
            <a:r>
              <a:t>{"archive":"RADIOLARIA_LANDSLIDE_SENTINEL_LS2_RETURN_20260915T005304Z.tar.gz","archive_sha256":"c26ec2bad672071ba05ef597b5c64e5f00f8d5cc83da37f4d8c7b057ed526ef9","member":"runs/20260915T001201754409Z/pending_False/result.json","bytes":102237,"sha256":"c073881884bebde05c90e892857d56ebb8f8202f912ec2dc8cc4a06458260682"}</a:t>
            </a:r>
          </a:p>
          <a:p xmlns:a="http://schemas.openxmlformats.org/drawingml/2006/main">
            <a:r>
              <a:t>{"archive":"RADIOLARIA_LANDSLIDE_SENTINEL_LS2_RETURN_20260915T005304Z.tar.gz","archive_sha256":"c26ec2bad672071ba05ef597b5c64e5f00f8d5cc83da37f4d8c7b057ed526ef9","member":"runs/20260915T001201754409Z/pending_True/result.json","bytes":102235,"sha256":"68ad97906e57019a2afc9fdaee9589cff4d6a5255226dd176c708e41ef7e51b8"}</a:t>
            </a:r>
          </a:p>
          <a:p xmlns:a="http://schemas.openxmlformats.org/drawingml/2006/main">
            <a:r>
              <a:t>{"archive":"RADIOLARIA_LANDSLIDE_SENTINEL_LS2_RETURN_20260915T005304Z.tar.gz","archive_sha256":"c26ec2bad672071ba05ef597b5c64e5f00f8d5cc83da37f4d8c7b057ed526ef9","member":"runs/20260915T001421055364Z/story/story.json","bytes":20118,"sha256":"1baace288320533fd056eedc76f41e7ae8e0554b766d734aa74075d2dccc7b5b"}</a:t>
            </a:r>
          </a:p>
          <a:p xmlns:a="http://schemas.openxmlformats.org/drawingml/2006/main">
            <a:r>
              <a:t>{"archive":"RADIOLARIA_LANDSLIDE_SENTINEL_LS2_RETURN_20260915T005304Z.tar.gz","archive_sha256":"c26ec2bad672071ba05ef597b5c64e5f00f8d5cc83da37f4d8c7b057ed526ef9","member":"runs/20260914T233501115920Z/r1/result.json","bytes":109684,"sha256":"b6943a540a39214debc753b28215a37a24904465129b82f18d5953ed87ec2916"}</a:t>
            </a:r>
          </a:p>
          <a:p xmlns:a="http://schemas.openxmlformats.org/drawingml/2006/main">
            <a:r>
              <a:t>{"archive":"RADIOLARIA_LANDSLIDE_SENTINEL_LS2_RETURN_20260915T005304Z.tar.gz","archive_sha256":"c26ec2bad672071ba05ef597b5c64e5f00f8d5cc83da37f4d8c7b057ed526ef9","member":"runs/20260914T233825758862Z/r1/result.json","bytes":112258,"sha256":"c8690dec95642850bbe383a846d5617e577ce2fae512a435b04b342a843d79b3"}</a:t>
            </a:r>
          </a:p>
          <a:p xmlns:a="http://schemas.openxmlformats.org/drawingml/2006/main">
            <a:r>
              <a:t>{"archive":"RADIOLARIA_LANDSLIDE_SENTINEL_LS2_RETURN_20260915T005304Z.tar.gz","archive_sha256":"c26ec2bad672071ba05ef597b5c64e5f00f8d5cc83da37f4d8c7b057ed526ef9","member":"runs/20260914T235214994572Z/r1/result.json","bytes":112258,"sha256":"62b307916657f580254b4de991b8de7cc441cd660ae55405d8ce9d0d97919651"}</a:t>
            </a:r>
          </a:p>
          <a:p xmlns:a="http://schemas.openxmlformats.org/drawingml/2006/main">
            <a:r>
              <a:t>{"archive":"RADIOLARIA_LANDSLIDE_SENTINEL_LS2_RETURN_20260915T005304Z.tar.gz","archive_sha256":"c26ec2bad672071ba05ef597b5c64e5f00f8d5cc83da37f4d8c7b057ed526ef9","member":"runs/20260914T235600945652Z/r1/result.json","bytes":112258,"sha256":"51beb8f95b03803c921711aaf17b77b83faefe7cbaa4e93be24625eb31045cb1"}</a:t>
            </a:r>
          </a:p>
          <a:p xmlns:a="http://schemas.openxmlformats.org/drawingml/2006/main">
            <a:r>
              <a:t>{"archive":"RADIOLARIA_LANDSLIDE_SENTINEL_LS2_RETURN_20260915T005304Z.tar.gz","archive_sha256":"c26ec2bad672071ba05ef597b5c64e5f00f8d5cc83da37f4d8c7b057ed526ef9","member":"runs/20260915T001201754409Z/r1/result.json","bytes":112258,"sha256":"f4450a91d4f2f64c01b36b05c08701e8e2f0a549147e72dfe7352a19da6d7b12"}</a:t>
            </a:r>
          </a:p>
          <a:p xmlns:a="http://schemas.openxmlformats.org/drawingml/2006/main">
            <a:r>
              <a:t>{"archive":"RADIOLARIA_LANDSLIDE_SENTINEL_LS2_RETURN_20260915T005304Z.tar.gz","archive_sha256":"c26ec2bad672071ba05ef597b5c64e5f00f8d5cc83da37f4d8c7b057ed526ef9","member":"runs/20260915T001421055364Z/story/clearance.json","bytes":33735,"sha256":"a9488e6859e8ddfdaf9a33333e04252069806cbbb0047c80ee2e6e0c1703c5bd"}</a:t>
            </a:r>
          </a:p>
          <a:p xmlns:a="http://schemas.openxmlformats.org/drawingml/2006/main">
            <a:r>
              <a:t>{"archive":"RADIOLARIA_LANDSLIDE_SENTINEL_LS2_RETURN_20260915T005304Z.tar.gz","archive_sha256":"c26ec2bad672071ba05ef597b5c64e5f00f8d5cc83da37f4d8c7b057ed526ef9","member":"held_out_execution_03/HO03-R1.json","bytes":83668,"sha256":"81930e51c0a7e333a4bf88f689c4867881fb6b9916d22c91c0605e25ef419ef5"}</a:t>
            </a:r>
          </a:p>
          <a:p xmlns:a="http://schemas.openxmlformats.org/drawingml/2006/main">
            <a:r>
              <a:t>{"archive":"RADIOLARIA_LANDSLIDE_SENTINEL_LS2R2_RETURN_20260915T061539Z.tar.gz","archive_sha256":"07942bbe01b826307ea93329ec3bb70a4d7687254be140eed32d644fcae368fc","member":"live_01/profile_provenance.json","bytes":3817,"sha256":"b0780bcf62bdefd686ab1463701aa6f518bff7cc4aaaa7d66cbecbde362359cf"}</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THREE_LIVE_ROLES, C06, C07, TWO_NODE_PROFILES,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Landslide Sentinel is a new domain cell built on the existing Radiolaria OS boundaries. The demonstration shows why the separation matters: a model can select a useful investigation, a changed observation can force recomputation, a local task can proceed while optional context is delayed, and recovery can require fresh measured evidence. The final materials preserve the distinction between real live model transport, controlled physical-domain fixtures, historical external readings, current source admission and supported offline replay. The radiolarian returns as the visual motif for a new grown domain; it represents bounded composition, not a biological or physical proof. Read the technical appendix for full mechanisms and the XML reader for code and source-bound evidence in one inspectable document.</a:t>
            </a:r>
          </a:p>
          <a:p xmlns:a="http://schemas.openxmlformats.org/drawingml/2006/main">
            <a:r>
              <a:t/>
            </a:r>
          </a:p>
          <a:p xmlns:a="http://schemas.openxmlformats.org/drawingml/2006/main">
            <a:r>
              <a:t>Evidence references:</a:t>
            </a:r>
          </a:p>
          <a:p xmlns:a="http://schemas.openxmlformats.org/drawingml/2006/main">
            <a:r>
              <a:t>RADIOLARIA_LANDSLIDE_SENTINEL_LS2R2_RETURN_20260915T061539Z.tar.gz :: closure_matrix.json :: SHA256 694d6c82cfdca5526ac17f1aea930a8045e25df692fa6435648a75960b1ef538</a:t>
            </a:r>
          </a:p>
          <a:p xmlns:a="http://schemas.openxmlformats.org/drawingml/2006/main">
            <a:r>
              <a:t/>
            </a:r>
          </a:p>
          <a:p xmlns:a="http://schemas.openxmlformats.org/drawingml/2006/main">
            <a:r>
              <a:t>Approximately 12 hours of Sentinel implementation on the existing kernel — owner-reported elapsed time. The owner’s estimate covers implementation and checks reaching accepted commit/push. Earlier kernel/domain development is excluded; the complete duration and cost of prior research and specification are not established. Presentation preparation followed implementation and was interrupted by tool limits. This is neither an independently timed benchmark nor a comparison against another stack, a model-call duration, an alarm-response measurement or total research-and-development time.</a:t>
            </a:r>
          </a:p>
          <a:p xmlns:a="http://schemas.openxmlformats.org/drawingml/2006/main">
            <a:r>
              <a:t/>
            </a:r>
          </a:p>
          <a:p xmlns:a="http://schemas.openxmlformats.org/drawingml/2006/main">
            <a:r>
              <a:t/>
            </a:r>
          </a:p>
          <a:p xmlns:a="http://schemas.openxmlformats.org/drawingml/2006/main">
            <a:r>
              <a:t/>
            </a:r>
          </a:p>
          <a:p xmlns:a="http://schemas.openxmlformats.org/drawingml/2006/main">
            <a:r>
              <a:t>Supplementary slide text:</a:t>
            </a:r>
          </a:p>
          <a:p xmlns:a="http://schemas.openxmlformats.org/drawingml/2006/main">
            <a:r>
              <a:t>Published question -&gt; explicit requirement -&gt; executed example -&gt; evidence.</a:t>
            </a:r>
          </a:p>
          <a:p xmlns:a="http://schemas.openxmlformats.org/drawingml/2006/main">
            <a:r>
              <a:t>Approximately 12 hours on the existing kernel: owner-reported implementation time.</a:t>
            </a:r>
          </a:p>
          <a:p xmlns:a="http://schemas.openxmlformats.org/drawingml/2006/main">
            <a:r>
              <a:t>Human direction, prepared AI assistance and Codex. Prior kernel development is separate.</a:t>
            </a:r>
          </a:p>
          <a:p xmlns:a="http://schemas.openxmlformats.org/drawingml/2006/main">
            <a:r>
              <a:t/>
            </a:r>
          </a:p>
          <a:p xmlns:a="http://schemas.openxmlformats.org/drawingml/2006/main">
            <a:r>
              <a:t/>
            </a:r>
          </a:p>
          <a:p xmlns:a="http://schemas.openxmlformats.org/drawingml/2006/main">
            <a:r>
              <a:t>Source records:</a:t>
            </a:r>
          </a:p>
          <a:p xmlns:a="http://schemas.openxmlformats.org/drawingml/2006/main">
            <a:r>
              <a:t>{"archive":"RADIOLARIA_LANDSLIDE_SENTINEL_LS2R2_RETURN_20260915T061539Z.tar.gz","archive_sha256":"07942bbe01b826307ea93329ec3bb70a4d7687254be140eed32d644fcae368fc","member":"closure_matrix.json","bytes":1481,"sha256":"694d6c82cfdca5526ac17f1aea930a8045e25df692fa6435648a75960b1ef538"}</a:t>
            </a:r>
          </a:p>
          <a:p xmlns:a="http://schemas.openxmlformats.org/drawingml/2006/main">
            <a:r>
              <a:t/>
            </a:r>
          </a:p>
          <a:p xmlns:a="http://schemas.openxmlformats.org/drawingml/2006/main">
            <a:r>
              <a:t>Claim identifiers: LS2R2_SCOPE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3e469439964c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f9ca30e2b9f43f8" /><Relationship Type="http://schemas.openxmlformats.org/officeDocument/2006/relationships/slideLayout" Target="/ppt/slideLayouts/slideLayout1.xml" Id="R85e22a1c6d2643d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5e22a1c6d2643d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742a5b2435485e" /><Relationship Type="http://schemas.openxmlformats.org/officeDocument/2006/relationships/image" Target="/ppt/media/image.png" Id="R39053bfeddc441dd" /><Relationship Type="http://schemas.openxmlformats.org/officeDocument/2006/relationships/notesSlide" Target="/ppt/notesSlides/notesSlide1.xml" Id="R523ea452b5fd450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a2136ce2f4c4857" /><Relationship Type="http://schemas.openxmlformats.org/officeDocument/2006/relationships/notesSlide" Target="/ppt/notesSlides/notesSlide2.xml" Id="Re496a8cc707f40b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8fb20be29a4489c" /><Relationship Type="http://schemas.openxmlformats.org/officeDocument/2006/relationships/notesSlide" Target="/ppt/notesSlides/notesSlide3.xml" Id="Rb89b429c8c8f45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9f5a8fa93054252" /><Relationship Type="http://schemas.openxmlformats.org/officeDocument/2006/relationships/notesSlide" Target="/ppt/notesSlides/notesSlide4.xml" Id="R9af64ca1332f413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c44658d85b54ba9" /><Relationship Type="http://schemas.openxmlformats.org/officeDocument/2006/relationships/notesSlide" Target="/ppt/notesSlides/notesSlide5.xml" Id="R4a755f2449024b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eeceed022414462" /><Relationship Type="http://schemas.openxmlformats.org/officeDocument/2006/relationships/notesSlide" Target="/ppt/notesSlides/notesSlide6.xml" Id="R1dea46ca1c78464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399539c23bb4b7f" /><Relationship Type="http://schemas.openxmlformats.org/officeDocument/2006/relationships/notesSlide" Target="/ppt/notesSlides/notesSlide7.xml" Id="R14fa020b238c48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c2405e7424411e" /><Relationship Type="http://schemas.openxmlformats.org/officeDocument/2006/relationships/notesSlide" Target="/ppt/notesSlides/notesSlide8.xml" Id="Rd374d2c9eb9c467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4d82433c20d432f" /><Relationship Type="http://schemas.openxmlformats.org/officeDocument/2006/relationships/notesSlide" Target="/ppt/notesSlides/notesSlide9.xml" Id="R164f48dadbe54c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10afa6f903e4478" /><Relationship Type="http://schemas.openxmlformats.org/officeDocument/2006/relationships/notesSlide" Target="/ppt/notesSlides/notesSlide10.xml" Id="R99ed7fc3365d4c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7e2a4fe006b46cf" /><Relationship Type="http://schemas.openxmlformats.org/officeDocument/2006/relationships/notesSlide" Target="/ppt/notesSlides/notesSlide11.xml" Id="R21bea385240d44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59f936ae3214c99" /><Relationship Type="http://schemas.openxmlformats.org/officeDocument/2006/relationships/notesSlide" Target="/ppt/notesSlides/notesSlide12.xml" Id="Rfd66766c02624f2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44490a4d8614143" /><Relationship Type="http://schemas.openxmlformats.org/officeDocument/2006/relationships/notesSlide" Target="/ppt/notesSlides/notesSlide13.xml" Id="R25b4f02594cb46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a09ca7dab484dfc" /><Relationship Type="http://schemas.openxmlformats.org/officeDocument/2006/relationships/notesSlide" Target="/ppt/notesSlides/notesSlide14.xml" Id="R94b3d8efc0bf416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ee0c7bdb16c48a4" /><Relationship Type="http://schemas.openxmlformats.org/officeDocument/2006/relationships/notesSlide" Target="/ppt/notesSlides/notesSlide15.xml" Id="R8492acf519804c2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9357e99f4fa4d79" /><Relationship Type="http://schemas.openxmlformats.org/officeDocument/2006/relationships/chart" Target="/ppt/slides/charts/chart1.xml" Id="R88d9b3fbc07c4b50" /><Relationship Type="http://schemas.openxmlformats.org/officeDocument/2006/relationships/notesSlide" Target="/ppt/notesSlides/notesSlide16.xml" Id="R869f6e664503427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ed2292826e284da3" /><Relationship Type="http://schemas.openxmlformats.org/officeDocument/2006/relationships/notesSlide" Target="/ppt/notesSlides/notesSlide17.xml" Id="Rc37f502613504d2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c5479d7c93049b4" /><Relationship Type="http://schemas.openxmlformats.org/officeDocument/2006/relationships/notesSlide" Target="/ppt/notesSlides/notesSlide18.xml" Id="R3733c2986fbc496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556780abddb48aa" /><Relationship Type="http://schemas.openxmlformats.org/officeDocument/2006/relationships/notesSlide" Target="/ppt/notesSlides/notesSlide19.xml" Id="Ra59356b5abf04fd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057c4160987427c" /><Relationship Type="http://schemas.openxmlformats.org/officeDocument/2006/relationships/notesSlide" Target="/ppt/notesSlides/notesSlide20.xml" Id="Rec1066cf23ee482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d51fc1add48484b" /><Relationship Type="http://schemas.openxmlformats.org/officeDocument/2006/relationships/notesSlide" Target="/ppt/notesSlides/notesSlide21.xml" Id="R092e3ec481d8420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7caceeb9a4c4d40" /><Relationship Type="http://schemas.openxmlformats.org/officeDocument/2006/relationships/notesSlide" Target="/ppt/notesSlides/notesSlide22.xml" Id="Rfb3bf5a3b15b41f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ac2d150df62492e" /><Relationship Type="http://schemas.openxmlformats.org/officeDocument/2006/relationships/notesSlide" Target="/ppt/notesSlides/notesSlide23.xml" Id="Rec78afb137004c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c66547d4cdff4ac6" /><Relationship Type="http://schemas.openxmlformats.org/officeDocument/2006/relationships/notesSlide" Target="/ppt/notesSlides/notesSlide24.xml" Id="Rca2a25cc7653439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30c30115eb842bf" /><Relationship Type="http://schemas.openxmlformats.org/officeDocument/2006/relationships/notesSlide" Target="/ppt/notesSlides/notesSlide25.xml" Id="Rd9df6426a7af4f2c"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8620373b5074bfc" /><Relationship Type="http://schemas.openxmlformats.org/officeDocument/2006/relationships/notesSlide" Target="/ppt/notesSlides/notesSlide26.xml" Id="R1d0acd8f4a2a460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5642c1fca574512" /><Relationship Type="http://schemas.openxmlformats.org/officeDocument/2006/relationships/notesSlide" Target="/ppt/notesSlides/notesSlide27.xml" Id="R735e24e2536e405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56c1241cd644f4b" /><Relationship Type="http://schemas.openxmlformats.org/officeDocument/2006/relationships/notesSlide" Target="/ppt/notesSlides/notesSlide28.xml" Id="R51819eda2a74426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6f4201d66994e98" /><Relationship Type="http://schemas.openxmlformats.org/officeDocument/2006/relationships/notesSlide" Target="/ppt/notesSlides/notesSlide29.xml" Id="R3b4ccdc2a30943a3"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134d8eb497e47e7" /><Relationship Type="http://schemas.openxmlformats.org/officeDocument/2006/relationships/notesSlide" Target="/ppt/notesSlides/notesSlide30.xml" Id="R281f02c84b1d440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e163a27724445a1" /><Relationship Type="http://schemas.openxmlformats.org/officeDocument/2006/relationships/notesSlide" Target="/ppt/notesSlides/notesSlide31.xml" Id="R05d88e877e10412f"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24f87bc1851845c0" /><Relationship Type="http://schemas.openxmlformats.org/officeDocument/2006/relationships/notesSlide" Target="/ppt/notesSlides/notesSlide32.xml" Id="R5e0e9523e4c4447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9162ff18b304804" /><Relationship Type="http://schemas.openxmlformats.org/officeDocument/2006/relationships/notesSlide" Target="/ppt/notesSlides/notesSlide33.xml" Id="R3614494a720741e1"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f81f8b627d1f47db" /><Relationship Type="http://schemas.openxmlformats.org/officeDocument/2006/relationships/notesSlide" Target="/ppt/notesSlides/notesSlide34.xml" Id="Rf916d182df4046d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99d4638a9e5b4e1c" /><Relationship Type="http://schemas.openxmlformats.org/officeDocument/2006/relationships/notesSlide" Target="/ppt/notesSlides/notesSlide35.xml" Id="Rd4c993c128c3447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4fefa515f3af4180" /><Relationship Type="http://schemas.openxmlformats.org/officeDocument/2006/relationships/notesSlide" Target="/ppt/notesSlides/notesSlide36.xml" Id="R4751a15234124d2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Reserve displacement</c:v>
          </c:tx>
          <c:spPr>
            <a:ln xmlns:a="http://schemas.openxmlformats.org/drawingml/2006/main" w="28575">
              <a:solidFill>
                <a:srgbClr val="0071E3"/>
              </a:solidFill>
              <a:prstDash val="solid"/>
            </a:ln>
          </c:spPr>
          <c:marker>
            <c:symbol val="circle"/>
            <c:size val="7"/>
            <c:spPr>
              <a:solidFill xmlns:a="http://schemas.openxmlformats.org/drawingml/2006/main">
                <a:srgbClr val="0071E3"/>
              </a:solidFill>
            </c:spPr>
          </c:marker>
          <c:cat>
            <c:numRef>
              <c:f>'Chart Data'!$A$2:$A$4</c:f>
              <c:numCache>
                <c:formatCode>General</c:formatCode>
                <c:ptCount val="3"/>
                <c:pt idx="0">
                  <c:v>3700</c:v>
                </c:pt>
                <c:pt idx="1">
                  <c:v>3710</c:v>
                </c:pt>
                <c:pt idx="2">
                  <c:v>3720</c:v>
                </c:pt>
              </c:numCache>
            </c:numRef>
          </c:cat>
          <c:val>
            <c:numRef>
              <c:f>'Chart Data'!$B$2:$B$4</c:f>
              <c:numCache>
                <c:formatCode>0</c:formatCode>
                <c:ptCount val="3"/>
                <c:pt idx="0">
                  <c:v>1600</c:v>
                </c:pt>
                <c:pt idx="1">
                  <c:v>1700</c:v>
                </c:pt>
                <c:pt idx="2">
                  <c:v>1750</c:v>
                </c:pt>
              </c:numCache>
            </c:numRef>
          </c:val>
          <c:smooth val="0"/>
        </c:ser>
        <c:dLbls>
          <c:txPr>
            <a:bodyPr xmlns:a="http://schemas.openxmlformats.org/drawingml/2006/main" anchorCtr="1"/>
            <a:lstStyle xmlns:a="http://schemas.openxmlformats.org/drawingml/2006/main"/>
            <a:p xmlns:a="http://schemas.openxmlformats.org/drawingml/2006/main">
              <a:pPr>
                <a:defRPr sz="1350">
                  <a:solidFill>
                    <a:srgbClr val="1D1D1F"/>
                  </a:solidFill>
                  <a:latin typeface="Inter"/>
                  <a:ea typeface="Inter"/>
                  <a:cs typeface="Inter"/>
                </a:defRPr>
              </a:pPr>
            </a:p>
          </c:txPr>
          <c:showLegendKey val="0"/>
          <c:showVal val="1"/>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Inter"/>
                    <a:ea typeface="Inter"/>
                    <a:cs typeface="Inter"/>
                  </a:rPr>
                  <a:t>Measured tick (s)</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General"/>
        <c:majorTickMark val="none"/>
        <c:minorTickMark val="none"/>
        <c:spPr>
          <a:ln xmlns:a="http://schemas.openxmlformats.org/drawingml/2006/main" w="9525">
            <a:solidFill>
              <a:srgbClr val="D2D2D7"/>
            </a:solidFill>
          </a:ln>
        </c:spPr>
        <c:txPr>
          <a:bodyPr xmlns:a="http://schemas.openxmlformats.org/drawingml/2006/main" anchorCtr="1"/>
          <a:lstStyle xmlns:a="http://schemas.openxmlformats.org/drawingml/2006/main"/>
          <a:p xmlns:a="http://schemas.openxmlformats.org/drawingml/2006/main">
            <a:pPr>
              <a:defRPr sz="1350">
                <a:solidFill>
                  <a:srgbClr val="6E6E73"/>
                </a:solidFill>
                <a:latin typeface="Inter"/>
                <a:ea typeface="Inter"/>
                <a:cs typeface="Inter"/>
              </a:defRPr>
            </a:pPr>
          </a:p>
        </c:txPr>
        <c:crossAx val="48672768"/>
      </c:catAx>
      <c:valAx>
        <c:axId val="48672768"/>
        <c:scaling>
          <c:orientation val="minMax"/>
          <c:max val="1800"/>
          <c:min val="1500"/>
        </c:scaling>
        <c:delete val="0"/>
        <c:axPos val="l"/>
        <c:majorGridlines>
          <c:spPr>
            <a:ln xmlns:a="http://schemas.openxmlformats.org/drawingml/2006/main" w="6668">
              <a:solidFill>
                <a:srgbClr val="D2D2D7"/>
              </a:solidFill>
            </a:ln>
          </c:spPr>
        </c:majorGridlines>
        <c:title>
          <c:tx>
            <c:rich>
              <a:bodyPr xmlns:a="http://schemas.openxmlformats.org/drawingml/2006/main"/>
              <a:lstStyle xmlns:a="http://schemas.openxmlformats.org/drawingml/2006/main"/>
              <a:p xmlns:a="http://schemas.openxmlformats.org/drawingml/2006/main">
                <a:r>
                  <a:rPr>
                    <a:latin typeface="Inter"/>
                    <a:ea typeface="Inter"/>
                    <a:cs typeface="Inter"/>
                  </a:rPr>
                  <a:t>Displacement (um)</a:t>
                </a:r>
              </a:p>
            </c:rich>
          </c:tx>
          <c:overlay val="0"/>
          <c:txPr>
            <a:bodyPr xmlns:a="http://schemas.openxmlformats.org/drawingml/2006/main" anchorCtr="1"/>
            <a:lstStyle xmlns:a="http://schemas.openxmlformats.org/drawingml/2006/main"/>
            <a:p xmlns:a="http://schemas.openxmlformats.org/drawingml/2006/main">
              <a:pPr>
                <a:defRPr>
                  <a:latin typeface="Inter"/>
                  <a:ea typeface="Inter"/>
                  <a:cs typeface="Inter"/>
                </a:defRPr>
              </a:pPr>
            </a:p>
          </c:txPr>
        </c:title>
        <c:numFmt formatCode="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350">
                <a:solidFill>
                  <a:srgbClr val="6E6E73"/>
                </a:solidFill>
                <a:latin typeface="Inter"/>
                <a:ea typeface="Inter"/>
                <a:cs typeface="Inter"/>
              </a:defRPr>
            </a:pPr>
          </a:p>
        </c:txPr>
        <c:crossAx val="48650112"/>
        <c:crossBetween val="between"/>
        <c:majorUnit val="100"/>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39053bfeddc441d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2" name="text-1-0">
            <a:extLst xmlns:a="http://schemas.openxmlformats.org/drawingml/2006/main">
              <a:ext uri="{FF2B5EF4-FFF2-40B4-BE49-F238E27FC236}">
                <a16:creationId xmlns:a16="http://schemas.microsoft.com/office/drawing/2014/main" id="{8D671B10-84F7-44D9-8744-9810B203F9F0}"/>
              </a:ext>
            </a:extLst>
          </p:cNvPr>
          <p:cNvSpPr>
            <a:spLocks xmlns:a="http://schemas.openxmlformats.org/drawingml/2006/main" noGrp="1"/>
          </p:cNvSpPr>
          <p:nvPr/>
        </p:nvSpPr>
        <p:spPr>
          <a:xfrm xmlns:a="http://schemas.openxmlformats.org/drawingml/2006/main">
            <a:off x="685800" y="6096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0071E3"/>
                </a:solidFill>
                <a:latin typeface="Inter"/>
                <a:ea typeface="Inter"/>
                <a:cs typeface="Inter"/>
              </a:defRPr>
            </a:pPr>
            <a:r>
              <a:rPr sz="1500" b="1">
                <a:solidFill>
                  <a:srgbClr val="0071E3"/>
                </a:solidFill>
                <a:latin typeface="Inter"/>
                <a:ea typeface="Inter"/>
                <a:cs typeface="Inter"/>
              </a:rPr>
              <a:t>RADIOLARIA OS</a:t>
            </a:r>
          </a:p>
        </p:txBody>
      </p:sp>
      <p:sp>
        <p:nvSpPr>
          <p:cNvPr id="3" name="text-1-1">
            <a:extLst xmlns:a="http://schemas.openxmlformats.org/drawingml/2006/main">
              <a:ext uri="{FF2B5EF4-FFF2-40B4-BE49-F238E27FC236}">
                <a16:creationId xmlns:a16="http://schemas.microsoft.com/office/drawing/2014/main" id="{296567C1-5729-4E67-BE3E-8BE734764A43}"/>
              </a:ext>
            </a:extLst>
          </p:cNvPr>
          <p:cNvSpPr>
            <a:spLocks xmlns:a="http://schemas.openxmlformats.org/drawingml/2006/main" noGrp="1"/>
          </p:cNvSpPr>
          <p:nvPr/>
        </p:nvSpPr>
        <p:spPr>
          <a:xfrm xmlns:a="http://schemas.openxmlformats.org/drawingml/2006/main">
            <a:off x="657225" y="1981200"/>
            <a:ext cx="6267450" cy="1847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700" b="1">
                <a:solidFill>
                  <a:srgbClr val="1D1D1F"/>
                </a:solidFill>
                <a:latin typeface="Inter"/>
                <a:ea typeface="Inter"/>
                <a:cs typeface="Inter"/>
              </a:defRPr>
            </a:pPr>
            <a:r>
              <a:rPr sz="5700" b="1">
                <a:solidFill>
                  <a:srgbClr val="1D1D1F"/>
                </a:solidFill>
                <a:latin typeface="Inter"/>
                <a:ea typeface="Inter"/>
                <a:cs typeface="Inter"/>
              </a:rPr>
              <a:t>Landslide</a:t>
            </a:r>
          </a:p>
          <a:p xmlns:a="http://schemas.openxmlformats.org/drawingml/2006/main">
            <a:pPr algn="l">
              <a:defRPr sz="5700" b="1">
                <a:solidFill>
                  <a:srgbClr val="1D1D1F"/>
                </a:solidFill>
                <a:latin typeface="Inter"/>
                <a:ea typeface="Inter"/>
                <a:cs typeface="Inter"/>
              </a:defRPr>
            </a:pPr>
            <a:r>
              <a:rPr sz="5700" b="1">
                <a:solidFill>
                  <a:srgbClr val="1D1D1F"/>
                </a:solidFill>
                <a:latin typeface="Inter"/>
                <a:ea typeface="Inter"/>
                <a:cs typeface="Inter"/>
              </a:rPr>
              <a:t>Sentinel</a:t>
            </a:r>
          </a:p>
        </p:txBody>
      </p:sp>
      <p:sp>
        <p:nvSpPr>
          <p:cNvPr id="4" name="text-1-2">
            <a:extLst xmlns:a="http://schemas.openxmlformats.org/drawingml/2006/main">
              <a:ext uri="{FF2B5EF4-FFF2-40B4-BE49-F238E27FC236}">
                <a16:creationId xmlns:a16="http://schemas.microsoft.com/office/drawing/2014/main" id="{24E8869B-18DD-4872-9834-6671E1ABFD02}"/>
              </a:ext>
            </a:extLst>
          </p:cNvPr>
          <p:cNvSpPr>
            <a:spLocks xmlns:a="http://schemas.openxmlformats.org/drawingml/2006/main" noGrp="1"/>
          </p:cNvSpPr>
          <p:nvPr/>
        </p:nvSpPr>
        <p:spPr>
          <a:xfrm xmlns:a="http://schemas.openxmlformats.org/drawingml/2006/main">
            <a:off x="695325" y="4029075"/>
            <a:ext cx="5905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400" b="1">
                <a:solidFill>
                  <a:srgbClr val="1D1D1F"/>
                </a:solidFill>
                <a:latin typeface="Inter"/>
                <a:ea typeface="Inter"/>
                <a:cs typeface="Inter"/>
              </a:defRPr>
            </a:pPr>
            <a:r>
              <a:rPr sz="2400" b="1">
                <a:solidFill>
                  <a:srgbClr val="1D1D1F"/>
                </a:solidFill>
                <a:latin typeface="Inter"/>
                <a:ea typeface="Inter"/>
                <a:cs typeface="Inter"/>
              </a:rPr>
              <a:t>Local responsibility.</a:t>
            </a:r>
          </a:p>
          <a:p xmlns:a="http://schemas.openxmlformats.org/drawingml/2006/main">
            <a:pPr algn="l">
              <a:defRPr sz="2400" b="1">
                <a:solidFill>
                  <a:srgbClr val="1D1D1F"/>
                </a:solidFill>
                <a:latin typeface="Inter"/>
                <a:ea typeface="Inter"/>
                <a:cs typeface="Inter"/>
              </a:defRPr>
            </a:pPr>
            <a:r>
              <a:rPr sz="2400" b="1">
                <a:solidFill>
                  <a:srgbClr val="1D1D1F"/>
                </a:solidFill>
                <a:latin typeface="Inter"/>
                <a:ea typeface="Inter"/>
                <a:cs typeface="Inter"/>
              </a:rPr>
              <a:t>Replaceable intelligence.</a:t>
            </a:r>
          </a:p>
        </p:txBody>
      </p:sp>
      <p:sp>
        <p:nvSpPr>
          <p:cNvPr id="5" name="text-1-3">
            <a:extLst xmlns:a="http://schemas.openxmlformats.org/drawingml/2006/main">
              <a:ext uri="{FF2B5EF4-FFF2-40B4-BE49-F238E27FC236}">
                <a16:creationId xmlns:a16="http://schemas.microsoft.com/office/drawing/2014/main" id="{AEEDF315-AA43-458C-B7EA-DD9DF6CB8744}"/>
              </a:ext>
            </a:extLst>
          </p:cNvPr>
          <p:cNvSpPr>
            <a:spLocks xmlns:a="http://schemas.openxmlformats.org/drawingml/2006/main" noGrp="1"/>
          </p:cNvSpPr>
          <p:nvPr/>
        </p:nvSpPr>
        <p:spPr>
          <a:xfrm xmlns:a="http://schemas.openxmlformats.org/drawingml/2006/main">
            <a:off x="704850" y="5295900"/>
            <a:ext cx="5524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cell that keeps monitoring</a:t>
            </a:r>
          </a:p>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when the network disappears.</a:t>
            </a:r>
          </a:p>
        </p:txBody>
      </p:sp>
      <p:sp>
        <p:nvSpPr>
          <p:cNvPr id="6" name="text-1-4">
            <a:extLst xmlns:a="http://schemas.openxmlformats.org/drawingml/2006/main">
              <a:ext uri="{FF2B5EF4-FFF2-40B4-BE49-F238E27FC236}">
                <a16:creationId xmlns:a16="http://schemas.microsoft.com/office/drawing/2014/main" id="{E8D6ADBA-C557-4126-B66F-425194F05E1C}"/>
              </a:ext>
            </a:extLst>
          </p:cNvPr>
          <p:cNvSpPr>
            <a:spLocks xmlns:a="http://schemas.openxmlformats.org/drawingml/2006/main" noGrp="1"/>
          </p:cNvSpPr>
          <p:nvPr/>
        </p:nvSpPr>
        <p:spPr>
          <a:xfrm xmlns:a="http://schemas.openxmlformats.org/drawingml/2006/main">
            <a:off x="704850" y="6496050"/>
            <a:ext cx="74771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050" b="0">
                <a:solidFill>
                  <a:srgbClr val="6E6E73"/>
                </a:solidFill>
                <a:latin typeface="Inter"/>
                <a:ea typeface="Inter"/>
                <a:cs typeface="Inter"/>
              </a:defRPr>
            </a:pPr>
            <a:r>
              <a:rPr sz="1050" b="0">
                <a:solidFill>
                  <a:srgbClr val="6E6E73"/>
                </a:solidFill>
                <a:latin typeface="Inter"/>
                <a:ea typeface="Inter"/>
                <a:cs typeface="Inter"/>
              </a:rPr>
              <a:t>v0.1  /  Main implementation: 15 September 2026</a:t>
            </a:r>
          </a:p>
        </p:txBody>
      </p:sp>
    </p:spTree>
    <p:extLst>
      <p:ext uri="{BB962C8B-B14F-4D97-AF65-F5344CB8AC3E}">
        <p14:creationId xmlns:p14="http://schemas.microsoft.com/office/powerpoint/2010/main" val="7276637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2-5">
            <a:extLst xmlns:a="http://schemas.openxmlformats.org/drawingml/2006/main">
              <a:ext uri="{FF2B5EF4-FFF2-40B4-BE49-F238E27FC236}">
                <a16:creationId xmlns:a16="http://schemas.microsoft.com/office/drawing/2014/main" id="{47DAD95F-6F42-4CA0-AD67-43E4B7CB2C11}"/>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RESEARCH → REQUIREMENT → EVIDENCE</a:t>
            </a:r>
          </a:p>
        </p:txBody>
      </p:sp>
      <p:sp>
        <p:nvSpPr>
          <p:cNvPr id="2" name="text-2-6">
            <a:extLst xmlns:a="http://schemas.openxmlformats.org/drawingml/2006/main">
              <a:ext uri="{FF2B5EF4-FFF2-40B4-BE49-F238E27FC236}">
                <a16:creationId xmlns:a16="http://schemas.microsoft.com/office/drawing/2014/main" id="{6D039FB1-3022-44EF-A305-7C78141C589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150" b="1">
                <a:solidFill>
                  <a:srgbClr val="1D1D1F"/>
                </a:solidFill>
                <a:latin typeface="Inter"/>
                <a:ea typeface="Inter"/>
                <a:cs typeface="Inter"/>
              </a:defRPr>
            </a:pPr>
            <a:r>
              <a:rPr sz="3150" b="1">
                <a:solidFill>
                  <a:srgbClr val="1D1D1F"/>
                </a:solidFill>
                <a:latin typeface="Inter"/>
                <a:ea typeface="Inter"/>
                <a:cs typeface="Inter"/>
              </a:rPr>
              <a:t>From research questions to executable evidence</a:t>
            </a:r>
          </a:p>
        </p:txBody>
      </p:sp>
      <p:sp>
        <p:nvSpPr>
          <p:cNvPr id="3" name="text-2-7">
            <a:extLst xmlns:a="http://schemas.openxmlformats.org/drawingml/2006/main">
              <a:ext uri="{FF2B5EF4-FFF2-40B4-BE49-F238E27FC236}">
                <a16:creationId xmlns:a16="http://schemas.microsoft.com/office/drawing/2014/main" id="{7F08C673-4958-4424-9642-2FDF134AB6D5}"/>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Published challenges become explicit, inspectable software tests.</a:t>
            </a:r>
          </a:p>
        </p:txBody>
      </p:sp>
      <p:sp>
        <p:nvSpPr>
          <p:cNvPr id="4" name="text-2-8">
            <a:extLst xmlns:a="http://schemas.openxmlformats.org/drawingml/2006/main">
              <a:ext uri="{FF2B5EF4-FFF2-40B4-BE49-F238E27FC236}">
                <a16:creationId xmlns:a16="http://schemas.microsoft.com/office/drawing/2014/main" id="{D40018A0-9DA7-45FF-B0E8-706E69A47EC8}"/>
              </a:ext>
            </a:extLst>
          </p:cNvPr>
          <p:cNvSpPr>
            <a:spLocks xmlns:a="http://schemas.openxmlformats.org/drawingml/2006/main" noGrp="1"/>
          </p:cNvSpPr>
          <p:nvPr/>
        </p:nvSpPr>
        <p:spPr>
          <a:xfrm xmlns:a="http://schemas.openxmlformats.org/drawingml/2006/main">
            <a:off x="685800" y="22860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01</a:t>
            </a:r>
          </a:p>
        </p:txBody>
      </p:sp>
      <p:sp>
        <p:nvSpPr>
          <p:cNvPr id="5" name="text-2-9">
            <a:extLst xmlns:a="http://schemas.openxmlformats.org/drawingml/2006/main">
              <a:ext uri="{FF2B5EF4-FFF2-40B4-BE49-F238E27FC236}">
                <a16:creationId xmlns:a16="http://schemas.microsoft.com/office/drawing/2014/main" id="{CB41E24E-0E59-4161-BD7B-F125CC6D673A}"/>
              </a:ext>
            </a:extLst>
          </p:cNvPr>
          <p:cNvSpPr>
            <a:spLocks xmlns:a="http://schemas.openxmlformats.org/drawingml/2006/main" noGrp="1"/>
          </p:cNvSpPr>
          <p:nvPr/>
        </p:nvSpPr>
        <p:spPr>
          <a:xfrm xmlns:a="http://schemas.openxmlformats.org/drawingml/2006/main">
            <a:off x="685800" y="2667000"/>
            <a:ext cx="253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D1D1F"/>
                </a:solidFill>
                <a:latin typeface="Inter"/>
                <a:ea typeface="Inter"/>
                <a:cs typeface="Inter"/>
              </a:defRPr>
            </a:pPr>
            <a:r>
              <a:rPr sz="1650" b="1">
                <a:solidFill>
                  <a:srgbClr val="1D1D1F"/>
                </a:solidFill>
                <a:latin typeface="Inter"/>
                <a:ea typeface="Inter"/>
                <a:cs typeface="Inter"/>
              </a:rPr>
              <a:t>Published challenge</a:t>
            </a:r>
          </a:p>
        </p:txBody>
      </p:sp>
      <p:sp>
        <p:nvSpPr>
          <p:cNvPr id="6" name="text-2-10">
            <a:extLst xmlns:a="http://schemas.openxmlformats.org/drawingml/2006/main">
              <a:ext uri="{FF2B5EF4-FFF2-40B4-BE49-F238E27FC236}">
                <a16:creationId xmlns:a16="http://schemas.microsoft.com/office/drawing/2014/main" id="{CC46054D-5CC7-44F9-93E9-2C9A20706157}"/>
              </a:ext>
            </a:extLst>
          </p:cNvPr>
          <p:cNvSpPr>
            <a:spLocks xmlns:a="http://schemas.openxmlformats.org/drawingml/2006/main" noGrp="1"/>
          </p:cNvSpPr>
          <p:nvPr/>
        </p:nvSpPr>
        <p:spPr>
          <a:xfrm xmlns:a="http://schemas.openxmlformats.org/drawingml/2006/main">
            <a:off x="3448050" y="22860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02</a:t>
            </a:r>
          </a:p>
        </p:txBody>
      </p:sp>
      <p:sp>
        <p:nvSpPr>
          <p:cNvPr id="7" name="text-2-11">
            <a:extLst xmlns:a="http://schemas.openxmlformats.org/drawingml/2006/main">
              <a:ext uri="{FF2B5EF4-FFF2-40B4-BE49-F238E27FC236}">
                <a16:creationId xmlns:a16="http://schemas.microsoft.com/office/drawing/2014/main" id="{31297CF5-0381-4DB4-B6D7-553F6824FEE4}"/>
              </a:ext>
            </a:extLst>
          </p:cNvPr>
          <p:cNvSpPr>
            <a:spLocks xmlns:a="http://schemas.openxmlformats.org/drawingml/2006/main" noGrp="1"/>
          </p:cNvSpPr>
          <p:nvPr/>
        </p:nvSpPr>
        <p:spPr>
          <a:xfrm xmlns:a="http://schemas.openxmlformats.org/drawingml/2006/main">
            <a:off x="3448050" y="2667000"/>
            <a:ext cx="253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D1D1F"/>
                </a:solidFill>
                <a:latin typeface="Inter"/>
                <a:ea typeface="Inter"/>
                <a:cs typeface="Inter"/>
              </a:defRPr>
            </a:pPr>
            <a:r>
              <a:rPr sz="1650" b="1">
                <a:solidFill>
                  <a:srgbClr val="1D1D1F"/>
                </a:solidFill>
                <a:latin typeface="Inter"/>
                <a:ea typeface="Inter"/>
                <a:cs typeface="Inter"/>
              </a:rPr>
              <a:t>Software criterion</a:t>
            </a:r>
          </a:p>
        </p:txBody>
      </p:sp>
      <p:sp>
        <p:nvSpPr>
          <p:cNvPr id="8" name="text-2-12">
            <a:extLst xmlns:a="http://schemas.openxmlformats.org/drawingml/2006/main">
              <a:ext uri="{FF2B5EF4-FFF2-40B4-BE49-F238E27FC236}">
                <a16:creationId xmlns:a16="http://schemas.microsoft.com/office/drawing/2014/main" id="{786F854C-4B91-4F83-95FE-267DDA5DF11C}"/>
              </a:ext>
            </a:extLst>
          </p:cNvPr>
          <p:cNvSpPr>
            <a:spLocks xmlns:a="http://schemas.openxmlformats.org/drawingml/2006/main" noGrp="1"/>
          </p:cNvSpPr>
          <p:nvPr/>
        </p:nvSpPr>
        <p:spPr>
          <a:xfrm xmlns:a="http://schemas.openxmlformats.org/drawingml/2006/main">
            <a:off x="6210300" y="22860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03</a:t>
            </a:r>
          </a:p>
        </p:txBody>
      </p:sp>
      <p:sp>
        <p:nvSpPr>
          <p:cNvPr id="9" name="text-2-13">
            <a:extLst xmlns:a="http://schemas.openxmlformats.org/drawingml/2006/main">
              <a:ext uri="{FF2B5EF4-FFF2-40B4-BE49-F238E27FC236}">
                <a16:creationId xmlns:a16="http://schemas.microsoft.com/office/drawing/2014/main" id="{1E69DBBF-C9CE-4BE5-8221-3E995F442D9C}"/>
              </a:ext>
            </a:extLst>
          </p:cNvPr>
          <p:cNvSpPr>
            <a:spLocks xmlns:a="http://schemas.openxmlformats.org/drawingml/2006/main" noGrp="1"/>
          </p:cNvSpPr>
          <p:nvPr/>
        </p:nvSpPr>
        <p:spPr>
          <a:xfrm xmlns:a="http://schemas.openxmlformats.org/drawingml/2006/main">
            <a:off x="6210300" y="2667000"/>
            <a:ext cx="253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D1D1F"/>
                </a:solidFill>
                <a:latin typeface="Inter"/>
                <a:ea typeface="Inter"/>
                <a:cs typeface="Inter"/>
              </a:defRPr>
            </a:pPr>
            <a:r>
              <a:rPr sz="1650" b="1">
                <a:solidFill>
                  <a:srgbClr val="1D1D1F"/>
                </a:solidFill>
                <a:latin typeface="Inter"/>
                <a:ea typeface="Inter"/>
                <a:cs typeface="Inter"/>
              </a:rPr>
              <a:t>Existing kernel</a:t>
            </a:r>
          </a:p>
        </p:txBody>
      </p:sp>
      <p:sp>
        <p:nvSpPr>
          <p:cNvPr id="10" name="text-2-14">
            <a:extLst xmlns:a="http://schemas.openxmlformats.org/drawingml/2006/main">
              <a:ext uri="{FF2B5EF4-FFF2-40B4-BE49-F238E27FC236}">
                <a16:creationId xmlns:a16="http://schemas.microsoft.com/office/drawing/2014/main" id="{C231B528-A191-4680-A9F0-DEDFE003007D}"/>
              </a:ext>
            </a:extLst>
          </p:cNvPr>
          <p:cNvSpPr>
            <a:spLocks xmlns:a="http://schemas.openxmlformats.org/drawingml/2006/main" noGrp="1"/>
          </p:cNvSpPr>
          <p:nvPr/>
        </p:nvSpPr>
        <p:spPr>
          <a:xfrm xmlns:a="http://schemas.openxmlformats.org/drawingml/2006/main">
            <a:off x="8972550" y="22860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0071E3"/>
                </a:solidFill>
                <a:latin typeface="Inter"/>
                <a:ea typeface="Inter"/>
                <a:cs typeface="Inter"/>
              </a:defRPr>
            </a:pPr>
            <a:r>
              <a:rPr sz="1800" b="1">
                <a:solidFill>
                  <a:srgbClr val="0071E3"/>
                </a:solidFill>
                <a:latin typeface="Inter"/>
                <a:ea typeface="Inter"/>
                <a:cs typeface="Inter"/>
              </a:rPr>
              <a:t>04</a:t>
            </a:r>
          </a:p>
        </p:txBody>
      </p:sp>
      <p:sp>
        <p:nvSpPr>
          <p:cNvPr id="11" name="text-2-15">
            <a:extLst xmlns:a="http://schemas.openxmlformats.org/drawingml/2006/main">
              <a:ext uri="{FF2B5EF4-FFF2-40B4-BE49-F238E27FC236}">
                <a16:creationId xmlns:a16="http://schemas.microsoft.com/office/drawing/2014/main" id="{2D6A5533-5936-4103-A74C-F4E4F90E9616}"/>
              </a:ext>
            </a:extLst>
          </p:cNvPr>
          <p:cNvSpPr>
            <a:spLocks xmlns:a="http://schemas.openxmlformats.org/drawingml/2006/main" noGrp="1"/>
          </p:cNvSpPr>
          <p:nvPr/>
        </p:nvSpPr>
        <p:spPr>
          <a:xfrm xmlns:a="http://schemas.openxmlformats.org/drawingml/2006/main">
            <a:off x="8972550" y="2667000"/>
            <a:ext cx="25336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1D1D1F"/>
                </a:solidFill>
                <a:latin typeface="Inter"/>
                <a:ea typeface="Inter"/>
                <a:cs typeface="Inter"/>
              </a:defRPr>
            </a:pPr>
            <a:r>
              <a:rPr sz="1650" b="1">
                <a:solidFill>
                  <a:srgbClr val="1D1D1F"/>
                </a:solidFill>
                <a:latin typeface="Inter"/>
                <a:ea typeface="Inter"/>
                <a:cs typeface="Inter"/>
              </a:rPr>
              <a:t>Recorded evidence</a:t>
            </a:r>
          </a:p>
        </p:txBody>
      </p:sp>
      <p:sp>
        <p:nvSpPr>
          <p:cNvPr id="12" name="text-2-16">
            <a:extLst xmlns:a="http://schemas.openxmlformats.org/drawingml/2006/main">
              <a:ext uri="{FF2B5EF4-FFF2-40B4-BE49-F238E27FC236}">
                <a16:creationId xmlns:a16="http://schemas.microsoft.com/office/drawing/2014/main" id="{8ECA03C7-545E-49BF-B91F-F7D61D2828E4}"/>
              </a:ext>
            </a:extLst>
          </p:cNvPr>
          <p:cNvSpPr>
            <a:spLocks xmlns:a="http://schemas.openxmlformats.org/drawingml/2006/main" noGrp="1"/>
          </p:cNvSpPr>
          <p:nvPr/>
        </p:nvSpPr>
        <p:spPr>
          <a:xfrm xmlns:a="http://schemas.openxmlformats.org/drawingml/2006/main">
            <a:off x="685800" y="352425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071E3"/>
                </a:solidFill>
                <a:latin typeface="Inter"/>
                <a:ea typeface="Inter"/>
                <a:cs typeface="Inter"/>
              </a:defRPr>
            </a:pPr>
            <a:r>
              <a:rPr sz="1350" b="1">
                <a:solidFill>
                  <a:srgbClr val="0071E3"/>
                </a:solidFill>
                <a:latin typeface="Inter"/>
                <a:ea typeface="Inter"/>
                <a:cs typeface="Inter"/>
              </a:rPr>
              <a:t>Published challenge</a:t>
            </a:r>
          </a:p>
        </p:txBody>
      </p:sp>
      <p:sp>
        <p:nvSpPr>
          <p:cNvPr id="13" name="text-2-17">
            <a:extLst xmlns:a="http://schemas.openxmlformats.org/drawingml/2006/main">
              <a:ext uri="{FF2B5EF4-FFF2-40B4-BE49-F238E27FC236}">
                <a16:creationId xmlns:a16="http://schemas.microsoft.com/office/drawing/2014/main" id="{28AFD89D-D419-4933-AE5A-0F580DC5CA78}"/>
              </a:ext>
            </a:extLst>
          </p:cNvPr>
          <p:cNvSpPr>
            <a:spLocks xmlns:a="http://schemas.openxmlformats.org/drawingml/2006/main" noGrp="1"/>
          </p:cNvSpPr>
          <p:nvPr/>
        </p:nvSpPr>
        <p:spPr>
          <a:xfrm xmlns:a="http://schemas.openxmlformats.org/drawingml/2006/main">
            <a:off x="5753100" y="3524250"/>
            <a:ext cx="573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1">
                <a:solidFill>
                  <a:srgbClr val="0071E3"/>
                </a:solidFill>
                <a:latin typeface="Inter"/>
                <a:ea typeface="Inter"/>
                <a:cs typeface="Inter"/>
              </a:defRPr>
            </a:pPr>
            <a:r>
              <a:rPr sz="1350" b="1">
                <a:solidFill>
                  <a:srgbClr val="0071E3"/>
                </a:solidFill>
                <a:latin typeface="Inter"/>
                <a:ea typeface="Inter"/>
                <a:cs typeface="Inter"/>
              </a:rPr>
              <a:t>Our recorded software response</a:t>
            </a:r>
          </a:p>
        </p:txBody>
      </p:sp>
      <p:sp>
        <p:nvSpPr>
          <p:cNvPr id="14" name="">
            <a:extLst xmlns:a="http://schemas.openxmlformats.org/drawingml/2006/main">
              <a:ext uri="{FF2B5EF4-FFF2-40B4-BE49-F238E27FC236}">
                <a16:creationId xmlns:a16="http://schemas.microsoft.com/office/drawing/2014/main" id="{36CE230A-2AE0-498F-A83F-0EDFD9E3672C}"/>
              </a:ext>
            </a:extLst>
          </p:cNvPr>
          <p:cNvSpPr>
            <a:spLocks xmlns:a="http://schemas.openxmlformats.org/drawingml/2006/main" noGrp="1"/>
          </p:cNvSpPr>
          <p:nvPr/>
        </p:nvSpPr>
        <p:spPr>
          <a:xfrm xmlns:a="http://schemas.openxmlformats.org/drawingml/2006/main">
            <a:off x="685800" y="3886200"/>
            <a:ext cx="10820400" cy="0"/>
          </a:xfrm>
          <a:prstGeom xmlns:a="http://schemas.openxmlformats.org/drawingml/2006/main" prst="line">
            <a:avLst/>
          </a:prstGeom>
          <a:noFill xmlns:a="http://schemas.openxmlformats.org/drawingml/2006/main"/>
          <a:ln xmlns:a="http://schemas.openxmlformats.org/drawingml/2006/main" w="5715">
            <a:solidFill>
              <a:srgbClr val="D2D2D7"/>
            </a:solidFill>
          </a:ln>
        </p:spPr>
      </p:sp>
      <p:sp>
        <p:nvSpPr>
          <p:cNvPr id="15" name="text-2-18">
            <a:extLst xmlns:a="http://schemas.openxmlformats.org/drawingml/2006/main">
              <a:ext uri="{FF2B5EF4-FFF2-40B4-BE49-F238E27FC236}">
                <a16:creationId xmlns:a16="http://schemas.microsoft.com/office/drawing/2014/main" id="{11FAE515-DECB-4C15-BDDF-55D53BBD1BFC}"/>
              </a:ext>
            </a:extLst>
          </p:cNvPr>
          <p:cNvSpPr>
            <a:spLocks xmlns:a="http://schemas.openxmlformats.org/drawingml/2006/main" noGrp="1"/>
          </p:cNvSpPr>
          <p:nvPr/>
        </p:nvSpPr>
        <p:spPr>
          <a:xfrm xmlns:a="http://schemas.openxmlformats.org/drawingml/2006/main">
            <a:off x="685800" y="3981450"/>
            <a:ext cx="4572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D1D1F"/>
                </a:solidFill>
                <a:latin typeface="Inter"/>
                <a:ea typeface="Inter"/>
                <a:cs typeface="Inter"/>
              </a:defRPr>
            </a:pPr>
            <a:r>
              <a:rPr sz="1500" b="0">
                <a:solidFill>
                  <a:srgbClr val="1D1D1F"/>
                </a:solidFill>
                <a:latin typeface="Inter"/>
                <a:ea typeface="Inter"/>
                <a:cs typeface="Inter"/>
              </a:rPr>
              <a:t>Monitoring can fail when conditions worsen.</a:t>
            </a:r>
          </a:p>
        </p:txBody>
      </p:sp>
      <p:sp>
        <p:nvSpPr>
          <p:cNvPr id="16" name="text-2-19">
            <a:extLst xmlns:a="http://schemas.openxmlformats.org/drawingml/2006/main">
              <a:ext uri="{FF2B5EF4-FFF2-40B4-BE49-F238E27FC236}">
                <a16:creationId xmlns:a16="http://schemas.microsoft.com/office/drawing/2014/main" id="{F5C9EFDC-24D2-4CCE-9D7E-B538A3733E65}"/>
              </a:ext>
            </a:extLst>
          </p:cNvPr>
          <p:cNvSpPr>
            <a:spLocks xmlns:a="http://schemas.openxmlformats.org/drawingml/2006/main" noGrp="1"/>
          </p:cNvSpPr>
          <p:nvPr/>
        </p:nvSpPr>
        <p:spPr>
          <a:xfrm xmlns:a="http://schemas.openxmlformats.org/drawingml/2006/main">
            <a:off x="5753100" y="3981450"/>
            <a:ext cx="5734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D1D1F"/>
                </a:solidFill>
                <a:latin typeface="Inter"/>
                <a:ea typeface="Inter"/>
                <a:cs typeface="Inter"/>
              </a:defRPr>
            </a:pPr>
            <a:r>
              <a:rPr sz="1500" b="0">
                <a:solidFill>
                  <a:srgbClr val="1D1D1F"/>
                </a:solidFill>
                <a:latin typeface="Inter"/>
                <a:ea typeface="Inter"/>
                <a:cs typeface="Inter"/>
              </a:rPr>
              <a:t>C03: Usable reserve → LIMITED. No usable reserve → INSUFFICIENT.</a:t>
            </a:r>
          </a:p>
        </p:txBody>
      </p:sp>
      <p:sp>
        <p:nvSpPr>
          <p:cNvPr id="17" name="">
            <a:extLst xmlns:a="http://schemas.openxmlformats.org/drawingml/2006/main">
              <a:ext uri="{FF2B5EF4-FFF2-40B4-BE49-F238E27FC236}">
                <a16:creationId xmlns:a16="http://schemas.microsoft.com/office/drawing/2014/main" id="{78B0766C-DFBC-4095-8625-F62B4D18763A}"/>
              </a:ext>
            </a:extLst>
          </p:cNvPr>
          <p:cNvSpPr>
            <a:spLocks xmlns:a="http://schemas.openxmlformats.org/drawingml/2006/main" noGrp="1"/>
          </p:cNvSpPr>
          <p:nvPr/>
        </p:nvSpPr>
        <p:spPr>
          <a:xfrm xmlns:a="http://schemas.openxmlformats.org/drawingml/2006/main">
            <a:off x="685800" y="4495800"/>
            <a:ext cx="10820400" cy="0"/>
          </a:xfrm>
          <a:prstGeom xmlns:a="http://schemas.openxmlformats.org/drawingml/2006/main" prst="line">
            <a:avLst/>
          </a:prstGeom>
          <a:noFill xmlns:a="http://schemas.openxmlformats.org/drawingml/2006/main"/>
          <a:ln xmlns:a="http://schemas.openxmlformats.org/drawingml/2006/main" w="5715">
            <a:solidFill>
              <a:srgbClr val="D2D2D7"/>
            </a:solidFill>
          </a:ln>
        </p:spPr>
      </p:sp>
      <p:sp>
        <p:nvSpPr>
          <p:cNvPr id="18" name="text-2-20">
            <a:extLst xmlns:a="http://schemas.openxmlformats.org/drawingml/2006/main">
              <a:ext uri="{FF2B5EF4-FFF2-40B4-BE49-F238E27FC236}">
                <a16:creationId xmlns:a16="http://schemas.microsoft.com/office/drawing/2014/main" id="{ED3A3606-016C-44A8-8A2B-AC34F90EF4AF}"/>
              </a:ext>
            </a:extLst>
          </p:cNvPr>
          <p:cNvSpPr>
            <a:spLocks xmlns:a="http://schemas.openxmlformats.org/drawingml/2006/main" noGrp="1"/>
          </p:cNvSpPr>
          <p:nvPr/>
        </p:nvSpPr>
        <p:spPr>
          <a:xfrm xmlns:a="http://schemas.openxmlformats.org/drawingml/2006/main">
            <a:off x="685800" y="4591050"/>
            <a:ext cx="4572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D1D1F"/>
                </a:solidFill>
                <a:latin typeface="Inter"/>
                <a:ea typeface="Inter"/>
                <a:cs typeface="Inter"/>
              </a:defRPr>
            </a:pPr>
            <a:r>
              <a:rPr sz="1500" b="0">
                <a:solidFill>
                  <a:srgbClr val="1D1D1F"/>
                </a:solidFill>
                <a:latin typeface="Inter"/>
                <a:ea typeface="Inter"/>
                <a:cs typeface="Inter"/>
              </a:rPr>
              <a:t>Measurement interval differs from delivery frequency.</a:t>
            </a:r>
          </a:p>
        </p:txBody>
      </p:sp>
      <p:sp>
        <p:nvSpPr>
          <p:cNvPr id="19" name="text-2-21">
            <a:extLst xmlns:a="http://schemas.openxmlformats.org/drawingml/2006/main">
              <a:ext uri="{FF2B5EF4-FFF2-40B4-BE49-F238E27FC236}">
                <a16:creationId xmlns:a16="http://schemas.microsoft.com/office/drawing/2014/main" id="{546987AE-0E12-42A5-96F7-3ADCBEBA96D7}"/>
              </a:ext>
            </a:extLst>
          </p:cNvPr>
          <p:cNvSpPr>
            <a:spLocks xmlns:a="http://schemas.openxmlformats.org/drawingml/2006/main" noGrp="1"/>
          </p:cNvSpPr>
          <p:nvPr/>
        </p:nvSpPr>
        <p:spPr>
          <a:xfrm xmlns:a="http://schemas.openxmlformats.org/drawingml/2006/main">
            <a:off x="5753100" y="4591050"/>
            <a:ext cx="5734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D1D1F"/>
                </a:solidFill>
                <a:latin typeface="Inter"/>
                <a:ea typeface="Inter"/>
                <a:cs typeface="Inter"/>
              </a:defRPr>
            </a:pPr>
            <a:r>
              <a:rPr sz="1500" b="0">
                <a:solidFill>
                  <a:srgbClr val="1D1D1F"/>
                </a:solidFill>
                <a:latin typeface="Inter"/>
                <a:ea typeface="Inter"/>
                <a:cs typeface="Inter"/>
              </a:rPr>
              <a:t>C02: New arrival does not make an old observation current.</a:t>
            </a:r>
          </a:p>
        </p:txBody>
      </p:sp>
      <p:sp>
        <p:nvSpPr>
          <p:cNvPr id="20" name="">
            <a:extLst xmlns:a="http://schemas.openxmlformats.org/drawingml/2006/main">
              <a:ext uri="{FF2B5EF4-FFF2-40B4-BE49-F238E27FC236}">
                <a16:creationId xmlns:a16="http://schemas.microsoft.com/office/drawing/2014/main" id="{A45FFFC0-CD2B-4373-8DF1-0097BBC8B1D2}"/>
              </a:ext>
            </a:extLst>
          </p:cNvPr>
          <p:cNvSpPr>
            <a:spLocks xmlns:a="http://schemas.openxmlformats.org/drawingml/2006/main" noGrp="1"/>
          </p:cNvSpPr>
          <p:nvPr/>
        </p:nvSpPr>
        <p:spPr>
          <a:xfrm xmlns:a="http://schemas.openxmlformats.org/drawingml/2006/main">
            <a:off x="685800" y="5105400"/>
            <a:ext cx="10820400" cy="0"/>
          </a:xfrm>
          <a:prstGeom xmlns:a="http://schemas.openxmlformats.org/drawingml/2006/main" prst="line">
            <a:avLst/>
          </a:prstGeom>
          <a:noFill xmlns:a="http://schemas.openxmlformats.org/drawingml/2006/main"/>
          <a:ln xmlns:a="http://schemas.openxmlformats.org/drawingml/2006/main" w="5715">
            <a:solidFill>
              <a:srgbClr val="D2D2D7"/>
            </a:solidFill>
          </a:ln>
        </p:spPr>
      </p:sp>
      <p:sp>
        <p:nvSpPr>
          <p:cNvPr id="21" name="text-2-22">
            <a:extLst xmlns:a="http://schemas.openxmlformats.org/drawingml/2006/main">
              <a:ext uri="{FF2B5EF4-FFF2-40B4-BE49-F238E27FC236}">
                <a16:creationId xmlns:a16="http://schemas.microsoft.com/office/drawing/2014/main" id="{55140630-8D6F-4FE7-8A85-37A1F5D6D16C}"/>
              </a:ext>
            </a:extLst>
          </p:cNvPr>
          <p:cNvSpPr>
            <a:spLocks xmlns:a="http://schemas.openxmlformats.org/drawingml/2006/main" noGrp="1"/>
          </p:cNvSpPr>
          <p:nvPr/>
        </p:nvSpPr>
        <p:spPr>
          <a:xfrm xmlns:a="http://schemas.openxmlformats.org/drawingml/2006/main">
            <a:off x="685800" y="5200650"/>
            <a:ext cx="4572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D1D1F"/>
                </a:solidFill>
                <a:latin typeface="Inter"/>
                <a:ea typeface="Inter"/>
                <a:cs typeface="Inter"/>
              </a:defRPr>
            </a:pPr>
            <a:r>
              <a:rPr sz="1500" b="0">
                <a:solidFill>
                  <a:srgbClr val="1D1D1F"/>
                </a:solidFill>
                <a:latin typeface="Inter"/>
                <a:ea typeface="Inter"/>
                <a:cs typeface="Inter"/>
              </a:rPr>
              <a:t>Multiple surges complicate alarm duration.</a:t>
            </a:r>
          </a:p>
        </p:txBody>
      </p:sp>
      <p:sp>
        <p:nvSpPr>
          <p:cNvPr id="22" name="text-2-23">
            <a:extLst xmlns:a="http://schemas.openxmlformats.org/drawingml/2006/main">
              <a:ext uri="{FF2B5EF4-FFF2-40B4-BE49-F238E27FC236}">
                <a16:creationId xmlns:a16="http://schemas.microsoft.com/office/drawing/2014/main" id="{8A154FD5-EE3F-4BAF-87C7-D483F44DDAF6}"/>
              </a:ext>
            </a:extLst>
          </p:cNvPr>
          <p:cNvSpPr>
            <a:spLocks xmlns:a="http://schemas.openxmlformats.org/drawingml/2006/main" noGrp="1"/>
          </p:cNvSpPr>
          <p:nvPr/>
        </p:nvSpPr>
        <p:spPr>
          <a:xfrm xmlns:a="http://schemas.openxmlformats.org/drawingml/2006/main">
            <a:off x="5753100" y="5200650"/>
            <a:ext cx="57340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0">
                <a:solidFill>
                  <a:srgbClr val="1D1D1F"/>
                </a:solidFill>
                <a:latin typeface="Inter"/>
                <a:ea typeface="Inter"/>
                <a:cs typeface="Inter"/>
              </a:defRPr>
            </a:pPr>
            <a:r>
              <a:rPr sz="1500" b="0">
                <a:solidFill>
                  <a:srgbClr val="1D1D1F"/>
                </a:solidFill>
                <a:latin typeface="Inter"/>
                <a:ea typeface="Inter"/>
                <a:cs typeface="Inter"/>
              </a:rPr>
              <a:t>C07 / S5: Measured recovery supports a separate OFF action.</a:t>
            </a:r>
          </a:p>
        </p:txBody>
      </p:sp>
      <p:sp>
        <p:nvSpPr>
          <p:cNvPr id="23" name="text-2-24">
            <a:extLst xmlns:a="http://schemas.openxmlformats.org/drawingml/2006/main">
              <a:ext uri="{FF2B5EF4-FFF2-40B4-BE49-F238E27FC236}">
                <a16:creationId xmlns:a16="http://schemas.microsoft.com/office/drawing/2014/main" id="{449A204A-7AC4-487F-B087-18F3852B89CF}"/>
              </a:ext>
            </a:extLst>
          </p:cNvPr>
          <p:cNvSpPr>
            <a:spLocks xmlns:a="http://schemas.openxmlformats.org/drawingml/2006/main" noGrp="1"/>
          </p:cNvSpPr>
          <p:nvPr/>
        </p:nvSpPr>
        <p:spPr>
          <a:xfrm xmlns:a="http://schemas.openxmlformats.org/drawingml/2006/main">
            <a:off x="704850" y="602932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350" b="0">
                <a:solidFill>
                  <a:srgbClr val="6E6E73"/>
                </a:solidFill>
                <a:latin typeface="Inter"/>
                <a:ea typeface="Inter"/>
                <a:cs typeface="Inter"/>
              </a:defRPr>
            </a:pPr>
            <a:r>
              <a:rPr sz="1350" b="0">
                <a:solidFill>
                  <a:srgbClr val="6E6E73"/>
                </a:solidFill>
                <a:latin typeface="Inter"/>
                <a:ea typeface="Inter"/>
                <a:cs typeface="Inter"/>
              </a:rPr>
              <a:t>Synthetic observations and mock effects. Research references do not imply endorsement.</a:t>
            </a:r>
          </a:p>
        </p:txBody>
      </p:sp>
      <p:sp>
        <p:nvSpPr>
          <p:cNvPr id="24" name="text-2-25">
            <a:extLst xmlns:a="http://schemas.openxmlformats.org/drawingml/2006/main">
              <a:ext uri="{FF2B5EF4-FFF2-40B4-BE49-F238E27FC236}">
                <a16:creationId xmlns:a16="http://schemas.microsoft.com/office/drawing/2014/main" id="{9B717B6A-8A3D-4B45-8A30-734501422E86}"/>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25" name="text-2-26">
            <a:extLst xmlns:a="http://schemas.openxmlformats.org/drawingml/2006/main">
              <a:ext uri="{FF2B5EF4-FFF2-40B4-BE49-F238E27FC236}">
                <a16:creationId xmlns:a16="http://schemas.microsoft.com/office/drawing/2014/main" id="{757E2A53-90C3-4A30-BEFA-8346156868E2}"/>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02</a:t>
            </a:r>
          </a:p>
        </p:txBody>
      </p:sp>
    </p:spTree>
    <p:extLst>
      <p:ext uri="{BB962C8B-B14F-4D97-AF65-F5344CB8AC3E}">
        <p14:creationId xmlns:p14="http://schemas.microsoft.com/office/powerpoint/2010/main" val="198876057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27">
            <a:extLst xmlns:a="http://schemas.openxmlformats.org/drawingml/2006/main">
              <a:ext uri="{FF2B5EF4-FFF2-40B4-BE49-F238E27FC236}">
                <a16:creationId xmlns:a16="http://schemas.microsoft.com/office/drawing/2014/main" id="{AD5E639C-8C11-4BDC-BD99-71A1EE632E35}"/>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02 / THE TASK</a:t>
            </a:r>
          </a:p>
        </p:txBody>
      </p:sp>
      <p:sp>
        <p:nvSpPr>
          <p:cNvPr id="2" name="text-3-28">
            <a:extLst xmlns:a="http://schemas.openxmlformats.org/drawingml/2006/main">
              <a:ext uri="{FF2B5EF4-FFF2-40B4-BE49-F238E27FC236}">
                <a16:creationId xmlns:a16="http://schemas.microsoft.com/office/drawing/2014/main" id="{E62F505B-1235-4FBB-B4E7-F6C0616928BC}"/>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The local monitoring task</a:t>
            </a:r>
          </a:p>
        </p:txBody>
      </p:sp>
      <p:sp>
        <p:nvSpPr>
          <p:cNvPr id="3" name="text-3-29">
            <a:extLst xmlns:a="http://schemas.openxmlformats.org/drawingml/2006/main">
              <a:ext uri="{FF2B5EF4-FFF2-40B4-BE49-F238E27FC236}">
                <a16:creationId xmlns:a16="http://schemas.microsoft.com/office/drawing/2014/main" id="{1AFB80EF-3D91-4F6F-84E8-7B5549D64F2C}"/>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Observe, investigate, act locally, and explain what happened.</a:t>
            </a:r>
          </a:p>
        </p:txBody>
      </p:sp>
      <p:sp>
        <p:nvSpPr>
          <p:cNvPr id="4" name="text-3-30">
            <a:extLst xmlns:a="http://schemas.openxmlformats.org/drawingml/2006/main">
              <a:ext uri="{FF2B5EF4-FFF2-40B4-BE49-F238E27FC236}">
                <a16:creationId xmlns:a16="http://schemas.microsoft.com/office/drawing/2014/main" id="{CA5F8D08-0739-42FE-AD61-CB7EC4B8903B}"/>
              </a:ext>
            </a:extLst>
          </p:cNvPr>
          <p:cNvSpPr>
            <a:spLocks xmlns:a="http://schemas.openxmlformats.org/drawingml/2006/main" noGrp="1"/>
          </p:cNvSpPr>
          <p:nvPr/>
        </p:nvSpPr>
        <p:spPr>
          <a:xfrm xmlns:a="http://schemas.openxmlformats.org/drawingml/2006/main">
            <a:off x="704850" y="257175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Changes in rainfall alter the next monitoring interval.</a:t>
            </a:r>
          </a:p>
        </p:txBody>
      </p:sp>
      <p:sp>
        <p:nvSpPr>
          <p:cNvPr id="5" name="text-3-31">
            <a:extLst xmlns:a="http://schemas.openxmlformats.org/drawingml/2006/main">
              <a:ext uri="{FF2B5EF4-FFF2-40B4-BE49-F238E27FC236}">
                <a16:creationId xmlns:a16="http://schemas.microsoft.com/office/drawing/2014/main" id="{DCBCABF3-BCE6-4533-865D-74DC1E04EA52}"/>
              </a:ext>
            </a:extLst>
          </p:cNvPr>
          <p:cNvSpPr>
            <a:spLocks xmlns:a="http://schemas.openxmlformats.org/drawingml/2006/main" noGrp="1"/>
          </p:cNvSpPr>
          <p:nvPr/>
        </p:nvSpPr>
        <p:spPr>
          <a:xfrm xmlns:a="http://schemas.openxmlformats.org/drawingml/2006/main">
            <a:off x="704850" y="3267075"/>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Fresh local evidence can justify a bounded signal while optional reasoning is still pending.</a:t>
            </a:r>
          </a:p>
        </p:txBody>
      </p:sp>
      <p:sp>
        <p:nvSpPr>
          <p:cNvPr id="6" name="text-3-32">
            <a:extLst xmlns:a="http://schemas.openxmlformats.org/drawingml/2006/main">
              <a:ext uri="{FF2B5EF4-FFF2-40B4-BE49-F238E27FC236}">
                <a16:creationId xmlns:a16="http://schemas.microsoft.com/office/drawing/2014/main" id="{E1BB8C4D-C20E-4DFF-BCE9-0EAA410558E0}"/>
              </a:ext>
            </a:extLst>
          </p:cNvPr>
          <p:cNvSpPr>
            <a:spLocks xmlns:a="http://schemas.openxmlformats.org/drawingml/2006/main" noGrp="1"/>
          </p:cNvSpPr>
          <p:nvPr/>
        </p:nvSpPr>
        <p:spPr>
          <a:xfrm xmlns:a="http://schemas.openxmlformats.org/drawingml/2006/main">
            <a:off x="704850" y="4333875"/>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Recovery requires new measurements and a separate OFF decision.</a:t>
            </a:r>
          </a:p>
        </p:txBody>
      </p:sp>
      <p:sp>
        <p:nvSpPr>
          <p:cNvPr id="7" name="text-3-33">
            <a:extLst xmlns:a="http://schemas.openxmlformats.org/drawingml/2006/main">
              <a:ext uri="{FF2B5EF4-FFF2-40B4-BE49-F238E27FC236}">
                <a16:creationId xmlns:a16="http://schemas.microsoft.com/office/drawing/2014/main" id="{1EC6A298-351B-499A-8744-E7FE967664C9}"/>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3-34">
            <a:extLst xmlns:a="http://schemas.openxmlformats.org/drawingml/2006/main">
              <a:ext uri="{FF2B5EF4-FFF2-40B4-BE49-F238E27FC236}">
                <a16:creationId xmlns:a16="http://schemas.microsoft.com/office/drawing/2014/main" id="{1A1F1894-108A-4E8E-9237-1693D1D57430}"/>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03</a:t>
            </a:r>
          </a:p>
        </p:txBody>
      </p:sp>
    </p:spTree>
    <p:extLst>
      <p:ext uri="{BB962C8B-B14F-4D97-AF65-F5344CB8AC3E}">
        <p14:creationId xmlns:p14="http://schemas.microsoft.com/office/powerpoint/2010/main" val="13331979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4-35">
            <a:extLst xmlns:a="http://schemas.openxmlformats.org/drawingml/2006/main">
              <a:ext uri="{FF2B5EF4-FFF2-40B4-BE49-F238E27FC236}">
                <a16:creationId xmlns:a16="http://schemas.microsoft.com/office/drawing/2014/main" id="{31CD57F5-738C-42C7-83BF-6A374711C908}"/>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03 / THE THESIS</a:t>
            </a:r>
          </a:p>
        </p:txBody>
      </p:sp>
      <p:sp>
        <p:nvSpPr>
          <p:cNvPr id="2" name="text-4-36">
            <a:extLst xmlns:a="http://schemas.openxmlformats.org/drawingml/2006/main">
              <a:ext uri="{FF2B5EF4-FFF2-40B4-BE49-F238E27FC236}">
                <a16:creationId xmlns:a16="http://schemas.microsoft.com/office/drawing/2014/main" id="{EA77FE7A-D3D6-410C-B48E-9C29C896913D}"/>
              </a:ext>
            </a:extLst>
          </p:cNvPr>
          <p:cNvSpPr>
            <a:spLocks xmlns:a="http://schemas.openxmlformats.org/drawingml/2006/main" noGrp="1"/>
          </p:cNvSpPr>
          <p:nvPr/>
        </p:nvSpPr>
        <p:spPr>
          <a:xfrm xmlns:a="http://schemas.openxmlformats.org/drawingml/2006/main">
            <a:off x="666750" y="8953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Replaceable intelligence</a:t>
            </a:r>
          </a:p>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and local authority</a:t>
            </a:r>
          </a:p>
        </p:txBody>
      </p:sp>
      <p:sp>
        <p:nvSpPr>
          <p:cNvPr id="3" name="text-4-37">
            <a:extLst xmlns:a="http://schemas.openxmlformats.org/drawingml/2006/main">
              <a:ext uri="{FF2B5EF4-FFF2-40B4-BE49-F238E27FC236}">
                <a16:creationId xmlns:a16="http://schemas.microsoft.com/office/drawing/2014/main" id="{1F882813-8633-4C24-B77E-E4F0A11E0E6B}"/>
              </a:ext>
            </a:extLst>
          </p:cNvPr>
          <p:cNvSpPr>
            <a:spLocks xmlns:a="http://schemas.openxmlformats.org/drawingml/2006/main" noGrp="1"/>
          </p:cNvSpPr>
          <p:nvPr/>
        </p:nvSpPr>
        <p:spPr>
          <a:xfrm xmlns:a="http://schemas.openxmlformats.org/drawingml/2006/main">
            <a:off x="704850" y="20383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model is a contributor inside the cell.</a:t>
            </a:r>
          </a:p>
        </p:txBody>
      </p:sp>
      <p:sp>
        <p:nvSpPr>
          <p:cNvPr id="4" name="text-4-38">
            <a:extLst xmlns:a="http://schemas.openxmlformats.org/drawingml/2006/main">
              <a:ext uri="{FF2B5EF4-FFF2-40B4-BE49-F238E27FC236}">
                <a16:creationId xmlns:a16="http://schemas.microsoft.com/office/drawing/2014/main" id="{3E2A5AB6-AF5E-4563-A787-62F2B206A95C}"/>
              </a:ext>
            </a:extLst>
          </p:cNvPr>
          <p:cNvSpPr>
            <a:spLocks xmlns:a="http://schemas.openxmlformats.org/drawingml/2006/main" noGrp="1"/>
          </p:cNvSpPr>
          <p:nvPr/>
        </p:nvSpPr>
        <p:spPr>
          <a:xfrm xmlns:a="http://schemas.openxmlformats.org/drawingml/2006/main">
            <a:off x="704850" y="302895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Reasoning proposes a finite investigation.</a:t>
            </a:r>
          </a:p>
        </p:txBody>
      </p:sp>
      <p:sp>
        <p:nvSpPr>
          <p:cNvPr id="5" name="text-4-39">
            <a:extLst xmlns:a="http://schemas.openxmlformats.org/drawingml/2006/main">
              <a:ext uri="{FF2B5EF4-FFF2-40B4-BE49-F238E27FC236}">
                <a16:creationId xmlns:a16="http://schemas.microsoft.com/office/drawing/2014/main" id="{EA5FFEB7-F79C-4477-92B7-77FCF95C576C}"/>
              </a:ext>
            </a:extLst>
          </p:cNvPr>
          <p:cNvSpPr>
            <a:spLocks xmlns:a="http://schemas.openxmlformats.org/drawingml/2006/main" noGrp="1"/>
          </p:cNvSpPr>
          <p:nvPr/>
        </p:nvSpPr>
        <p:spPr>
          <a:xfrm xmlns:a="http://schemas.openxmlformats.org/drawingml/2006/main">
            <a:off x="704850" y="3724275"/>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The runtime binds sources, requirements and actual work.</a:t>
            </a:r>
          </a:p>
        </p:txBody>
      </p:sp>
      <p:sp>
        <p:nvSpPr>
          <p:cNvPr id="6" name="text-4-40">
            <a:extLst xmlns:a="http://schemas.openxmlformats.org/drawingml/2006/main">
              <a:ext uri="{FF2B5EF4-FFF2-40B4-BE49-F238E27FC236}">
                <a16:creationId xmlns:a16="http://schemas.microsoft.com/office/drawing/2014/main" id="{12E7566D-5A83-4AA3-8373-2F6DAEEEBFA8}"/>
              </a:ext>
            </a:extLst>
          </p:cNvPr>
          <p:cNvSpPr>
            <a:spLocks xmlns:a="http://schemas.openxmlformats.org/drawingml/2006/main" noGrp="1"/>
          </p:cNvSpPr>
          <p:nvPr/>
        </p:nvSpPr>
        <p:spPr>
          <a:xfrm xmlns:a="http://schemas.openxmlformats.org/drawingml/2006/main">
            <a:off x="704850" y="441960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Root remains the sole final authority; Host and Firewall enforce effects.</a:t>
            </a:r>
          </a:p>
        </p:txBody>
      </p:sp>
      <p:sp>
        <p:nvSpPr>
          <p:cNvPr id="7" name="text-4-41">
            <a:extLst xmlns:a="http://schemas.openxmlformats.org/drawingml/2006/main">
              <a:ext uri="{FF2B5EF4-FFF2-40B4-BE49-F238E27FC236}">
                <a16:creationId xmlns:a16="http://schemas.microsoft.com/office/drawing/2014/main" id="{F1CDD438-1F29-4167-9722-7029AA55D4A9}"/>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4-42">
            <a:extLst xmlns:a="http://schemas.openxmlformats.org/drawingml/2006/main">
              <a:ext uri="{FF2B5EF4-FFF2-40B4-BE49-F238E27FC236}">
                <a16:creationId xmlns:a16="http://schemas.microsoft.com/office/drawing/2014/main" id="{F8984E46-BCE7-43CD-8D56-E7CDC2B9FB20}"/>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04</a:t>
            </a:r>
          </a:p>
        </p:txBody>
      </p:sp>
    </p:spTree>
    <p:extLst>
      <p:ext uri="{BB962C8B-B14F-4D97-AF65-F5344CB8AC3E}">
        <p14:creationId xmlns:p14="http://schemas.microsoft.com/office/powerpoint/2010/main" val="8408061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5-43">
            <a:extLst xmlns:a="http://schemas.openxmlformats.org/drawingml/2006/main">
              <a:ext uri="{FF2B5EF4-FFF2-40B4-BE49-F238E27FC236}">
                <a16:creationId xmlns:a16="http://schemas.microsoft.com/office/drawing/2014/main" id="{D38A638E-F1A4-457C-8210-CFB8BBBC81CB}"/>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04 / THREE EVIDENCE LANES</a:t>
            </a:r>
          </a:p>
        </p:txBody>
      </p:sp>
      <p:sp>
        <p:nvSpPr>
          <p:cNvPr id="2" name="text-5-44">
            <a:extLst xmlns:a="http://schemas.openxmlformats.org/drawingml/2006/main">
              <a:ext uri="{FF2B5EF4-FFF2-40B4-BE49-F238E27FC236}">
                <a16:creationId xmlns:a16="http://schemas.microsoft.com/office/drawing/2014/main" id="{A4878EB6-0701-4E54-A9C8-E281F40F6C19}"/>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One account. Three honest lanes.</a:t>
            </a:r>
          </a:p>
        </p:txBody>
      </p:sp>
      <p:sp>
        <p:nvSpPr>
          <p:cNvPr id="3" name="text-5-45">
            <a:extLst xmlns:a="http://schemas.openxmlformats.org/drawingml/2006/main">
              <a:ext uri="{FF2B5EF4-FFF2-40B4-BE49-F238E27FC236}">
                <a16:creationId xmlns:a16="http://schemas.microsoft.com/office/drawing/2014/main" id="{D54E46FE-7FC6-480D-935E-F65E59A6B417}"/>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Each claim names how it was observed.</a:t>
            </a:r>
          </a:p>
        </p:txBody>
      </p:sp>
      <p:graphicFrame>
        <p:nvGraphicFramePr>
          <p:cNvPr id="10" name=""/>
          <p:cNvGraphicFramePr/>
          <p:nvPr/>
        </p:nvGraphicFramePr>
        <p:xfrm>
          <a:off xmlns:a="http://schemas.openxmlformats.org/drawingml/2006/main" x="685800" y="2162175"/>
          <a:ext xmlns:a="http://schemas.openxmlformats.org/drawingml/2006/main" cx="10820400" cy="2019300"/>
        </p:xfrm>
        <a:graphic xmlns:a="http://schemas.openxmlformats.org/drawingml/2006/main">
          <a:graphicData uri="http://schemas.openxmlformats.org/drawingml/2006/table">
            <a:tbl>
              <a:tblPr firstRow="0" bandRow="0"/>
              <a:tblGrid>
                <a:gridCol w="2813304"/>
                <a:gridCol w="3678936"/>
                <a:gridCol w="4328160"/>
              </a:tblGrid>
              <a:tr h="447675">
                <a:tc>
                  <a:txBody>
                    <a:bodyPr>
                      <a:noAutofit/>
                    </a:bodyPr>
                    <a:lstStyle/>
                    <a:p>
                      <a:r>
                        <a:rPr sz="1350" b="1">
                          <a:solidFill>
                            <a:srgbClr val="6E6E73"/>
                          </a:solidFill>
                          <a:latin typeface="Inter"/>
                          <a:ea typeface="Inter"/>
                          <a:cs typeface="Inter"/>
                        </a:rPr>
                        <a:t>Lane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Actually exercised</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Boundary</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Controlled story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S0-S5, real core, mock effects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No paid model in that story</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Live semantics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5 Gemini calls + actual Work</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Synthetic site context</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External readings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8 actual EA values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Historical; physical mapping unresolved</a:t>
                      </a:r>
                    </a:p>
                  </a:txBody>
                  <a:tcPr marL="123825" marR="123825" marT="85725" marB="85725" anchor="ctr">
                    <a:solidFill>
                      <a:srgbClr val="FFFFFF"/>
                    </a:solidFill>
                  </a:tcPr>
                </a:tc>
              </a:tr>
            </a:tbl>
          </a:graphicData>
        </a:graphic>
      </p:graphicFrame>
      <p:sp>
        <p:nvSpPr>
          <p:cNvPr id="5" name="text-5-47">
            <a:extLst xmlns:a="http://schemas.openxmlformats.org/drawingml/2006/main">
              <a:ext uri="{FF2B5EF4-FFF2-40B4-BE49-F238E27FC236}">
                <a16:creationId xmlns:a16="http://schemas.microsoft.com/office/drawing/2014/main" id="{7F49C20D-4FD7-40B5-98A2-F7B5814CF0F0}"/>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5-48">
            <a:extLst xmlns:a="http://schemas.openxmlformats.org/drawingml/2006/main">
              <a:ext uri="{FF2B5EF4-FFF2-40B4-BE49-F238E27FC236}">
                <a16:creationId xmlns:a16="http://schemas.microsoft.com/office/drawing/2014/main" id="{7598CDFA-EB52-4840-9F27-EAE6D6A453CC}"/>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05</a:t>
            </a:r>
          </a:p>
        </p:txBody>
      </p:sp>
    </p:spTree>
    <p:extLst>
      <p:ext uri="{BB962C8B-B14F-4D97-AF65-F5344CB8AC3E}">
        <p14:creationId xmlns:p14="http://schemas.microsoft.com/office/powerpoint/2010/main" val="11465002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6-49">
            <a:extLst xmlns:a="http://schemas.openxmlformats.org/drawingml/2006/main">
              <a:ext uri="{FF2B5EF4-FFF2-40B4-BE49-F238E27FC236}">
                <a16:creationId xmlns:a16="http://schemas.microsoft.com/office/drawing/2014/main" id="{DE75E528-6869-4426-95CE-7292B3EF581D}"/>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05 / THE CELL</a:t>
            </a:r>
          </a:p>
        </p:txBody>
      </p:sp>
      <p:sp>
        <p:nvSpPr>
          <p:cNvPr id="2" name="text-6-50">
            <a:extLst xmlns:a="http://schemas.openxmlformats.org/drawingml/2006/main">
              <a:ext uri="{FF2B5EF4-FFF2-40B4-BE49-F238E27FC236}">
                <a16:creationId xmlns:a16="http://schemas.microsoft.com/office/drawing/2014/main" id="{55AD5F7C-9F47-4888-9882-FBFFB8CE0174}"/>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 local cell with explicit boundaries</a:t>
            </a:r>
          </a:p>
        </p:txBody>
      </p:sp>
      <p:sp>
        <p:nvSpPr>
          <p:cNvPr id="3" name="text-6-51">
            <a:extLst xmlns:a="http://schemas.openxmlformats.org/drawingml/2006/main">
              <a:ext uri="{FF2B5EF4-FFF2-40B4-BE49-F238E27FC236}">
                <a16:creationId xmlns:a16="http://schemas.microsoft.com/office/drawing/2014/main" id="{7D4EEC92-27CB-4CC7-A44D-574DFE5005ED}"/>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Capabilities compose around current evidence.</a:t>
            </a:r>
          </a:p>
        </p:txBody>
      </p:sp>
      <p:sp>
        <p:nvSpPr>
          <p:cNvPr id="4" name="">
            <a:extLst xmlns:a="http://schemas.openxmlformats.org/drawingml/2006/main">
              <a:ext uri="{FF2B5EF4-FFF2-40B4-BE49-F238E27FC236}">
                <a16:creationId xmlns:a16="http://schemas.microsoft.com/office/drawing/2014/main" id="{C33F29F1-6DD5-448C-AB7A-2B35D0896678}"/>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6-52">
            <a:extLst xmlns:a="http://schemas.openxmlformats.org/drawingml/2006/main">
              <a:ext uri="{FF2B5EF4-FFF2-40B4-BE49-F238E27FC236}">
                <a16:creationId xmlns:a16="http://schemas.microsoft.com/office/drawing/2014/main" id="{BBAEC3DC-AD47-4B16-A71F-48D0646A9407}"/>
              </a:ext>
            </a:extLst>
          </p:cNvPr>
          <p:cNvSpPr>
            <a:spLocks xmlns:a="http://schemas.openxmlformats.org/drawingml/2006/main" noGrp="1"/>
          </p:cNvSpPr>
          <p:nvPr/>
        </p:nvSpPr>
        <p:spPr>
          <a:xfrm xmlns:a="http://schemas.openxmlformats.org/drawingml/2006/main">
            <a:off x="685800"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6-53">
            <a:extLst xmlns:a="http://schemas.openxmlformats.org/drawingml/2006/main">
              <a:ext uri="{FF2B5EF4-FFF2-40B4-BE49-F238E27FC236}">
                <a16:creationId xmlns:a16="http://schemas.microsoft.com/office/drawing/2014/main" id="{D455031E-E0BF-4ECB-852A-68B2E70612BE}"/>
              </a:ext>
            </a:extLst>
          </p:cNvPr>
          <p:cNvSpPr>
            <a:spLocks xmlns:a="http://schemas.openxmlformats.org/drawingml/2006/main" noGrp="1"/>
          </p:cNvSpPr>
          <p:nvPr/>
        </p:nvSpPr>
        <p:spPr>
          <a:xfrm xmlns:a="http://schemas.openxmlformats.org/drawingml/2006/main">
            <a:off x="685800"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Typed observations</a:t>
            </a:r>
          </a:p>
        </p:txBody>
      </p:sp>
      <p:sp>
        <p:nvSpPr>
          <p:cNvPr id="7" name="text-6-54">
            <a:extLst xmlns:a="http://schemas.openxmlformats.org/drawingml/2006/main">
              <a:ext uri="{FF2B5EF4-FFF2-40B4-BE49-F238E27FC236}">
                <a16:creationId xmlns:a16="http://schemas.microsoft.com/office/drawing/2014/main" id="{8223588B-0FA9-413B-89E1-0D2529136612}"/>
              </a:ext>
            </a:extLst>
          </p:cNvPr>
          <p:cNvSpPr>
            <a:spLocks xmlns:a="http://schemas.openxmlformats.org/drawingml/2006/main" noGrp="1"/>
          </p:cNvSpPr>
          <p:nvPr/>
        </p:nvSpPr>
        <p:spPr>
          <a:xfrm xmlns:a="http://schemas.openxmlformats.org/drawingml/2006/main">
            <a:off x="685800"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Time, source, units, lineage</a:t>
            </a:r>
          </a:p>
        </p:txBody>
      </p:sp>
      <p:sp>
        <p:nvSpPr>
          <p:cNvPr id="8" name="text-6-55">
            <a:extLst xmlns:a="http://schemas.openxmlformats.org/drawingml/2006/main">
              <a:ext uri="{FF2B5EF4-FFF2-40B4-BE49-F238E27FC236}">
                <a16:creationId xmlns:a16="http://schemas.microsoft.com/office/drawing/2014/main" id="{A9FF65EA-44F0-4230-8F40-A805507BA379}"/>
              </a:ext>
            </a:extLst>
          </p:cNvPr>
          <p:cNvSpPr>
            <a:spLocks xmlns:a="http://schemas.openxmlformats.org/drawingml/2006/main" noGrp="1"/>
          </p:cNvSpPr>
          <p:nvPr/>
        </p:nvSpPr>
        <p:spPr>
          <a:xfrm xmlns:a="http://schemas.openxmlformats.org/drawingml/2006/main">
            <a:off x="3469481"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6-56">
            <a:extLst xmlns:a="http://schemas.openxmlformats.org/drawingml/2006/main">
              <a:ext uri="{FF2B5EF4-FFF2-40B4-BE49-F238E27FC236}">
                <a16:creationId xmlns:a16="http://schemas.microsoft.com/office/drawing/2014/main" id="{E9B5F1D8-2A13-46E0-AE37-3353E4BD7AE1}"/>
              </a:ext>
            </a:extLst>
          </p:cNvPr>
          <p:cNvSpPr>
            <a:spLocks xmlns:a="http://schemas.openxmlformats.org/drawingml/2006/main" noGrp="1"/>
          </p:cNvSpPr>
          <p:nvPr/>
        </p:nvSpPr>
        <p:spPr>
          <a:xfrm xmlns:a="http://schemas.openxmlformats.org/drawingml/2006/main">
            <a:off x="3469481"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Bounded reasoning</a:t>
            </a:r>
          </a:p>
        </p:txBody>
      </p:sp>
      <p:sp>
        <p:nvSpPr>
          <p:cNvPr id="10" name="text-6-57">
            <a:extLst xmlns:a="http://schemas.openxmlformats.org/drawingml/2006/main">
              <a:ext uri="{FF2B5EF4-FFF2-40B4-BE49-F238E27FC236}">
                <a16:creationId xmlns:a16="http://schemas.microsoft.com/office/drawing/2014/main" id="{4F008756-5799-4808-BA7C-7320EBEA8490}"/>
              </a:ext>
            </a:extLst>
          </p:cNvPr>
          <p:cNvSpPr>
            <a:spLocks xmlns:a="http://schemas.openxmlformats.org/drawingml/2006/main" noGrp="1"/>
          </p:cNvSpPr>
          <p:nvPr/>
        </p:nvSpPr>
        <p:spPr>
          <a:xfrm xmlns:a="http://schemas.openxmlformats.org/drawingml/2006/main">
            <a:off x="3469481"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Duty-specific proposals</a:t>
            </a:r>
          </a:p>
        </p:txBody>
      </p:sp>
      <p:sp>
        <p:nvSpPr>
          <p:cNvPr id="11" name="text-6-58">
            <a:extLst xmlns:a="http://schemas.openxmlformats.org/drawingml/2006/main">
              <a:ext uri="{FF2B5EF4-FFF2-40B4-BE49-F238E27FC236}">
                <a16:creationId xmlns:a16="http://schemas.microsoft.com/office/drawing/2014/main" id="{049C03E8-345D-46D9-85A7-175DB239FCA0}"/>
              </a:ext>
            </a:extLst>
          </p:cNvPr>
          <p:cNvSpPr>
            <a:spLocks xmlns:a="http://schemas.openxmlformats.org/drawingml/2006/main" noGrp="1"/>
          </p:cNvSpPr>
          <p:nvPr/>
        </p:nvSpPr>
        <p:spPr>
          <a:xfrm xmlns:a="http://schemas.openxmlformats.org/drawingml/2006/main">
            <a:off x="6253163"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6-59">
            <a:extLst xmlns:a="http://schemas.openxmlformats.org/drawingml/2006/main">
              <a:ext uri="{FF2B5EF4-FFF2-40B4-BE49-F238E27FC236}">
                <a16:creationId xmlns:a16="http://schemas.microsoft.com/office/drawing/2014/main" id="{A6DAD851-EBAA-4252-9670-0EFB9B0C393C}"/>
              </a:ext>
            </a:extLst>
          </p:cNvPr>
          <p:cNvSpPr>
            <a:spLocks xmlns:a="http://schemas.openxmlformats.org/drawingml/2006/main" noGrp="1"/>
          </p:cNvSpPr>
          <p:nvPr/>
        </p:nvSpPr>
        <p:spPr>
          <a:xfrm xmlns:a="http://schemas.openxmlformats.org/drawingml/2006/main">
            <a:off x="6253163"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Current Root + Host</a:t>
            </a:r>
          </a:p>
        </p:txBody>
      </p:sp>
      <p:sp>
        <p:nvSpPr>
          <p:cNvPr id="13" name="text-6-60">
            <a:extLst xmlns:a="http://schemas.openxmlformats.org/drawingml/2006/main">
              <a:ext uri="{FF2B5EF4-FFF2-40B4-BE49-F238E27FC236}">
                <a16:creationId xmlns:a16="http://schemas.microsoft.com/office/drawing/2014/main" id="{F329F3F6-3E45-43C0-9B3C-DDCAEA45C497}"/>
              </a:ext>
            </a:extLst>
          </p:cNvPr>
          <p:cNvSpPr>
            <a:spLocks xmlns:a="http://schemas.openxmlformats.org/drawingml/2006/main" noGrp="1"/>
          </p:cNvSpPr>
          <p:nvPr/>
        </p:nvSpPr>
        <p:spPr>
          <a:xfrm xmlns:a="http://schemas.openxmlformats.org/drawingml/2006/main">
            <a:off x="6253163"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Review and admitted dispatch</a:t>
            </a:r>
          </a:p>
        </p:txBody>
      </p:sp>
      <p:sp>
        <p:nvSpPr>
          <p:cNvPr id="14" name="text-6-61">
            <a:extLst xmlns:a="http://schemas.openxmlformats.org/drawingml/2006/main">
              <a:ext uri="{FF2B5EF4-FFF2-40B4-BE49-F238E27FC236}">
                <a16:creationId xmlns:a16="http://schemas.microsoft.com/office/drawing/2014/main" id="{A33F3495-59D8-43AB-905A-0EB2DFF5ABBC}"/>
              </a:ext>
            </a:extLst>
          </p:cNvPr>
          <p:cNvSpPr>
            <a:spLocks xmlns:a="http://schemas.openxmlformats.org/drawingml/2006/main" noGrp="1"/>
          </p:cNvSpPr>
          <p:nvPr/>
        </p:nvSpPr>
        <p:spPr>
          <a:xfrm xmlns:a="http://schemas.openxmlformats.org/drawingml/2006/main">
            <a:off x="9036844"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6-62">
            <a:extLst xmlns:a="http://schemas.openxmlformats.org/drawingml/2006/main">
              <a:ext uri="{FF2B5EF4-FFF2-40B4-BE49-F238E27FC236}">
                <a16:creationId xmlns:a16="http://schemas.microsoft.com/office/drawing/2014/main" id="{40906620-AD89-4AE0-B05C-8C2007974266}"/>
              </a:ext>
            </a:extLst>
          </p:cNvPr>
          <p:cNvSpPr>
            <a:spLocks xmlns:a="http://schemas.openxmlformats.org/drawingml/2006/main" noGrp="1"/>
          </p:cNvSpPr>
          <p:nvPr/>
        </p:nvSpPr>
        <p:spPr>
          <a:xfrm xmlns:a="http://schemas.openxmlformats.org/drawingml/2006/main">
            <a:off x="9036844"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Results + memory</a:t>
            </a:r>
          </a:p>
        </p:txBody>
      </p:sp>
      <p:sp>
        <p:nvSpPr>
          <p:cNvPr id="16" name="text-6-63">
            <a:extLst xmlns:a="http://schemas.openxmlformats.org/drawingml/2006/main">
              <a:ext uri="{FF2B5EF4-FFF2-40B4-BE49-F238E27FC236}">
                <a16:creationId xmlns:a16="http://schemas.microsoft.com/office/drawing/2014/main" id="{74428D78-184A-4434-A5FC-3D18190E6A86}"/>
              </a:ext>
            </a:extLst>
          </p:cNvPr>
          <p:cNvSpPr>
            <a:spLocks xmlns:a="http://schemas.openxmlformats.org/drawingml/2006/main" noGrp="1"/>
          </p:cNvSpPr>
          <p:nvPr/>
        </p:nvSpPr>
        <p:spPr>
          <a:xfrm xmlns:a="http://schemas.openxmlformats.org/drawingml/2006/main">
            <a:off x="9036844"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Receipts and reusable meaning</a:t>
            </a:r>
          </a:p>
        </p:txBody>
      </p:sp>
      <p:sp>
        <p:nvSpPr>
          <p:cNvPr id="17" name="text-6-64">
            <a:extLst xmlns:a="http://schemas.openxmlformats.org/drawingml/2006/main">
              <a:ext uri="{FF2B5EF4-FFF2-40B4-BE49-F238E27FC236}">
                <a16:creationId xmlns:a16="http://schemas.microsoft.com/office/drawing/2014/main" id="{0B56AA26-EDDB-41BD-B256-DE42D32DFBE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8" name="text-6-65">
            <a:extLst xmlns:a="http://schemas.openxmlformats.org/drawingml/2006/main">
              <a:ext uri="{FF2B5EF4-FFF2-40B4-BE49-F238E27FC236}">
                <a16:creationId xmlns:a16="http://schemas.microsoft.com/office/drawing/2014/main" id="{285E4C0E-F497-451C-BE41-0E22261B7318}"/>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06</a:t>
            </a:r>
          </a:p>
        </p:txBody>
      </p:sp>
    </p:spTree>
    <p:extLst>
      <p:ext uri="{BB962C8B-B14F-4D97-AF65-F5344CB8AC3E}">
        <p14:creationId xmlns:p14="http://schemas.microsoft.com/office/powerpoint/2010/main" val="148795170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7-66">
            <a:extLst xmlns:a="http://schemas.openxmlformats.org/drawingml/2006/main">
              <a:ext uri="{FF2B5EF4-FFF2-40B4-BE49-F238E27FC236}">
                <a16:creationId xmlns:a16="http://schemas.microsoft.com/office/drawing/2014/main" id="{E1F153D8-B045-416B-9111-DF88A3E968D3}"/>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06 / THE WHOLE STORY</a:t>
            </a:r>
          </a:p>
        </p:txBody>
      </p:sp>
      <p:sp>
        <p:nvSpPr>
          <p:cNvPr id="2" name="text-7-67">
            <a:extLst xmlns:a="http://schemas.openxmlformats.org/drawingml/2006/main">
              <a:ext uri="{FF2B5EF4-FFF2-40B4-BE49-F238E27FC236}">
                <a16:creationId xmlns:a16="http://schemas.microsoft.com/office/drawing/2014/main" id="{83163585-45BA-427E-892E-93238042FDFD}"/>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S0-S2: build the current monitoring work</a:t>
            </a:r>
          </a:p>
        </p:txBody>
      </p:sp>
      <p:sp>
        <p:nvSpPr>
          <p:cNvPr id="3" name="text-7-68">
            <a:extLst xmlns:a="http://schemas.openxmlformats.org/drawingml/2006/main">
              <a:ext uri="{FF2B5EF4-FFF2-40B4-BE49-F238E27FC236}">
                <a16:creationId xmlns:a16="http://schemas.microsoft.com/office/drawing/2014/main" id="{51ACE922-6431-41C2-A2D8-BD757FCA0BF9}"/>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next interval is an executed configuration.</a:t>
            </a:r>
          </a:p>
        </p:txBody>
      </p:sp>
      <p:sp>
        <p:nvSpPr>
          <p:cNvPr id="4" name="text-7-69">
            <a:extLst xmlns:a="http://schemas.openxmlformats.org/drawingml/2006/main">
              <a:ext uri="{FF2B5EF4-FFF2-40B4-BE49-F238E27FC236}">
                <a16:creationId xmlns:a16="http://schemas.microsoft.com/office/drawing/2014/main" id="{651CDA9C-DFE1-4FDD-8620-7663CA2B1C5C}"/>
              </a:ext>
            </a:extLst>
          </p:cNvPr>
          <p:cNvSpPr>
            <a:spLocks xmlns:a="http://schemas.openxmlformats.org/drawingml/2006/main" noGrp="1"/>
          </p:cNvSpPr>
          <p:nvPr/>
        </p:nvSpPr>
        <p:spPr>
          <a:xfrm xmlns:a="http://schemas.openxmlformats.org/drawingml/2006/main">
            <a:off x="685800" y="234315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01</a:t>
            </a:r>
          </a:p>
        </p:txBody>
      </p:sp>
      <p:sp>
        <p:nvSpPr>
          <p:cNvPr id="5" name="text-7-70">
            <a:extLst xmlns:a="http://schemas.openxmlformats.org/drawingml/2006/main">
              <a:ext uri="{FF2B5EF4-FFF2-40B4-BE49-F238E27FC236}">
                <a16:creationId xmlns:a16="http://schemas.microsoft.com/office/drawing/2014/main" id="{69F6BD5B-A2DF-4E2F-8AF0-97FBB5FEFC7D}"/>
              </a:ext>
            </a:extLst>
          </p:cNvPr>
          <p:cNvSpPr>
            <a:spLocks xmlns:a="http://schemas.openxmlformats.org/drawingml/2006/main" noGrp="1"/>
          </p:cNvSpPr>
          <p:nvPr/>
        </p:nvSpPr>
        <p:spPr>
          <a:xfrm xmlns:a="http://schemas.openxmlformats.org/drawingml/2006/main">
            <a:off x="1905000" y="234315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S0 / Establish</a:t>
            </a:r>
          </a:p>
        </p:txBody>
      </p:sp>
      <p:sp>
        <p:nvSpPr>
          <p:cNvPr id="6" name="text-7-71">
            <a:extLst xmlns:a="http://schemas.openxmlformats.org/drawingml/2006/main">
              <a:ext uri="{FF2B5EF4-FFF2-40B4-BE49-F238E27FC236}">
                <a16:creationId xmlns:a16="http://schemas.microsoft.com/office/drawing/2014/main" id="{9CB89C94-D9EA-41F6-8823-9F0FAC732ABC}"/>
              </a:ext>
            </a:extLst>
          </p:cNvPr>
          <p:cNvSpPr>
            <a:spLocks xmlns:a="http://schemas.openxmlformats.org/drawingml/2006/main" noGrp="1"/>
          </p:cNvSpPr>
          <p:nvPr/>
        </p:nvSpPr>
        <p:spPr>
          <a:xfrm xmlns:a="http://schemas.openxmlformats.org/drawingml/2006/main">
            <a:off x="5457825" y="234315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Configure, intake, local memory</a:t>
            </a:r>
          </a:p>
        </p:txBody>
      </p:sp>
      <p:sp>
        <p:nvSpPr>
          <p:cNvPr id="7" name="">
            <a:extLst xmlns:a="http://schemas.openxmlformats.org/drawingml/2006/main">
              <a:ext uri="{FF2B5EF4-FFF2-40B4-BE49-F238E27FC236}">
                <a16:creationId xmlns:a16="http://schemas.microsoft.com/office/drawing/2014/main" id="{FF0F001A-406F-4365-9D92-C21B97BBD5DA}"/>
              </a:ext>
            </a:extLst>
          </p:cNvPr>
          <p:cNvSpPr>
            <a:spLocks xmlns:a="http://schemas.openxmlformats.org/drawingml/2006/main" noGrp="1"/>
          </p:cNvSpPr>
          <p:nvPr/>
        </p:nvSpPr>
        <p:spPr>
          <a:xfrm xmlns:a="http://schemas.openxmlformats.org/drawingml/2006/main">
            <a:off x="685800" y="31813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8" name="text-7-72">
            <a:extLst xmlns:a="http://schemas.openxmlformats.org/drawingml/2006/main">
              <a:ext uri="{FF2B5EF4-FFF2-40B4-BE49-F238E27FC236}">
                <a16:creationId xmlns:a16="http://schemas.microsoft.com/office/drawing/2014/main" id="{020194B0-0983-48DC-80C6-5F87971F1A53}"/>
              </a:ext>
            </a:extLst>
          </p:cNvPr>
          <p:cNvSpPr>
            <a:spLocks xmlns:a="http://schemas.openxmlformats.org/drawingml/2006/main" noGrp="1"/>
          </p:cNvSpPr>
          <p:nvPr/>
        </p:nvSpPr>
        <p:spPr>
          <a:xfrm xmlns:a="http://schemas.openxmlformats.org/drawingml/2006/main">
            <a:off x="685800" y="327660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02</a:t>
            </a:r>
          </a:p>
        </p:txBody>
      </p:sp>
      <p:sp>
        <p:nvSpPr>
          <p:cNvPr id="9" name="text-7-73">
            <a:extLst xmlns:a="http://schemas.openxmlformats.org/drawingml/2006/main">
              <a:ext uri="{FF2B5EF4-FFF2-40B4-BE49-F238E27FC236}">
                <a16:creationId xmlns:a16="http://schemas.microsoft.com/office/drawing/2014/main" id="{5A9FD591-E31E-4065-B037-248152CBD701}"/>
              </a:ext>
            </a:extLst>
          </p:cNvPr>
          <p:cNvSpPr>
            <a:spLocks xmlns:a="http://schemas.openxmlformats.org/drawingml/2006/main" noGrp="1"/>
          </p:cNvSpPr>
          <p:nvPr/>
        </p:nvSpPr>
        <p:spPr>
          <a:xfrm xmlns:a="http://schemas.openxmlformats.org/drawingml/2006/main">
            <a:off x="1905000" y="32766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S1 / Adapt</a:t>
            </a:r>
          </a:p>
        </p:txBody>
      </p:sp>
      <p:sp>
        <p:nvSpPr>
          <p:cNvPr id="10" name="text-7-74">
            <a:extLst xmlns:a="http://schemas.openxmlformats.org/drawingml/2006/main">
              <a:ext uri="{FF2B5EF4-FFF2-40B4-BE49-F238E27FC236}">
                <a16:creationId xmlns:a16="http://schemas.microsoft.com/office/drawing/2014/main" id="{A1956421-C729-4ED7-8969-7E4B544F3638}"/>
              </a:ext>
            </a:extLst>
          </p:cNvPr>
          <p:cNvSpPr>
            <a:spLocks xmlns:a="http://schemas.openxmlformats.org/drawingml/2006/main" noGrp="1"/>
          </p:cNvSpPr>
          <p:nvPr/>
        </p:nvSpPr>
        <p:spPr>
          <a:xfrm xmlns:a="http://schemas.openxmlformats.org/drawingml/2006/main">
            <a:off x="5457825" y="327660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Rainfall changes pending cadence</a:t>
            </a:r>
          </a:p>
        </p:txBody>
      </p:sp>
      <p:sp>
        <p:nvSpPr>
          <p:cNvPr id="11" name="">
            <a:extLst xmlns:a="http://schemas.openxmlformats.org/drawingml/2006/main">
              <a:ext uri="{FF2B5EF4-FFF2-40B4-BE49-F238E27FC236}">
                <a16:creationId xmlns:a16="http://schemas.microsoft.com/office/drawing/2014/main" id="{16D7ECB6-2CBC-4572-A4CF-FBA8E2E3307C}"/>
              </a:ext>
            </a:extLst>
          </p:cNvPr>
          <p:cNvSpPr>
            <a:spLocks xmlns:a="http://schemas.openxmlformats.org/drawingml/2006/main" noGrp="1"/>
          </p:cNvSpPr>
          <p:nvPr/>
        </p:nvSpPr>
        <p:spPr>
          <a:xfrm xmlns:a="http://schemas.openxmlformats.org/drawingml/2006/main">
            <a:off x="685800" y="411480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2" name="text-7-75">
            <a:extLst xmlns:a="http://schemas.openxmlformats.org/drawingml/2006/main">
              <a:ext uri="{FF2B5EF4-FFF2-40B4-BE49-F238E27FC236}">
                <a16:creationId xmlns:a16="http://schemas.microsoft.com/office/drawing/2014/main" id="{CB2C3EFB-9920-4CBE-BEDD-027BDC6AD7C6}"/>
              </a:ext>
            </a:extLst>
          </p:cNvPr>
          <p:cNvSpPr>
            <a:spLocks xmlns:a="http://schemas.openxmlformats.org/drawingml/2006/main" noGrp="1"/>
          </p:cNvSpPr>
          <p:nvPr/>
        </p:nvSpPr>
        <p:spPr>
          <a:xfrm xmlns:a="http://schemas.openxmlformats.org/drawingml/2006/main">
            <a:off x="685800" y="421005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03</a:t>
            </a:r>
          </a:p>
        </p:txBody>
      </p:sp>
      <p:sp>
        <p:nvSpPr>
          <p:cNvPr id="13" name="text-7-76">
            <a:extLst xmlns:a="http://schemas.openxmlformats.org/drawingml/2006/main">
              <a:ext uri="{FF2B5EF4-FFF2-40B4-BE49-F238E27FC236}">
                <a16:creationId xmlns:a16="http://schemas.microsoft.com/office/drawing/2014/main" id="{AC2D727A-E493-4BDA-8C4E-7FFDA5ECA007}"/>
              </a:ext>
            </a:extLst>
          </p:cNvPr>
          <p:cNvSpPr>
            <a:spLocks xmlns:a="http://schemas.openxmlformats.org/drawingml/2006/main" noGrp="1"/>
          </p:cNvSpPr>
          <p:nvPr/>
        </p:nvSpPr>
        <p:spPr>
          <a:xfrm xmlns:a="http://schemas.openxmlformats.org/drawingml/2006/main">
            <a:off x="1905000" y="421005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S2 / Investigate</a:t>
            </a:r>
          </a:p>
        </p:txBody>
      </p:sp>
      <p:sp>
        <p:nvSpPr>
          <p:cNvPr id="14" name="text-7-77">
            <a:extLst xmlns:a="http://schemas.openxmlformats.org/drawingml/2006/main">
              <a:ext uri="{FF2B5EF4-FFF2-40B4-BE49-F238E27FC236}">
                <a16:creationId xmlns:a16="http://schemas.microsoft.com/office/drawing/2014/main" id="{7AA5F1AE-16D3-45E2-8D33-41CFCE8865DA}"/>
              </a:ext>
            </a:extLst>
          </p:cNvPr>
          <p:cNvSpPr>
            <a:spLocks xmlns:a="http://schemas.openxmlformats.org/drawingml/2006/main" noGrp="1"/>
          </p:cNvSpPr>
          <p:nvPr/>
        </p:nvSpPr>
        <p:spPr>
          <a:xfrm xmlns:a="http://schemas.openxmlformats.org/drawingml/2006/main">
            <a:off x="5457825" y="421005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Roles feed reviewed Work</a:t>
            </a:r>
          </a:p>
        </p:txBody>
      </p:sp>
      <p:sp>
        <p:nvSpPr>
          <p:cNvPr id="15" name="">
            <a:extLst xmlns:a="http://schemas.openxmlformats.org/drawingml/2006/main">
              <a:ext uri="{FF2B5EF4-FFF2-40B4-BE49-F238E27FC236}">
                <a16:creationId xmlns:a16="http://schemas.microsoft.com/office/drawing/2014/main" id="{6F587355-7799-4BC4-9A41-FE41394F8852}"/>
              </a:ext>
            </a:extLst>
          </p:cNvPr>
          <p:cNvSpPr>
            <a:spLocks xmlns:a="http://schemas.openxmlformats.org/drawingml/2006/main" noGrp="1"/>
          </p:cNvSpPr>
          <p:nvPr/>
        </p:nvSpPr>
        <p:spPr>
          <a:xfrm xmlns:a="http://schemas.openxmlformats.org/drawingml/2006/main">
            <a:off x="685800" y="50482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6" name="text-7-78">
            <a:extLst xmlns:a="http://schemas.openxmlformats.org/drawingml/2006/main">
              <a:ext uri="{FF2B5EF4-FFF2-40B4-BE49-F238E27FC236}">
                <a16:creationId xmlns:a16="http://schemas.microsoft.com/office/drawing/2014/main" id="{AF5C2DC0-C73A-4F1E-971D-9CC260C9CBCD}"/>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7" name="text-7-79">
            <a:extLst xmlns:a="http://schemas.openxmlformats.org/drawingml/2006/main">
              <a:ext uri="{FF2B5EF4-FFF2-40B4-BE49-F238E27FC236}">
                <a16:creationId xmlns:a16="http://schemas.microsoft.com/office/drawing/2014/main" id="{793C4B39-8C29-4489-87D7-E8C39D660BEF}"/>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07</a:t>
            </a:r>
          </a:p>
        </p:txBody>
      </p:sp>
    </p:spTree>
    <p:extLst>
      <p:ext uri="{BB962C8B-B14F-4D97-AF65-F5344CB8AC3E}">
        <p14:creationId xmlns:p14="http://schemas.microsoft.com/office/powerpoint/2010/main" val="12606657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8-80">
            <a:extLst xmlns:a="http://schemas.openxmlformats.org/drawingml/2006/main">
              <a:ext uri="{FF2B5EF4-FFF2-40B4-BE49-F238E27FC236}">
                <a16:creationId xmlns:a16="http://schemas.microsoft.com/office/drawing/2014/main" id="{7D20CAFC-0C80-421D-A3CC-D147C7B66F73}"/>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07 / THE WHOLE STORY</a:t>
            </a:r>
          </a:p>
        </p:txBody>
      </p:sp>
      <p:sp>
        <p:nvSpPr>
          <p:cNvPr id="2" name="text-8-81">
            <a:extLst xmlns:a="http://schemas.openxmlformats.org/drawingml/2006/main">
              <a:ext uri="{FF2B5EF4-FFF2-40B4-BE49-F238E27FC236}">
                <a16:creationId xmlns:a16="http://schemas.microsoft.com/office/drawing/2014/main" id="{BBC92886-8666-4D4A-811E-99366E3259D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S3-S5: act, deliver, recover</a:t>
            </a:r>
          </a:p>
        </p:txBody>
      </p:sp>
      <p:sp>
        <p:nvSpPr>
          <p:cNvPr id="3" name="text-8-82">
            <a:extLst xmlns:a="http://schemas.openxmlformats.org/drawingml/2006/main">
              <a:ext uri="{FF2B5EF4-FFF2-40B4-BE49-F238E27FC236}">
                <a16:creationId xmlns:a16="http://schemas.microsoft.com/office/drawing/2014/main" id="{B57D3B6B-BC7C-4EC9-96E2-79F46902C315}"/>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incident ends through evidence and a new action.</a:t>
            </a:r>
          </a:p>
        </p:txBody>
      </p:sp>
      <p:sp>
        <p:nvSpPr>
          <p:cNvPr id="4" name="text-8-83">
            <a:extLst xmlns:a="http://schemas.openxmlformats.org/drawingml/2006/main">
              <a:ext uri="{FF2B5EF4-FFF2-40B4-BE49-F238E27FC236}">
                <a16:creationId xmlns:a16="http://schemas.microsoft.com/office/drawing/2014/main" id="{C6168C0F-A60B-4812-8F81-7DE153448027}"/>
              </a:ext>
            </a:extLst>
          </p:cNvPr>
          <p:cNvSpPr>
            <a:spLocks xmlns:a="http://schemas.openxmlformats.org/drawingml/2006/main" noGrp="1"/>
          </p:cNvSpPr>
          <p:nvPr/>
        </p:nvSpPr>
        <p:spPr>
          <a:xfrm xmlns:a="http://schemas.openxmlformats.org/drawingml/2006/main">
            <a:off x="685800" y="234315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01</a:t>
            </a:r>
          </a:p>
        </p:txBody>
      </p:sp>
      <p:sp>
        <p:nvSpPr>
          <p:cNvPr id="5" name="text-8-84">
            <a:extLst xmlns:a="http://schemas.openxmlformats.org/drawingml/2006/main">
              <a:ext uri="{FF2B5EF4-FFF2-40B4-BE49-F238E27FC236}">
                <a16:creationId xmlns:a16="http://schemas.microsoft.com/office/drawing/2014/main" id="{1766AA90-DF11-473D-8E14-FD6FC28852DF}"/>
              </a:ext>
            </a:extLst>
          </p:cNvPr>
          <p:cNvSpPr>
            <a:spLocks xmlns:a="http://schemas.openxmlformats.org/drawingml/2006/main" noGrp="1"/>
          </p:cNvSpPr>
          <p:nvPr/>
        </p:nvSpPr>
        <p:spPr>
          <a:xfrm xmlns:a="http://schemas.openxmlformats.org/drawingml/2006/main">
            <a:off x="1905000" y="234315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S3 / Protect</a:t>
            </a:r>
          </a:p>
        </p:txBody>
      </p:sp>
      <p:sp>
        <p:nvSpPr>
          <p:cNvPr id="6" name="text-8-85">
            <a:extLst xmlns:a="http://schemas.openxmlformats.org/drawingml/2006/main">
              <a:ext uri="{FF2B5EF4-FFF2-40B4-BE49-F238E27FC236}">
                <a16:creationId xmlns:a16="http://schemas.microsoft.com/office/drawing/2014/main" id="{6B989530-F555-4617-8522-F2886C919AC2}"/>
              </a:ext>
            </a:extLst>
          </p:cNvPr>
          <p:cNvSpPr>
            <a:spLocks xmlns:a="http://schemas.openxmlformats.org/drawingml/2006/main" noGrp="1"/>
          </p:cNvSpPr>
          <p:nvPr/>
        </p:nvSpPr>
        <p:spPr>
          <a:xfrm xmlns:a="http://schemas.openxmlformats.org/drawingml/2006/main">
            <a:off x="5457825" y="234315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Local ON precedes pending answer</a:t>
            </a:r>
          </a:p>
        </p:txBody>
      </p:sp>
      <p:sp>
        <p:nvSpPr>
          <p:cNvPr id="7" name="">
            <a:extLst xmlns:a="http://schemas.openxmlformats.org/drawingml/2006/main">
              <a:ext uri="{FF2B5EF4-FFF2-40B4-BE49-F238E27FC236}">
                <a16:creationId xmlns:a16="http://schemas.microsoft.com/office/drawing/2014/main" id="{0116FFAE-C0C5-412D-9F03-9C0E076E6858}"/>
              </a:ext>
            </a:extLst>
          </p:cNvPr>
          <p:cNvSpPr>
            <a:spLocks xmlns:a="http://schemas.openxmlformats.org/drawingml/2006/main" noGrp="1"/>
          </p:cNvSpPr>
          <p:nvPr/>
        </p:nvSpPr>
        <p:spPr>
          <a:xfrm xmlns:a="http://schemas.openxmlformats.org/drawingml/2006/main">
            <a:off x="685800" y="31813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8" name="text-8-86">
            <a:extLst xmlns:a="http://schemas.openxmlformats.org/drawingml/2006/main">
              <a:ext uri="{FF2B5EF4-FFF2-40B4-BE49-F238E27FC236}">
                <a16:creationId xmlns:a16="http://schemas.microsoft.com/office/drawing/2014/main" id="{0C809C72-A7D6-4425-9002-C115C815324C}"/>
              </a:ext>
            </a:extLst>
          </p:cNvPr>
          <p:cNvSpPr>
            <a:spLocks xmlns:a="http://schemas.openxmlformats.org/drawingml/2006/main" noGrp="1"/>
          </p:cNvSpPr>
          <p:nvPr/>
        </p:nvSpPr>
        <p:spPr>
          <a:xfrm xmlns:a="http://schemas.openxmlformats.org/drawingml/2006/main">
            <a:off x="685800" y="327660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02</a:t>
            </a:r>
          </a:p>
        </p:txBody>
      </p:sp>
      <p:sp>
        <p:nvSpPr>
          <p:cNvPr id="9" name="text-8-87">
            <a:extLst xmlns:a="http://schemas.openxmlformats.org/drawingml/2006/main">
              <a:ext uri="{FF2B5EF4-FFF2-40B4-BE49-F238E27FC236}">
                <a16:creationId xmlns:a16="http://schemas.microsoft.com/office/drawing/2014/main" id="{94AADE05-A261-4386-AA05-E5FF78780616}"/>
              </a:ext>
            </a:extLst>
          </p:cNvPr>
          <p:cNvSpPr>
            <a:spLocks xmlns:a="http://schemas.openxmlformats.org/drawingml/2006/main" noGrp="1"/>
          </p:cNvSpPr>
          <p:nvPr/>
        </p:nvSpPr>
        <p:spPr>
          <a:xfrm xmlns:a="http://schemas.openxmlformats.org/drawingml/2006/main">
            <a:off x="1905000" y="32766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S4 / Deliver</a:t>
            </a:r>
          </a:p>
        </p:txBody>
      </p:sp>
      <p:sp>
        <p:nvSpPr>
          <p:cNvPr id="10" name="text-8-88">
            <a:extLst xmlns:a="http://schemas.openxmlformats.org/drawingml/2006/main">
              <a:ext uri="{FF2B5EF4-FFF2-40B4-BE49-F238E27FC236}">
                <a16:creationId xmlns:a16="http://schemas.microsoft.com/office/drawing/2014/main" id="{77289EED-2F53-41AB-B051-604A841DD063}"/>
              </a:ext>
            </a:extLst>
          </p:cNvPr>
          <p:cNvSpPr>
            <a:spLocks xmlns:a="http://schemas.openxmlformats.org/drawingml/2006/main" noGrp="1"/>
          </p:cNvSpPr>
          <p:nvPr/>
        </p:nvSpPr>
        <p:spPr>
          <a:xfrm xmlns:a="http://schemas.openxmlformats.org/drawingml/2006/main">
            <a:off x="5457825" y="327660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Queue -&gt; exact acknowledgement</a:t>
            </a:r>
          </a:p>
        </p:txBody>
      </p:sp>
      <p:sp>
        <p:nvSpPr>
          <p:cNvPr id="11" name="">
            <a:extLst xmlns:a="http://schemas.openxmlformats.org/drawingml/2006/main">
              <a:ext uri="{FF2B5EF4-FFF2-40B4-BE49-F238E27FC236}">
                <a16:creationId xmlns:a16="http://schemas.microsoft.com/office/drawing/2014/main" id="{D57607D0-D3FB-4B5B-9452-D5181BC20B75}"/>
              </a:ext>
            </a:extLst>
          </p:cNvPr>
          <p:cNvSpPr>
            <a:spLocks xmlns:a="http://schemas.openxmlformats.org/drawingml/2006/main" noGrp="1"/>
          </p:cNvSpPr>
          <p:nvPr/>
        </p:nvSpPr>
        <p:spPr>
          <a:xfrm xmlns:a="http://schemas.openxmlformats.org/drawingml/2006/main">
            <a:off x="685800" y="411480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2" name="text-8-89">
            <a:extLst xmlns:a="http://schemas.openxmlformats.org/drawingml/2006/main">
              <a:ext uri="{FF2B5EF4-FFF2-40B4-BE49-F238E27FC236}">
                <a16:creationId xmlns:a16="http://schemas.microsoft.com/office/drawing/2014/main" id="{E488680B-D6D0-4B2A-A2DC-B3F35B72AC85}"/>
              </a:ext>
            </a:extLst>
          </p:cNvPr>
          <p:cNvSpPr>
            <a:spLocks xmlns:a="http://schemas.openxmlformats.org/drawingml/2006/main" noGrp="1"/>
          </p:cNvSpPr>
          <p:nvPr/>
        </p:nvSpPr>
        <p:spPr>
          <a:xfrm xmlns:a="http://schemas.openxmlformats.org/drawingml/2006/main">
            <a:off x="685800" y="421005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03</a:t>
            </a:r>
          </a:p>
        </p:txBody>
      </p:sp>
      <p:sp>
        <p:nvSpPr>
          <p:cNvPr id="13" name="text-8-90">
            <a:extLst xmlns:a="http://schemas.openxmlformats.org/drawingml/2006/main">
              <a:ext uri="{FF2B5EF4-FFF2-40B4-BE49-F238E27FC236}">
                <a16:creationId xmlns:a16="http://schemas.microsoft.com/office/drawing/2014/main" id="{B8125E4D-08B2-4B93-998E-1C3D9A65CE18}"/>
              </a:ext>
            </a:extLst>
          </p:cNvPr>
          <p:cNvSpPr>
            <a:spLocks xmlns:a="http://schemas.openxmlformats.org/drawingml/2006/main" noGrp="1"/>
          </p:cNvSpPr>
          <p:nvPr/>
        </p:nvSpPr>
        <p:spPr>
          <a:xfrm xmlns:a="http://schemas.openxmlformats.org/drawingml/2006/main">
            <a:off x="1905000" y="421005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S5 / Recover</a:t>
            </a:r>
          </a:p>
        </p:txBody>
      </p:sp>
      <p:sp>
        <p:nvSpPr>
          <p:cNvPr id="14" name="text-8-91">
            <a:extLst xmlns:a="http://schemas.openxmlformats.org/drawingml/2006/main">
              <a:ext uri="{FF2B5EF4-FFF2-40B4-BE49-F238E27FC236}">
                <a16:creationId xmlns:a16="http://schemas.microsoft.com/office/drawing/2014/main" id="{EA943DC1-E06F-4B8B-B16D-CE87E71C75D9}"/>
              </a:ext>
            </a:extLst>
          </p:cNvPr>
          <p:cNvSpPr>
            <a:spLocks xmlns:a="http://schemas.openxmlformats.org/drawingml/2006/main" noGrp="1"/>
          </p:cNvSpPr>
          <p:nvPr/>
        </p:nvSpPr>
        <p:spPr>
          <a:xfrm xmlns:a="http://schemas.openxmlformats.org/drawingml/2006/main">
            <a:off x="5457825" y="421005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Measured evidence -&gt; separate OFF</a:t>
            </a:r>
          </a:p>
        </p:txBody>
      </p:sp>
      <p:sp>
        <p:nvSpPr>
          <p:cNvPr id="15" name="">
            <a:extLst xmlns:a="http://schemas.openxmlformats.org/drawingml/2006/main">
              <a:ext uri="{FF2B5EF4-FFF2-40B4-BE49-F238E27FC236}">
                <a16:creationId xmlns:a16="http://schemas.microsoft.com/office/drawing/2014/main" id="{A2F59505-D789-4BB8-A379-89BEBAED513A}"/>
              </a:ext>
            </a:extLst>
          </p:cNvPr>
          <p:cNvSpPr>
            <a:spLocks xmlns:a="http://schemas.openxmlformats.org/drawingml/2006/main" noGrp="1"/>
          </p:cNvSpPr>
          <p:nvPr/>
        </p:nvSpPr>
        <p:spPr>
          <a:xfrm xmlns:a="http://schemas.openxmlformats.org/drawingml/2006/main">
            <a:off x="685800" y="50482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6" name="text-8-92">
            <a:extLst xmlns:a="http://schemas.openxmlformats.org/drawingml/2006/main">
              <a:ext uri="{FF2B5EF4-FFF2-40B4-BE49-F238E27FC236}">
                <a16:creationId xmlns:a16="http://schemas.microsoft.com/office/drawing/2014/main" id="{9CADF0FB-4B9F-42FB-9028-CDB8E919DA25}"/>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7" name="text-8-93">
            <a:extLst xmlns:a="http://schemas.openxmlformats.org/drawingml/2006/main">
              <a:ext uri="{FF2B5EF4-FFF2-40B4-BE49-F238E27FC236}">
                <a16:creationId xmlns:a16="http://schemas.microsoft.com/office/drawing/2014/main" id="{313384E6-5748-4DD2-99D1-1A18E3B2D5E9}"/>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08</a:t>
            </a:r>
          </a:p>
        </p:txBody>
      </p:sp>
    </p:spTree>
    <p:extLst>
      <p:ext uri="{BB962C8B-B14F-4D97-AF65-F5344CB8AC3E}">
        <p14:creationId xmlns:p14="http://schemas.microsoft.com/office/powerpoint/2010/main" val="43619355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9-94">
            <a:extLst xmlns:a="http://schemas.openxmlformats.org/drawingml/2006/main">
              <a:ext uri="{FF2B5EF4-FFF2-40B4-BE49-F238E27FC236}">
                <a16:creationId xmlns:a16="http://schemas.microsoft.com/office/drawing/2014/main" id="{35E5D448-52AB-4692-8886-E784883F3CC4}"/>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08 / THE SEMANTIC MEMBRANE</a:t>
            </a:r>
          </a:p>
        </p:txBody>
      </p:sp>
      <p:sp>
        <p:nvSpPr>
          <p:cNvPr id="2" name="text-9-95">
            <a:extLst xmlns:a="http://schemas.openxmlformats.org/drawingml/2006/main">
              <a:ext uri="{FF2B5EF4-FFF2-40B4-BE49-F238E27FC236}">
                <a16:creationId xmlns:a16="http://schemas.microsoft.com/office/drawing/2014/main" id="{1B95BD95-338A-404F-A19A-C3700330D7C4}"/>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What crosses into the reasoning role</a:t>
            </a:r>
          </a:p>
        </p:txBody>
      </p:sp>
      <p:sp>
        <p:nvSpPr>
          <p:cNvPr id="3" name="text-9-96">
            <a:extLst xmlns:a="http://schemas.openxmlformats.org/drawingml/2006/main">
              <a:ext uri="{FF2B5EF4-FFF2-40B4-BE49-F238E27FC236}">
                <a16:creationId xmlns:a16="http://schemas.microsoft.com/office/drawing/2014/main" id="{79945794-A9E0-4517-8F0E-5264697E686B}"/>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bounded view with an explicit investigative purpose.</a:t>
            </a:r>
          </a:p>
        </p:txBody>
      </p:sp>
      <p:sp>
        <p:nvSpPr>
          <p:cNvPr id="4" name="text-9-97">
            <a:extLst xmlns:a="http://schemas.openxmlformats.org/drawingml/2006/main">
              <a:ext uri="{FF2B5EF4-FFF2-40B4-BE49-F238E27FC236}">
                <a16:creationId xmlns:a16="http://schemas.microsoft.com/office/drawing/2014/main" id="{946B2176-222A-4629-985E-30D72F006B57}"/>
              </a:ext>
            </a:extLst>
          </p:cNvPr>
          <p:cNvSpPr>
            <a:spLocks xmlns:a="http://schemas.openxmlformats.org/drawingml/2006/main" noGrp="1"/>
          </p:cNvSpPr>
          <p:nvPr/>
        </p:nvSpPr>
        <p:spPr>
          <a:xfrm xmlns:a="http://schemas.openxmlformats.org/drawingml/2006/main">
            <a:off x="704850" y="25717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Local and adversarial duties receive current local channels and the maintenance note.</a:t>
            </a:r>
          </a:p>
        </p:txBody>
      </p:sp>
      <p:sp>
        <p:nvSpPr>
          <p:cNvPr id="5" name="text-9-98">
            <a:extLst xmlns:a="http://schemas.openxmlformats.org/drawingml/2006/main">
              <a:ext uri="{FF2B5EF4-FFF2-40B4-BE49-F238E27FC236}">
                <a16:creationId xmlns:a16="http://schemas.microsoft.com/office/drawing/2014/main" id="{3AEF4569-5EE5-4297-A973-984189A74F7F}"/>
              </a:ext>
            </a:extLst>
          </p:cNvPr>
          <p:cNvSpPr>
            <a:spLocks xmlns:a="http://schemas.openxmlformats.org/drawingml/2006/main" noGrp="1"/>
          </p:cNvSpPr>
          <p:nvPr/>
        </p:nvSpPr>
        <p:spPr>
          <a:xfrm xmlns:a="http://schemas.openxmlformats.org/drawingml/2006/main">
            <a:off x="704850" y="36385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The environmental duty receives rainfall context and its declared site/time support.</a:t>
            </a:r>
          </a:p>
        </p:txBody>
      </p:sp>
      <p:sp>
        <p:nvSpPr>
          <p:cNvPr id="6" name="text-9-99">
            <a:extLst xmlns:a="http://schemas.openxmlformats.org/drawingml/2006/main">
              <a:ext uri="{FF2B5EF4-FFF2-40B4-BE49-F238E27FC236}">
                <a16:creationId xmlns:a16="http://schemas.microsoft.com/office/drawing/2014/main" id="{58C89D45-1789-4155-8D09-199E0D5134AD}"/>
              </a:ext>
            </a:extLst>
          </p:cNvPr>
          <p:cNvSpPr>
            <a:spLocks xmlns:a="http://schemas.openxmlformats.org/drawingml/2006/main" noGrp="1"/>
          </p:cNvSpPr>
          <p:nvPr/>
        </p:nvSpPr>
        <p:spPr>
          <a:xfrm xmlns:a="http://schemas.openxmlformats.org/drawingml/2006/main">
            <a:off x="704850" y="47053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Each role receives a finite catalogue, current policy and capability snapshot.</a:t>
            </a:r>
          </a:p>
        </p:txBody>
      </p:sp>
      <p:sp>
        <p:nvSpPr>
          <p:cNvPr id="7" name="text-9-100">
            <a:extLst xmlns:a="http://schemas.openxmlformats.org/drawingml/2006/main">
              <a:ext uri="{FF2B5EF4-FFF2-40B4-BE49-F238E27FC236}">
                <a16:creationId xmlns:a16="http://schemas.microsoft.com/office/drawing/2014/main" id="{9BB38390-6D48-4680-89F8-9A94256FBDAF}"/>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9-101">
            <a:extLst xmlns:a="http://schemas.openxmlformats.org/drawingml/2006/main">
              <a:ext uri="{FF2B5EF4-FFF2-40B4-BE49-F238E27FC236}">
                <a16:creationId xmlns:a16="http://schemas.microsoft.com/office/drawing/2014/main" id="{CF84D6B6-106C-4F0C-8F97-8A7A18C7EF34}"/>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09</a:t>
            </a:r>
          </a:p>
        </p:txBody>
      </p:sp>
    </p:spTree>
    <p:extLst>
      <p:ext uri="{BB962C8B-B14F-4D97-AF65-F5344CB8AC3E}">
        <p14:creationId xmlns:p14="http://schemas.microsoft.com/office/powerpoint/2010/main" val="158425397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0-102">
            <a:extLst xmlns:a="http://schemas.openxmlformats.org/drawingml/2006/main">
              <a:ext uri="{FF2B5EF4-FFF2-40B4-BE49-F238E27FC236}">
                <a16:creationId xmlns:a16="http://schemas.microsoft.com/office/drawing/2014/main" id="{D15261D1-A5DD-4B83-A62D-E78812FA4EA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09 / THE MODEL RETURN</a:t>
            </a:r>
          </a:p>
        </p:txBody>
      </p:sp>
      <p:sp>
        <p:nvSpPr>
          <p:cNvPr id="2" name="text-10-103">
            <a:extLst xmlns:a="http://schemas.openxmlformats.org/drawingml/2006/main">
              <a:ext uri="{FF2B5EF4-FFF2-40B4-BE49-F238E27FC236}">
                <a16:creationId xmlns:a16="http://schemas.microsoft.com/office/drawing/2014/main" id="{F431B69E-E961-472D-A5A1-B3D967932763}"/>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The bounded analytical response</a:t>
            </a:r>
          </a:p>
        </p:txBody>
      </p:sp>
      <p:sp>
        <p:nvSpPr>
          <p:cNvPr id="3" name="text-10-104">
            <a:extLst xmlns:a="http://schemas.openxmlformats.org/drawingml/2006/main">
              <a:ext uri="{FF2B5EF4-FFF2-40B4-BE49-F238E27FC236}">
                <a16:creationId xmlns:a16="http://schemas.microsoft.com/office/drawing/2014/main" id="{D690B3DC-CA8F-4539-B6E5-595CBBBA93FE}"/>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useful proposal remains a proposal.</a:t>
            </a:r>
          </a:p>
        </p:txBody>
      </p:sp>
      <p:graphicFrame>
        <p:nvGraphicFramePr>
          <p:cNvPr id="10" name=""/>
          <p:cNvGraphicFramePr/>
          <p:nvPr/>
        </p:nvGraphicFramePr>
        <p:xfrm>
          <a:off xmlns:a="http://schemas.openxmlformats.org/drawingml/2006/main" x="685800" y="2162175"/>
          <a:ext xmlns:a="http://schemas.openxmlformats.org/drawingml/2006/main" cx="10820400" cy="2019300"/>
        </p:xfrm>
        <a:graphic xmlns:a="http://schemas.openxmlformats.org/drawingml/2006/main">
          <a:graphicData uri="http://schemas.openxmlformats.org/drawingml/2006/table">
            <a:tbl>
              <a:tblPr firstRow="0" bandRow="0"/>
              <a:tblGrid>
                <a:gridCol w="2813304"/>
                <a:gridCol w="3678936"/>
                <a:gridCol w="4328160"/>
              </a:tblGrid>
              <a:tr h="447675">
                <a:tc>
                  <a:txBody>
                    <a:bodyPr>
                      <a:noAutofit/>
                    </a:bodyPr>
                    <a:lstStyle/>
                    <a:p>
                      <a:r>
                        <a:rPr sz="1350" b="1">
                          <a:solidFill>
                            <a:srgbClr val="6E6E73"/>
                          </a:solidFill>
                          <a:latin typeface="Inter"/>
                          <a:ea typeface="Inter"/>
                          <a:cs typeface="Inter"/>
                        </a:rPr>
                        <a:t>Field</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Meaning</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Runtime condition</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diagnostic</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Next bounded investigation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Allowed for this duty</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source_refs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Citations into supplied context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Known, unique, nonempty</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reason</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Why that investigation helps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Bounded text; no executable authority</a:t>
                      </a:r>
                    </a:p>
                  </a:txBody>
                  <a:tcPr marL="123825" marR="123825" marT="85725" marB="85725" anchor="ctr">
                    <a:solidFill>
                      <a:srgbClr val="FFFFFF"/>
                    </a:solidFill>
                  </a:tcPr>
                </a:tc>
              </a:tr>
            </a:tbl>
          </a:graphicData>
        </a:graphic>
      </p:graphicFrame>
      <p:sp>
        <p:nvSpPr>
          <p:cNvPr id="5" name="text-10-106">
            <a:extLst xmlns:a="http://schemas.openxmlformats.org/drawingml/2006/main">
              <a:ext uri="{FF2B5EF4-FFF2-40B4-BE49-F238E27FC236}">
                <a16:creationId xmlns:a16="http://schemas.microsoft.com/office/drawing/2014/main" id="{4969DC75-0EC7-476B-ABE9-2E248FCDDB01}"/>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10-107">
            <a:extLst xmlns:a="http://schemas.openxmlformats.org/drawingml/2006/main">
              <a:ext uri="{FF2B5EF4-FFF2-40B4-BE49-F238E27FC236}">
                <a16:creationId xmlns:a16="http://schemas.microsoft.com/office/drawing/2014/main" id="{DA602D5B-E4C0-4AB1-8001-F9B3912D679B}"/>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10</a:t>
            </a:r>
          </a:p>
        </p:txBody>
      </p:sp>
    </p:spTree>
    <p:extLst>
      <p:ext uri="{BB962C8B-B14F-4D97-AF65-F5344CB8AC3E}">
        <p14:creationId xmlns:p14="http://schemas.microsoft.com/office/powerpoint/2010/main" val="19132458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1-108">
            <a:extLst xmlns:a="http://schemas.openxmlformats.org/drawingml/2006/main">
              <a:ext uri="{FF2B5EF4-FFF2-40B4-BE49-F238E27FC236}">
                <a16:creationId xmlns:a16="http://schemas.microsoft.com/office/drawing/2014/main" id="{DD969019-64D9-4B68-AD95-4FD6DEC44D4D}"/>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10 / BSEP</a:t>
            </a:r>
          </a:p>
        </p:txBody>
      </p:sp>
      <p:sp>
        <p:nvSpPr>
          <p:cNvPr id="2" name="text-11-109">
            <a:extLst xmlns:a="http://schemas.openxmlformats.org/drawingml/2006/main">
              <a:ext uri="{FF2B5EF4-FFF2-40B4-BE49-F238E27FC236}">
                <a16:creationId xmlns:a16="http://schemas.microsoft.com/office/drawing/2014/main" id="{AB08C670-7351-4933-836D-AE40FC9EF16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Semantic evidence packets</a:t>
            </a:r>
          </a:p>
        </p:txBody>
      </p:sp>
      <p:sp>
        <p:nvSpPr>
          <p:cNvPr id="3" name="text-11-110">
            <a:extLst xmlns:a="http://schemas.openxmlformats.org/drawingml/2006/main">
              <a:ext uri="{FF2B5EF4-FFF2-40B4-BE49-F238E27FC236}">
                <a16:creationId xmlns:a16="http://schemas.microsoft.com/office/drawing/2014/main" id="{E6125F4F-8D30-40DB-AD7E-C010577B35DD}"/>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runtime carries references and constraints forward.</a:t>
            </a:r>
          </a:p>
        </p:txBody>
      </p:sp>
      <p:sp>
        <p:nvSpPr>
          <p:cNvPr id="4" name="text-11-111">
            <a:extLst xmlns:a="http://schemas.openxmlformats.org/drawingml/2006/main">
              <a:ext uri="{FF2B5EF4-FFF2-40B4-BE49-F238E27FC236}">
                <a16:creationId xmlns:a16="http://schemas.microsoft.com/office/drawing/2014/main" id="{4E9D53C4-38AF-453F-8090-389B575AC65A}"/>
              </a:ext>
            </a:extLst>
          </p:cNvPr>
          <p:cNvSpPr>
            <a:spLocks xmlns:a="http://schemas.openxmlformats.org/drawingml/2006/main" noGrp="1"/>
          </p:cNvSpPr>
          <p:nvPr/>
        </p:nvSpPr>
        <p:spPr>
          <a:xfrm xmlns:a="http://schemas.openxmlformats.org/drawingml/2006/main">
            <a:off x="704850" y="25717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BSEP contains the selected investigation, an input identity and contribution references.</a:t>
            </a:r>
          </a:p>
        </p:txBody>
      </p:sp>
      <p:sp>
        <p:nvSpPr>
          <p:cNvPr id="5" name="text-11-112">
            <a:extLst xmlns:a="http://schemas.openxmlformats.org/drawingml/2006/main">
              <a:ext uri="{FF2B5EF4-FFF2-40B4-BE49-F238E27FC236}">
                <a16:creationId xmlns:a16="http://schemas.microsoft.com/office/drawing/2014/main" id="{9905FC00-25E0-4547-B1D5-5B8D51CDA1E2}"/>
              </a:ext>
            </a:extLst>
          </p:cNvPr>
          <p:cNvSpPr>
            <a:spLocks xmlns:a="http://schemas.openxmlformats.org/drawingml/2006/main" noGrp="1"/>
          </p:cNvSpPr>
          <p:nvPr/>
        </p:nvSpPr>
        <p:spPr>
          <a:xfrm xmlns:a="http://schemas.openxmlformats.org/drawingml/2006/main">
            <a:off x="704850" y="363855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Raw user and cross-role text are not copied into BSEP.</a:t>
            </a:r>
          </a:p>
        </p:txBody>
      </p:sp>
      <p:sp>
        <p:nvSpPr>
          <p:cNvPr id="6" name="text-11-113">
            <a:extLst xmlns:a="http://schemas.openxmlformats.org/drawingml/2006/main">
              <a:ext uri="{FF2B5EF4-FFF2-40B4-BE49-F238E27FC236}">
                <a16:creationId xmlns:a16="http://schemas.microsoft.com/office/drawing/2014/main" id="{0C9E243C-F418-4C24-B9FB-7D4AB965F608}"/>
              </a:ext>
            </a:extLst>
          </p:cNvPr>
          <p:cNvSpPr>
            <a:spLocks xmlns:a="http://schemas.openxmlformats.org/drawingml/2006/main" noGrp="1"/>
          </p:cNvSpPr>
          <p:nvPr/>
        </p:nvSpPr>
        <p:spPr>
          <a:xfrm xmlns:a="http://schemas.openxmlformats.org/drawingml/2006/main">
            <a:off x="704850" y="4333875"/>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Candidate-only evidence still needs C, Work and Root checks.</a:t>
            </a:r>
          </a:p>
        </p:txBody>
      </p:sp>
      <p:sp>
        <p:nvSpPr>
          <p:cNvPr id="7" name="text-11-114">
            <a:extLst xmlns:a="http://schemas.openxmlformats.org/drawingml/2006/main">
              <a:ext uri="{FF2B5EF4-FFF2-40B4-BE49-F238E27FC236}">
                <a16:creationId xmlns:a16="http://schemas.microsoft.com/office/drawing/2014/main" id="{94D91BD4-3EBD-43FE-811D-8FA1DBA9B9E7}"/>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11-115">
            <a:extLst xmlns:a="http://schemas.openxmlformats.org/drawingml/2006/main">
              <a:ext uri="{FF2B5EF4-FFF2-40B4-BE49-F238E27FC236}">
                <a16:creationId xmlns:a16="http://schemas.microsoft.com/office/drawing/2014/main" id="{F4355559-28F4-44F6-B766-5ED2366D07FB}"/>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11</a:t>
            </a:r>
          </a:p>
        </p:txBody>
      </p:sp>
    </p:spTree>
    <p:extLst>
      <p:ext uri="{BB962C8B-B14F-4D97-AF65-F5344CB8AC3E}">
        <p14:creationId xmlns:p14="http://schemas.microsoft.com/office/powerpoint/2010/main" val="67099189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2-116">
            <a:extLst xmlns:a="http://schemas.openxmlformats.org/drawingml/2006/main">
              <a:ext uri="{FF2B5EF4-FFF2-40B4-BE49-F238E27FC236}">
                <a16:creationId xmlns:a16="http://schemas.microsoft.com/office/drawing/2014/main" id="{1B4D9C4A-12B9-4255-A74A-D37891EBA047}"/>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11 / C AND D</a:t>
            </a:r>
          </a:p>
        </p:txBody>
      </p:sp>
      <p:sp>
        <p:nvSpPr>
          <p:cNvPr id="2" name="text-12-117">
            <a:extLst xmlns:a="http://schemas.openxmlformats.org/drawingml/2006/main">
              <a:ext uri="{FF2B5EF4-FFF2-40B4-BE49-F238E27FC236}">
                <a16:creationId xmlns:a16="http://schemas.microsoft.com/office/drawing/2014/main" id="{995FE0D3-3000-4313-A813-37AACC395DC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Routing and review use the existing kernel</a:t>
            </a:r>
          </a:p>
        </p:txBody>
      </p:sp>
      <p:sp>
        <p:nvSpPr>
          <p:cNvPr id="3" name="text-12-118">
            <a:extLst xmlns:a="http://schemas.openxmlformats.org/drawingml/2006/main">
              <a:ext uri="{FF2B5EF4-FFF2-40B4-BE49-F238E27FC236}">
                <a16:creationId xmlns:a16="http://schemas.microsoft.com/office/drawing/2014/main" id="{3BF991E8-38A9-466C-A8A2-6F4332DD47C3}"/>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domain adds meaning, not a second authority system.</a:t>
            </a:r>
          </a:p>
        </p:txBody>
      </p:sp>
      <p:sp>
        <p:nvSpPr>
          <p:cNvPr id="4" name="">
            <a:extLst xmlns:a="http://schemas.openxmlformats.org/drawingml/2006/main">
              <a:ext uri="{FF2B5EF4-FFF2-40B4-BE49-F238E27FC236}">
                <a16:creationId xmlns:a16="http://schemas.microsoft.com/office/drawing/2014/main" id="{297363EA-76B5-4479-AD79-07A0172F4A97}"/>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12-119">
            <a:extLst xmlns:a="http://schemas.openxmlformats.org/drawingml/2006/main">
              <a:ext uri="{FF2B5EF4-FFF2-40B4-BE49-F238E27FC236}">
                <a16:creationId xmlns:a16="http://schemas.microsoft.com/office/drawing/2014/main" id="{AA7ABB21-9396-4E24-9258-0C3E6E5F0D1F}"/>
              </a:ext>
            </a:extLst>
          </p:cNvPr>
          <p:cNvSpPr>
            <a:spLocks xmlns:a="http://schemas.openxmlformats.org/drawingml/2006/main" noGrp="1"/>
          </p:cNvSpPr>
          <p:nvPr/>
        </p:nvSpPr>
        <p:spPr>
          <a:xfrm xmlns:a="http://schemas.openxmlformats.org/drawingml/2006/main">
            <a:off x="685800"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12-120">
            <a:extLst xmlns:a="http://schemas.openxmlformats.org/drawingml/2006/main">
              <a:ext uri="{FF2B5EF4-FFF2-40B4-BE49-F238E27FC236}">
                <a16:creationId xmlns:a16="http://schemas.microsoft.com/office/drawing/2014/main" id="{48536058-AE44-4C56-93E7-DE484126E8B2}"/>
              </a:ext>
            </a:extLst>
          </p:cNvPr>
          <p:cNvSpPr>
            <a:spLocks xmlns:a="http://schemas.openxmlformats.org/drawingml/2006/main" noGrp="1"/>
          </p:cNvSpPr>
          <p:nvPr/>
        </p:nvSpPr>
        <p:spPr>
          <a:xfrm xmlns:a="http://schemas.openxmlformats.org/drawingml/2006/main">
            <a:off x="685800"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C / Route</a:t>
            </a:r>
          </a:p>
        </p:txBody>
      </p:sp>
      <p:sp>
        <p:nvSpPr>
          <p:cNvPr id="7" name="text-12-121">
            <a:extLst xmlns:a="http://schemas.openxmlformats.org/drawingml/2006/main">
              <a:ext uri="{FF2B5EF4-FFF2-40B4-BE49-F238E27FC236}">
                <a16:creationId xmlns:a16="http://schemas.microsoft.com/office/drawing/2014/main" id="{74B9E843-A387-41A6-96E9-2C7158208B83}"/>
              </a:ext>
            </a:extLst>
          </p:cNvPr>
          <p:cNvSpPr>
            <a:spLocks xmlns:a="http://schemas.openxmlformats.org/drawingml/2006/main" noGrp="1"/>
          </p:cNvSpPr>
          <p:nvPr/>
        </p:nvSpPr>
        <p:spPr>
          <a:xfrm xmlns:a="http://schemas.openxmlformats.org/drawingml/2006/main">
            <a:off x="685800"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Current snapshot + BSEP</a:t>
            </a:r>
          </a:p>
        </p:txBody>
      </p:sp>
      <p:sp>
        <p:nvSpPr>
          <p:cNvPr id="8" name="text-12-122">
            <a:extLst xmlns:a="http://schemas.openxmlformats.org/drawingml/2006/main">
              <a:ext uri="{FF2B5EF4-FFF2-40B4-BE49-F238E27FC236}">
                <a16:creationId xmlns:a16="http://schemas.microsoft.com/office/drawing/2014/main" id="{0760491B-6353-44D9-8510-92552873C7F5}"/>
              </a:ext>
            </a:extLst>
          </p:cNvPr>
          <p:cNvSpPr>
            <a:spLocks xmlns:a="http://schemas.openxmlformats.org/drawingml/2006/main" noGrp="1"/>
          </p:cNvSpPr>
          <p:nvPr/>
        </p:nvSpPr>
        <p:spPr>
          <a:xfrm xmlns:a="http://schemas.openxmlformats.org/drawingml/2006/main">
            <a:off x="3469481"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12-123">
            <a:extLst xmlns:a="http://schemas.openxmlformats.org/drawingml/2006/main">
              <a:ext uri="{FF2B5EF4-FFF2-40B4-BE49-F238E27FC236}">
                <a16:creationId xmlns:a16="http://schemas.microsoft.com/office/drawing/2014/main" id="{F806DDAC-4D5B-4299-94AE-5EF47CF1813F}"/>
              </a:ext>
            </a:extLst>
          </p:cNvPr>
          <p:cNvSpPr>
            <a:spLocks xmlns:a="http://schemas.openxmlformats.org/drawingml/2006/main" noGrp="1"/>
          </p:cNvSpPr>
          <p:nvPr/>
        </p:nvSpPr>
        <p:spPr>
          <a:xfrm xmlns:a="http://schemas.openxmlformats.org/drawingml/2006/main">
            <a:off x="3469481"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Root review</a:t>
            </a:r>
          </a:p>
        </p:txBody>
      </p:sp>
      <p:sp>
        <p:nvSpPr>
          <p:cNvPr id="10" name="text-12-124">
            <a:extLst xmlns:a="http://schemas.openxmlformats.org/drawingml/2006/main">
              <a:ext uri="{FF2B5EF4-FFF2-40B4-BE49-F238E27FC236}">
                <a16:creationId xmlns:a16="http://schemas.microsoft.com/office/drawing/2014/main" id="{E730C185-17DF-499E-9F02-A4E2953D660A}"/>
              </a:ext>
            </a:extLst>
          </p:cNvPr>
          <p:cNvSpPr>
            <a:spLocks xmlns:a="http://schemas.openxmlformats.org/drawingml/2006/main" noGrp="1"/>
          </p:cNvSpPr>
          <p:nvPr/>
        </p:nvSpPr>
        <p:spPr>
          <a:xfrm xmlns:a="http://schemas.openxmlformats.org/drawingml/2006/main">
            <a:off x="3469481"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Accepted scope and eligibility</a:t>
            </a:r>
          </a:p>
        </p:txBody>
      </p:sp>
      <p:sp>
        <p:nvSpPr>
          <p:cNvPr id="11" name="text-12-125">
            <a:extLst xmlns:a="http://schemas.openxmlformats.org/drawingml/2006/main">
              <a:ext uri="{FF2B5EF4-FFF2-40B4-BE49-F238E27FC236}">
                <a16:creationId xmlns:a16="http://schemas.microsoft.com/office/drawing/2014/main" id="{606D359A-450F-46A8-BBA9-89026A918FD8}"/>
              </a:ext>
            </a:extLst>
          </p:cNvPr>
          <p:cNvSpPr>
            <a:spLocks xmlns:a="http://schemas.openxmlformats.org/drawingml/2006/main" noGrp="1"/>
          </p:cNvSpPr>
          <p:nvPr/>
        </p:nvSpPr>
        <p:spPr>
          <a:xfrm xmlns:a="http://schemas.openxmlformats.org/drawingml/2006/main">
            <a:off x="6253163"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12-126">
            <a:extLst xmlns:a="http://schemas.openxmlformats.org/drawingml/2006/main">
              <a:ext uri="{FF2B5EF4-FFF2-40B4-BE49-F238E27FC236}">
                <a16:creationId xmlns:a16="http://schemas.microsoft.com/office/drawing/2014/main" id="{C59AFCF5-FF91-4F6B-A9E7-A24449A2F944}"/>
              </a:ext>
            </a:extLst>
          </p:cNvPr>
          <p:cNvSpPr>
            <a:spLocks xmlns:a="http://schemas.openxmlformats.org/drawingml/2006/main" noGrp="1"/>
          </p:cNvSpPr>
          <p:nvPr/>
        </p:nvSpPr>
        <p:spPr>
          <a:xfrm xmlns:a="http://schemas.openxmlformats.org/drawingml/2006/main">
            <a:off x="6253163"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D / Review</a:t>
            </a:r>
          </a:p>
        </p:txBody>
      </p:sp>
      <p:sp>
        <p:nvSpPr>
          <p:cNvPr id="13" name="text-12-127">
            <a:extLst xmlns:a="http://schemas.openxmlformats.org/drawingml/2006/main">
              <a:ext uri="{FF2B5EF4-FFF2-40B4-BE49-F238E27FC236}">
                <a16:creationId xmlns:a16="http://schemas.microsoft.com/office/drawing/2014/main" id="{06CDC9F5-48BE-4553-AA7A-2F2E132465A3}"/>
              </a:ext>
            </a:extLst>
          </p:cNvPr>
          <p:cNvSpPr>
            <a:spLocks xmlns:a="http://schemas.openxmlformats.org/drawingml/2006/main" noGrp="1"/>
          </p:cNvSpPr>
          <p:nvPr/>
        </p:nvSpPr>
        <p:spPr>
          <a:xfrm xmlns:a="http://schemas.openxmlformats.org/drawingml/2006/main">
            <a:off x="6253163"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Real bound execution bundle</a:t>
            </a:r>
          </a:p>
        </p:txBody>
      </p:sp>
      <p:sp>
        <p:nvSpPr>
          <p:cNvPr id="14" name="text-12-128">
            <a:extLst xmlns:a="http://schemas.openxmlformats.org/drawingml/2006/main">
              <a:ext uri="{FF2B5EF4-FFF2-40B4-BE49-F238E27FC236}">
                <a16:creationId xmlns:a16="http://schemas.microsoft.com/office/drawing/2014/main" id="{F6AE69E9-3D74-43CE-8DC1-3DA3EB39191F}"/>
              </a:ext>
            </a:extLst>
          </p:cNvPr>
          <p:cNvSpPr>
            <a:spLocks xmlns:a="http://schemas.openxmlformats.org/drawingml/2006/main" noGrp="1"/>
          </p:cNvSpPr>
          <p:nvPr/>
        </p:nvSpPr>
        <p:spPr>
          <a:xfrm xmlns:a="http://schemas.openxmlformats.org/drawingml/2006/main">
            <a:off x="9036844"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12-129">
            <a:extLst xmlns:a="http://schemas.openxmlformats.org/drawingml/2006/main">
              <a:ext uri="{FF2B5EF4-FFF2-40B4-BE49-F238E27FC236}">
                <a16:creationId xmlns:a16="http://schemas.microsoft.com/office/drawing/2014/main" id="{DF25FDD9-2154-4B39-AD45-451748C57730}"/>
              </a:ext>
            </a:extLst>
          </p:cNvPr>
          <p:cNvSpPr>
            <a:spLocks xmlns:a="http://schemas.openxmlformats.org/drawingml/2006/main" noGrp="1"/>
          </p:cNvSpPr>
          <p:nvPr/>
        </p:nvSpPr>
        <p:spPr>
          <a:xfrm xmlns:a="http://schemas.openxmlformats.org/drawingml/2006/main">
            <a:off x="9036844"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Work</a:t>
            </a:r>
          </a:p>
        </p:txBody>
      </p:sp>
      <p:sp>
        <p:nvSpPr>
          <p:cNvPr id="16" name="text-12-130">
            <a:extLst xmlns:a="http://schemas.openxmlformats.org/drawingml/2006/main">
              <a:ext uri="{FF2B5EF4-FFF2-40B4-BE49-F238E27FC236}">
                <a16:creationId xmlns:a16="http://schemas.microsoft.com/office/drawing/2014/main" id="{6DB8B352-7FCA-4009-9DA8-8C20BCCCB30F}"/>
              </a:ext>
            </a:extLst>
          </p:cNvPr>
          <p:cNvSpPr>
            <a:spLocks xmlns:a="http://schemas.openxmlformats.org/drawingml/2006/main" noGrp="1"/>
          </p:cNvSpPr>
          <p:nvPr/>
        </p:nvSpPr>
        <p:spPr>
          <a:xfrm xmlns:a="http://schemas.openxmlformats.org/drawingml/2006/main">
            <a:off x="9036844"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Actual finite diagnostic output</a:t>
            </a:r>
          </a:p>
        </p:txBody>
      </p:sp>
      <p:sp>
        <p:nvSpPr>
          <p:cNvPr id="17" name="text-12-131">
            <a:extLst xmlns:a="http://schemas.openxmlformats.org/drawingml/2006/main">
              <a:ext uri="{FF2B5EF4-FFF2-40B4-BE49-F238E27FC236}">
                <a16:creationId xmlns:a16="http://schemas.microsoft.com/office/drawing/2014/main" id="{3B5ABB97-C207-4F0C-852F-B10768A81E27}"/>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8" name="text-12-132">
            <a:extLst xmlns:a="http://schemas.openxmlformats.org/drawingml/2006/main">
              <a:ext uri="{FF2B5EF4-FFF2-40B4-BE49-F238E27FC236}">
                <a16:creationId xmlns:a16="http://schemas.microsoft.com/office/drawing/2014/main" id="{017F77A5-2607-4218-A895-3052A8A41379}"/>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12</a:t>
            </a:r>
          </a:p>
        </p:txBody>
      </p:sp>
    </p:spTree>
    <p:extLst>
      <p:ext uri="{BB962C8B-B14F-4D97-AF65-F5344CB8AC3E}">
        <p14:creationId xmlns:p14="http://schemas.microsoft.com/office/powerpoint/2010/main" val="111052932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3-133">
            <a:extLst xmlns:a="http://schemas.openxmlformats.org/drawingml/2006/main">
              <a:ext uri="{FF2B5EF4-FFF2-40B4-BE49-F238E27FC236}">
                <a16:creationId xmlns:a16="http://schemas.microsoft.com/office/drawing/2014/main" id="{BD207CED-7479-44C5-8E40-5477B98CFC54}"/>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12 / CAUSAL ORDER</a:t>
            </a:r>
          </a:p>
        </p:txBody>
      </p:sp>
      <p:sp>
        <p:nvSpPr>
          <p:cNvPr id="2" name="text-13-134">
            <a:extLst xmlns:a="http://schemas.openxmlformats.org/drawingml/2006/main">
              <a:ext uri="{FF2B5EF4-FFF2-40B4-BE49-F238E27FC236}">
                <a16:creationId xmlns:a16="http://schemas.microsoft.com/office/drawing/2014/main" id="{742A2702-2469-40EE-9E7C-5D9902E643DE}"/>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 proposed read becomes a reviewed read</a:t>
            </a:r>
          </a:p>
        </p:txBody>
      </p:sp>
      <p:sp>
        <p:nvSpPr>
          <p:cNvPr id="3" name="text-13-135">
            <a:extLst xmlns:a="http://schemas.openxmlformats.org/drawingml/2006/main">
              <a:ext uri="{FF2B5EF4-FFF2-40B4-BE49-F238E27FC236}">
                <a16:creationId xmlns:a16="http://schemas.microsoft.com/office/drawing/2014/main" id="{10848BD2-CC51-474D-97F5-4E70FAE479FB}"/>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receipt is produced after the plan is accepted.</a:t>
            </a:r>
          </a:p>
        </p:txBody>
      </p:sp>
      <p:sp>
        <p:nvSpPr>
          <p:cNvPr id="4" name="">
            <a:extLst xmlns:a="http://schemas.openxmlformats.org/drawingml/2006/main">
              <a:ext uri="{FF2B5EF4-FFF2-40B4-BE49-F238E27FC236}">
                <a16:creationId xmlns:a16="http://schemas.microsoft.com/office/drawing/2014/main" id="{A167F42F-8502-4411-9A89-04467C7E7897}"/>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13-136">
            <a:extLst xmlns:a="http://schemas.openxmlformats.org/drawingml/2006/main">
              <a:ext uri="{FF2B5EF4-FFF2-40B4-BE49-F238E27FC236}">
                <a16:creationId xmlns:a16="http://schemas.microsoft.com/office/drawing/2014/main" id="{60AFF50D-FA88-4664-96D4-E58C0D4D615F}"/>
              </a:ext>
            </a:extLst>
          </p:cNvPr>
          <p:cNvSpPr>
            <a:spLocks xmlns:a="http://schemas.openxmlformats.org/drawingml/2006/main" noGrp="1"/>
          </p:cNvSpPr>
          <p:nvPr/>
        </p:nvSpPr>
        <p:spPr>
          <a:xfrm xmlns:a="http://schemas.openxmlformats.org/drawingml/2006/main">
            <a:off x="685800"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13-137">
            <a:extLst xmlns:a="http://schemas.openxmlformats.org/drawingml/2006/main">
              <a:ext uri="{FF2B5EF4-FFF2-40B4-BE49-F238E27FC236}">
                <a16:creationId xmlns:a16="http://schemas.microsoft.com/office/drawing/2014/main" id="{940BB0BC-2A8C-48D3-B62A-10A8753D15A6}"/>
              </a:ext>
            </a:extLst>
          </p:cNvPr>
          <p:cNvSpPr>
            <a:spLocks xmlns:a="http://schemas.openxmlformats.org/drawingml/2006/main" noGrp="1"/>
          </p:cNvSpPr>
          <p:nvPr/>
        </p:nvSpPr>
        <p:spPr>
          <a:xfrm xmlns:a="http://schemas.openxmlformats.org/drawingml/2006/main">
            <a:off x="685800"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PLAN Work</a:t>
            </a:r>
          </a:p>
        </p:txBody>
      </p:sp>
      <p:sp>
        <p:nvSpPr>
          <p:cNvPr id="7" name="text-13-138">
            <a:extLst xmlns:a="http://schemas.openxmlformats.org/drawingml/2006/main">
              <a:ext uri="{FF2B5EF4-FFF2-40B4-BE49-F238E27FC236}">
                <a16:creationId xmlns:a16="http://schemas.microsoft.com/office/drawing/2014/main" id="{534E5AC0-E178-4702-A529-C125F9484CB6}"/>
              </a:ext>
            </a:extLst>
          </p:cNvPr>
          <p:cNvSpPr>
            <a:spLocks xmlns:a="http://schemas.openxmlformats.org/drawingml/2006/main" noGrp="1"/>
          </p:cNvSpPr>
          <p:nvPr/>
        </p:nvSpPr>
        <p:spPr>
          <a:xfrm xmlns:a="http://schemas.openxmlformats.org/drawingml/2006/main">
            <a:off x="685800"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Pure; no acquisition</a:t>
            </a:r>
          </a:p>
        </p:txBody>
      </p:sp>
      <p:sp>
        <p:nvSpPr>
          <p:cNvPr id="8" name="text-13-139">
            <a:extLst xmlns:a="http://schemas.openxmlformats.org/drawingml/2006/main">
              <a:ext uri="{FF2B5EF4-FFF2-40B4-BE49-F238E27FC236}">
                <a16:creationId xmlns:a16="http://schemas.microsoft.com/office/drawing/2014/main" id="{265F68D3-F2C7-46C6-A34E-5955E2A5FAE1}"/>
              </a:ext>
            </a:extLst>
          </p:cNvPr>
          <p:cNvSpPr>
            <a:spLocks xmlns:a="http://schemas.openxmlformats.org/drawingml/2006/main" noGrp="1"/>
          </p:cNvSpPr>
          <p:nvPr/>
        </p:nvSpPr>
        <p:spPr>
          <a:xfrm xmlns:a="http://schemas.openxmlformats.org/drawingml/2006/main">
            <a:off x="3469481"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13-140">
            <a:extLst xmlns:a="http://schemas.openxmlformats.org/drawingml/2006/main">
              <a:ext uri="{FF2B5EF4-FFF2-40B4-BE49-F238E27FC236}">
                <a16:creationId xmlns:a16="http://schemas.microsoft.com/office/drawing/2014/main" id="{256028E9-EEC2-4A88-BCA8-1D2747CFB745}"/>
              </a:ext>
            </a:extLst>
          </p:cNvPr>
          <p:cNvSpPr>
            <a:spLocks xmlns:a="http://schemas.openxmlformats.org/drawingml/2006/main" noGrp="1"/>
          </p:cNvSpPr>
          <p:nvPr/>
        </p:nvSpPr>
        <p:spPr>
          <a:xfrm xmlns:a="http://schemas.openxmlformats.org/drawingml/2006/main">
            <a:off x="3469481"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Current Root</a:t>
            </a:r>
          </a:p>
        </p:txBody>
      </p:sp>
      <p:sp>
        <p:nvSpPr>
          <p:cNvPr id="10" name="text-13-141">
            <a:extLst xmlns:a="http://schemas.openxmlformats.org/drawingml/2006/main">
              <a:ext uri="{FF2B5EF4-FFF2-40B4-BE49-F238E27FC236}">
                <a16:creationId xmlns:a16="http://schemas.microsoft.com/office/drawing/2014/main" id="{520054DA-55EE-4385-A934-7CE557393521}"/>
              </a:ext>
            </a:extLst>
          </p:cNvPr>
          <p:cNvSpPr>
            <a:spLocks xmlns:a="http://schemas.openxmlformats.org/drawingml/2006/main" noGrp="1"/>
          </p:cNvSpPr>
          <p:nvPr/>
        </p:nvSpPr>
        <p:spPr>
          <a:xfrm xmlns:a="http://schemas.openxmlformats.org/drawingml/2006/main">
            <a:off x="3469481"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Accepted live basis</a:t>
            </a:r>
          </a:p>
        </p:txBody>
      </p:sp>
      <p:sp>
        <p:nvSpPr>
          <p:cNvPr id="11" name="text-13-142">
            <a:extLst xmlns:a="http://schemas.openxmlformats.org/drawingml/2006/main">
              <a:ext uri="{FF2B5EF4-FFF2-40B4-BE49-F238E27FC236}">
                <a16:creationId xmlns:a16="http://schemas.microsoft.com/office/drawing/2014/main" id="{83A4EA44-E741-408C-817F-2FCC37FB23D7}"/>
              </a:ext>
            </a:extLst>
          </p:cNvPr>
          <p:cNvSpPr>
            <a:spLocks xmlns:a="http://schemas.openxmlformats.org/drawingml/2006/main" noGrp="1"/>
          </p:cNvSpPr>
          <p:nvPr/>
        </p:nvSpPr>
        <p:spPr>
          <a:xfrm xmlns:a="http://schemas.openxmlformats.org/drawingml/2006/main">
            <a:off x="6253163"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13-143">
            <a:extLst xmlns:a="http://schemas.openxmlformats.org/drawingml/2006/main">
              <a:ext uri="{FF2B5EF4-FFF2-40B4-BE49-F238E27FC236}">
                <a16:creationId xmlns:a16="http://schemas.microsoft.com/office/drawing/2014/main" id="{CD5071A9-E3B0-4D20-BB17-AF601FA236E1}"/>
              </a:ext>
            </a:extLst>
          </p:cNvPr>
          <p:cNvSpPr>
            <a:spLocks xmlns:a="http://schemas.openxmlformats.org/drawingml/2006/main" noGrp="1"/>
          </p:cNvSpPr>
          <p:nvPr/>
        </p:nvSpPr>
        <p:spPr>
          <a:xfrm xmlns:a="http://schemas.openxmlformats.org/drawingml/2006/main">
            <a:off x="6253163"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Native read</a:t>
            </a:r>
          </a:p>
        </p:txBody>
      </p:sp>
      <p:sp>
        <p:nvSpPr>
          <p:cNvPr id="13" name="text-13-144">
            <a:extLst xmlns:a="http://schemas.openxmlformats.org/drawingml/2006/main">
              <a:ext uri="{FF2B5EF4-FFF2-40B4-BE49-F238E27FC236}">
                <a16:creationId xmlns:a16="http://schemas.microsoft.com/office/drawing/2014/main" id="{8A63245F-6E1B-4E55-AF16-EBC95E0B13AE}"/>
              </a:ext>
            </a:extLst>
          </p:cNvPr>
          <p:cNvSpPr>
            <a:spLocks xmlns:a="http://schemas.openxmlformats.org/drawingml/2006/main" noGrp="1"/>
          </p:cNvSpPr>
          <p:nvPr/>
        </p:nvSpPr>
        <p:spPr>
          <a:xfrm xmlns:a="http://schemas.openxmlformats.org/drawingml/2006/main">
            <a:off x="6253163"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Packet, Host, receipt</a:t>
            </a:r>
          </a:p>
        </p:txBody>
      </p:sp>
      <p:sp>
        <p:nvSpPr>
          <p:cNvPr id="14" name="text-13-145">
            <a:extLst xmlns:a="http://schemas.openxmlformats.org/drawingml/2006/main">
              <a:ext uri="{FF2B5EF4-FFF2-40B4-BE49-F238E27FC236}">
                <a16:creationId xmlns:a16="http://schemas.microsoft.com/office/drawing/2014/main" id="{D6817457-AA71-495B-9E37-34A03941B7B9}"/>
              </a:ext>
            </a:extLst>
          </p:cNvPr>
          <p:cNvSpPr>
            <a:spLocks xmlns:a="http://schemas.openxmlformats.org/drawingml/2006/main" noGrp="1"/>
          </p:cNvSpPr>
          <p:nvPr/>
        </p:nvSpPr>
        <p:spPr>
          <a:xfrm xmlns:a="http://schemas.openxmlformats.org/drawingml/2006/main">
            <a:off x="9036844"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13-146">
            <a:extLst xmlns:a="http://schemas.openxmlformats.org/drawingml/2006/main">
              <a:ext uri="{FF2B5EF4-FFF2-40B4-BE49-F238E27FC236}">
                <a16:creationId xmlns:a16="http://schemas.microsoft.com/office/drawing/2014/main" id="{AC51270F-54D1-4C3C-A6B0-2F19A7C73BB8}"/>
              </a:ext>
            </a:extLst>
          </p:cNvPr>
          <p:cNvSpPr>
            <a:spLocks xmlns:a="http://schemas.openxmlformats.org/drawingml/2006/main" noGrp="1"/>
          </p:cNvSpPr>
          <p:nvPr/>
        </p:nvSpPr>
        <p:spPr>
          <a:xfrm xmlns:a="http://schemas.openxmlformats.org/drawingml/2006/main">
            <a:off x="9036844"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RESULT Work</a:t>
            </a:r>
          </a:p>
        </p:txBody>
      </p:sp>
      <p:sp>
        <p:nvSpPr>
          <p:cNvPr id="16" name="text-13-147">
            <a:extLst xmlns:a="http://schemas.openxmlformats.org/drawingml/2006/main">
              <a:ext uri="{FF2B5EF4-FFF2-40B4-BE49-F238E27FC236}">
                <a16:creationId xmlns:a16="http://schemas.microsoft.com/office/drawing/2014/main" id="{F9C22DC2-9E63-4DBD-BEB0-E33C20CCB588}"/>
              </a:ext>
            </a:extLst>
          </p:cNvPr>
          <p:cNvSpPr>
            <a:spLocks xmlns:a="http://schemas.openxmlformats.org/drawingml/2006/main" noGrp="1"/>
          </p:cNvSpPr>
          <p:nvPr/>
        </p:nvSpPr>
        <p:spPr>
          <a:xfrm xmlns:a="http://schemas.openxmlformats.org/drawingml/2006/main">
            <a:off x="9036844"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Consumes receipt; Root review</a:t>
            </a:r>
          </a:p>
        </p:txBody>
      </p:sp>
      <p:sp>
        <p:nvSpPr>
          <p:cNvPr id="17" name="text-13-148">
            <a:extLst xmlns:a="http://schemas.openxmlformats.org/drawingml/2006/main">
              <a:ext uri="{FF2B5EF4-FFF2-40B4-BE49-F238E27FC236}">
                <a16:creationId xmlns:a16="http://schemas.microsoft.com/office/drawing/2014/main" id="{A28BB403-CF52-4F7B-94C6-1F59C8223241}"/>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8" name="text-13-149">
            <a:extLst xmlns:a="http://schemas.openxmlformats.org/drawingml/2006/main">
              <a:ext uri="{FF2B5EF4-FFF2-40B4-BE49-F238E27FC236}">
                <a16:creationId xmlns:a16="http://schemas.microsoft.com/office/drawing/2014/main" id="{A14E5947-FF2C-4FE4-909D-9D63658B336E}"/>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13</a:t>
            </a:r>
          </a:p>
        </p:txBody>
      </p:sp>
    </p:spTree>
    <p:extLst>
      <p:ext uri="{BB962C8B-B14F-4D97-AF65-F5344CB8AC3E}">
        <p14:creationId xmlns:p14="http://schemas.microsoft.com/office/powerpoint/2010/main" val="156825124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4-150">
            <a:extLst xmlns:a="http://schemas.openxmlformats.org/drawingml/2006/main">
              <a:ext uri="{FF2B5EF4-FFF2-40B4-BE49-F238E27FC236}">
                <a16:creationId xmlns:a16="http://schemas.microsoft.com/office/drawing/2014/main" id="{E9ECA3B3-A36E-4EAC-8547-F84F31B9035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13 / THREE LIVE DUTIES</a:t>
            </a:r>
          </a:p>
        </p:txBody>
      </p:sp>
      <p:sp>
        <p:nvSpPr>
          <p:cNvPr id="2" name="text-14-151">
            <a:extLst xmlns:a="http://schemas.openxmlformats.org/drawingml/2006/main">
              <a:ext uri="{FF2B5EF4-FFF2-40B4-BE49-F238E27FC236}">
                <a16:creationId xmlns:a16="http://schemas.microsoft.com/office/drawing/2014/main" id="{1C33DFF9-D5EC-44B3-B77A-22654FA23908}"/>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Three contributions. One current composition.</a:t>
            </a:r>
          </a:p>
        </p:txBody>
      </p:sp>
      <p:sp>
        <p:nvSpPr>
          <p:cNvPr id="3" name="text-14-152">
            <a:extLst xmlns:a="http://schemas.openxmlformats.org/drawingml/2006/main">
              <a:ext uri="{FF2B5EF4-FFF2-40B4-BE49-F238E27FC236}">
                <a16:creationId xmlns:a16="http://schemas.microsoft.com/office/drawing/2014/main" id="{4AD0E32D-0733-4D3E-A792-99794B28FCCD}"/>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All three meanings reach the real consumer.</a:t>
            </a:r>
          </a:p>
        </p:txBody>
      </p:sp>
      <p:graphicFrame>
        <p:nvGraphicFramePr>
          <p:cNvPr id="10" name=""/>
          <p:cNvGraphicFramePr/>
          <p:nvPr/>
        </p:nvGraphicFramePr>
        <p:xfrm>
          <a:off xmlns:a="http://schemas.openxmlformats.org/drawingml/2006/main" x="685800" y="2162175"/>
          <a:ext xmlns:a="http://schemas.openxmlformats.org/drawingml/2006/main" cx="10820400" cy="2224659"/>
        </p:xfrm>
        <a:graphic xmlns:a="http://schemas.openxmlformats.org/drawingml/2006/main">
          <a:graphicData uri="http://schemas.openxmlformats.org/drawingml/2006/table">
            <a:tbl>
              <a:tblPr firstRow="0" bandRow="0"/>
              <a:tblGrid>
                <a:gridCol w="2813304"/>
                <a:gridCol w="3678936"/>
                <a:gridCol w="4328160"/>
              </a:tblGrid>
              <a:tr h="447675">
                <a:tc>
                  <a:txBody>
                    <a:bodyPr>
                      <a:noAutofit/>
                    </a:bodyPr>
                    <a:lstStyle/>
                    <a:p>
                      <a:r>
                        <a:rPr sz="1350" b="1">
                          <a:solidFill>
                            <a:srgbClr val="6E6E73"/>
                          </a:solidFill>
                          <a:latin typeface="Inter"/>
                          <a:ea typeface="Inter"/>
                          <a:cs typeface="Inter"/>
                        </a:rPr>
                        <a:t>Duty</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Live selection</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Actual result</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Local slope analyst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Reference integrity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Current channel associations</a:t>
                      </a:r>
                    </a:p>
                  </a:txBody>
                  <a:tcPr marL="123825" marR="123825" marT="85725" marB="85725" anchor="ctr">
                    <a:solidFill>
                      <a:srgbClr val="FFFFFF"/>
                    </a:solidFill>
                  </a:tcPr>
                </a:tc>
              </a:tr>
              <a:tr h="729234">
                <a:tc>
                  <a:txBody>
                    <a:bodyPr>
                      <a:noAutofit/>
                    </a:bodyPr>
                    <a:lstStyle/>
                    <a:p>
                      <a:r>
                        <a:rPr sz="1650" b="0">
                          <a:solidFill>
                            <a:srgbClr val="1D1D1F"/>
                          </a:solidFill>
                          <a:latin typeface="Inter"/>
                          <a:ea typeface="Inter"/>
                          <a:cs typeface="Inter"/>
                        </a:rPr>
                        <a:t>Environmental analyst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Spatial applicability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Synthetic site identity; mapping unresolved</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Adversarial reviewer</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Reference integrity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Independent current-pair review</a:t>
                      </a:r>
                    </a:p>
                  </a:txBody>
                  <a:tcPr marL="123825" marR="123825" marT="85725" marB="85725" anchor="ctr">
                    <a:solidFill>
                      <a:srgbClr val="FFFFFF"/>
                    </a:solidFill>
                  </a:tcPr>
                </a:tc>
              </a:tr>
            </a:tbl>
          </a:graphicData>
        </a:graphic>
      </p:graphicFrame>
      <p:sp>
        <p:nvSpPr>
          <p:cNvPr id="5" name="text-14-154">
            <a:extLst xmlns:a="http://schemas.openxmlformats.org/drawingml/2006/main">
              <a:ext uri="{FF2B5EF4-FFF2-40B4-BE49-F238E27FC236}">
                <a16:creationId xmlns:a16="http://schemas.microsoft.com/office/drawing/2014/main" id="{FE737602-B43B-43FD-BD64-E5978E6ECD16}"/>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14-155">
            <a:extLst xmlns:a="http://schemas.openxmlformats.org/drawingml/2006/main">
              <a:ext uri="{FF2B5EF4-FFF2-40B4-BE49-F238E27FC236}">
                <a16:creationId xmlns:a16="http://schemas.microsoft.com/office/drawing/2014/main" id="{0ADDFD1B-C779-4F43-9E09-8AE9010ABA32}"/>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14</a:t>
            </a:r>
          </a:p>
        </p:txBody>
      </p:sp>
    </p:spTree>
    <p:extLst>
      <p:ext uri="{BB962C8B-B14F-4D97-AF65-F5344CB8AC3E}">
        <p14:creationId xmlns:p14="http://schemas.microsoft.com/office/powerpoint/2010/main" val="1785759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5-156">
            <a:extLst xmlns:a="http://schemas.openxmlformats.org/drawingml/2006/main">
              <a:ext uri="{FF2B5EF4-FFF2-40B4-BE49-F238E27FC236}">
                <a16:creationId xmlns:a16="http://schemas.microsoft.com/office/drawing/2014/main" id="{B1590AE9-9B51-4BC2-BDED-D876E2045DA5}"/>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14 / A FAIR CONTRAST</a:t>
            </a:r>
          </a:p>
        </p:txBody>
      </p:sp>
      <p:sp>
        <p:nvSpPr>
          <p:cNvPr id="2" name="text-15-157">
            <a:extLst xmlns:a="http://schemas.openxmlformats.org/drawingml/2006/main">
              <a:ext uri="{FF2B5EF4-FFF2-40B4-BE49-F238E27FC236}">
                <a16:creationId xmlns:a16="http://schemas.microsoft.com/office/drawing/2014/main" id="{42D4C1E0-C9B0-44CE-ABC8-42DC55BEB040}"/>
              </a:ext>
            </a:extLst>
          </p:cNvPr>
          <p:cNvSpPr>
            <a:spLocks xmlns:a="http://schemas.openxmlformats.org/drawingml/2006/main" noGrp="1"/>
          </p:cNvSpPr>
          <p:nvPr/>
        </p:nvSpPr>
        <p:spPr>
          <a:xfrm xmlns:a="http://schemas.openxmlformats.org/drawingml/2006/main">
            <a:off x="666750" y="8953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One changed question.</a:t>
            </a:r>
          </a:p>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Identical readings.</a:t>
            </a:r>
          </a:p>
        </p:txBody>
      </p:sp>
      <p:sp>
        <p:nvSpPr>
          <p:cNvPr id="3" name="text-15-158">
            <a:extLst xmlns:a="http://schemas.openxmlformats.org/drawingml/2006/main">
              <a:ext uri="{FF2B5EF4-FFF2-40B4-BE49-F238E27FC236}">
                <a16:creationId xmlns:a16="http://schemas.microsoft.com/office/drawing/2014/main" id="{CCF68A92-9F51-4E43-A1FD-1F515F97077A}"/>
              </a:ext>
            </a:extLst>
          </p:cNvPr>
          <p:cNvSpPr>
            <a:spLocks xmlns:a="http://schemas.openxmlformats.org/drawingml/2006/main" noGrp="1"/>
          </p:cNvSpPr>
          <p:nvPr/>
        </p:nvSpPr>
        <p:spPr>
          <a:xfrm xmlns:a="http://schemas.openxmlformats.org/drawingml/2006/main">
            <a:off x="704850" y="20383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Only the source-bound maintenance note changes.</a:t>
            </a:r>
          </a:p>
        </p:txBody>
      </p:sp>
      <p:sp>
        <p:nvSpPr>
          <p:cNvPr id="4" name="text-15-159">
            <a:extLst xmlns:a="http://schemas.openxmlformats.org/drawingml/2006/main">
              <a:ext uri="{FF2B5EF4-FFF2-40B4-BE49-F238E27FC236}">
                <a16:creationId xmlns:a16="http://schemas.microsoft.com/office/drawing/2014/main" id="{47579412-6B6D-4304-ABA2-F567DE9F8BCB}"/>
              </a:ext>
            </a:extLst>
          </p:cNvPr>
          <p:cNvSpPr>
            <a:spLocks xmlns:a="http://schemas.openxmlformats.org/drawingml/2006/main" noGrp="1"/>
          </p:cNvSpPr>
          <p:nvPr/>
        </p:nvSpPr>
        <p:spPr>
          <a:xfrm xmlns:a="http://schemas.openxmlformats.org/drawingml/2006/main">
            <a:off x="685800" y="2733675"/>
            <a:ext cx="5133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071E3"/>
                </a:solidFill>
                <a:latin typeface="Inter"/>
                <a:ea typeface="Inter"/>
                <a:cs typeface="Inter"/>
              </a:defRPr>
            </a:pPr>
            <a:r>
              <a:rPr sz="1650" b="1">
                <a:solidFill>
                  <a:srgbClr val="0071E3"/>
                </a:solidFill>
                <a:latin typeface="Inter"/>
                <a:ea typeface="Inter"/>
                <a:cs typeface="Inter"/>
              </a:rPr>
              <a:t>A / Current association</a:t>
            </a:r>
          </a:p>
        </p:txBody>
      </p:sp>
      <p:sp>
        <p:nvSpPr>
          <p:cNvPr id="5" name="text-15-160">
            <a:extLst xmlns:a="http://schemas.openxmlformats.org/drawingml/2006/main">
              <a:ext uri="{FF2B5EF4-FFF2-40B4-BE49-F238E27FC236}">
                <a16:creationId xmlns:a16="http://schemas.microsoft.com/office/drawing/2014/main" id="{28483F40-551D-4A19-8EC5-0AB6F6CFFBBB}"/>
              </a:ext>
            </a:extLst>
          </p:cNvPr>
          <p:cNvSpPr>
            <a:spLocks xmlns:a="http://schemas.openxmlformats.org/drawingml/2006/main" noGrp="1"/>
          </p:cNvSpPr>
          <p:nvPr/>
        </p:nvSpPr>
        <p:spPr>
          <a:xfrm xmlns:a="http://schemas.openxmlformats.org/drawingml/2006/main">
            <a:off x="685800" y="3400425"/>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Is the latest reserve entry healthy?</a:t>
            </a:r>
          </a:p>
        </p:txBody>
      </p:sp>
      <p:sp>
        <p:nvSpPr>
          <p:cNvPr id="6" name="text-15-161">
            <a:extLst xmlns:a="http://schemas.openxmlformats.org/drawingml/2006/main">
              <a:ext uri="{FF2B5EF4-FFF2-40B4-BE49-F238E27FC236}">
                <a16:creationId xmlns:a16="http://schemas.microsoft.com/office/drawing/2014/main" id="{C90CCA7B-CD76-4BA5-ABF2-44074A4DC980}"/>
              </a:ext>
            </a:extLst>
          </p:cNvPr>
          <p:cNvSpPr>
            <a:spLocks xmlns:a="http://schemas.openxmlformats.org/drawingml/2006/main" noGrp="1"/>
          </p:cNvSpPr>
          <p:nvPr/>
        </p:nvSpPr>
        <p:spPr>
          <a:xfrm xmlns:a="http://schemas.openxmlformats.org/drawingml/2006/main">
            <a:off x="685800" y="4057650"/>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Which current calibration is attached?</a:t>
            </a:r>
          </a:p>
        </p:txBody>
      </p:sp>
      <p:sp>
        <p:nvSpPr>
          <p:cNvPr id="7" name="text-15-162">
            <a:extLst xmlns:a="http://schemas.openxmlformats.org/drawingml/2006/main">
              <a:ext uri="{FF2B5EF4-FFF2-40B4-BE49-F238E27FC236}">
                <a16:creationId xmlns:a16="http://schemas.microsoft.com/office/drawing/2014/main" id="{E4BB8FE8-6D59-4696-82B2-B1997BA9FF7F}"/>
              </a:ext>
            </a:extLst>
          </p:cNvPr>
          <p:cNvSpPr>
            <a:spLocks xmlns:a="http://schemas.openxmlformats.org/drawingml/2006/main" noGrp="1"/>
          </p:cNvSpPr>
          <p:nvPr/>
        </p:nvSpPr>
        <p:spPr>
          <a:xfrm xmlns:a="http://schemas.openxmlformats.org/drawingml/2006/main">
            <a:off x="6372225" y="2733675"/>
            <a:ext cx="5133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071E3"/>
                </a:solidFill>
                <a:latin typeface="Inter"/>
                <a:ea typeface="Inter"/>
                <a:cs typeface="Inter"/>
              </a:defRPr>
            </a:pPr>
            <a:r>
              <a:rPr sz="1650" b="1">
                <a:solidFill>
                  <a:srgbClr val="0071E3"/>
                </a:solidFill>
                <a:latin typeface="Inter"/>
                <a:ea typeface="Inter"/>
                <a:cs typeface="Inter"/>
              </a:rPr>
              <a:t>B / Historical variation</a:t>
            </a:r>
          </a:p>
        </p:txBody>
      </p:sp>
      <p:sp>
        <p:nvSpPr>
          <p:cNvPr id="8" name="text-15-163">
            <a:extLst xmlns:a="http://schemas.openxmlformats.org/drawingml/2006/main">
              <a:ext uri="{FF2B5EF4-FFF2-40B4-BE49-F238E27FC236}">
                <a16:creationId xmlns:a16="http://schemas.microsoft.com/office/drawing/2014/main" id="{504D5B61-85CC-48B2-B941-A4D5D6D2CF15}"/>
              </a:ext>
            </a:extLst>
          </p:cNvPr>
          <p:cNvSpPr>
            <a:spLocks xmlns:a="http://schemas.openxmlformats.org/drawingml/2006/main" noGrp="1"/>
          </p:cNvSpPr>
          <p:nvPr/>
        </p:nvSpPr>
        <p:spPr>
          <a:xfrm xmlns:a="http://schemas.openxmlformats.org/drawingml/2006/main">
            <a:off x="6372225" y="3400425"/>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How much did reserve readings vary?</a:t>
            </a:r>
          </a:p>
        </p:txBody>
      </p:sp>
      <p:sp>
        <p:nvSpPr>
          <p:cNvPr id="9" name="text-15-164">
            <a:extLst xmlns:a="http://schemas.openxmlformats.org/drawingml/2006/main">
              <a:ext uri="{FF2B5EF4-FFF2-40B4-BE49-F238E27FC236}">
                <a16:creationId xmlns:a16="http://schemas.microsoft.com/office/drawing/2014/main" id="{AF05366F-7732-4BAB-AF81-F26CFFB6A95E}"/>
              </a:ext>
            </a:extLst>
          </p:cNvPr>
          <p:cNvSpPr>
            <a:spLocks xmlns:a="http://schemas.openxmlformats.org/drawingml/2006/main" noGrp="1"/>
          </p:cNvSpPr>
          <p:nvPr/>
        </p:nvSpPr>
        <p:spPr>
          <a:xfrm xmlns:a="http://schemas.openxmlformats.org/drawingml/2006/main">
            <a:off x="6372225" y="4057650"/>
            <a:ext cx="5133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How much measured time does the window cover?</a:t>
            </a:r>
          </a:p>
        </p:txBody>
      </p:sp>
      <p:sp>
        <p:nvSpPr>
          <p:cNvPr id="10" name="text-15-165">
            <a:extLst xmlns:a="http://schemas.openxmlformats.org/drawingml/2006/main">
              <a:ext uri="{FF2B5EF4-FFF2-40B4-BE49-F238E27FC236}">
                <a16:creationId xmlns:a16="http://schemas.microsoft.com/office/drawing/2014/main" id="{5B771CDE-D73A-4756-97DD-F61E4633B784}"/>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1" name="text-15-166">
            <a:extLst xmlns:a="http://schemas.openxmlformats.org/drawingml/2006/main">
              <a:ext uri="{FF2B5EF4-FFF2-40B4-BE49-F238E27FC236}">
                <a16:creationId xmlns:a16="http://schemas.microsoft.com/office/drawing/2014/main" id="{049C1A8E-A11F-4507-BBC8-5959E57EC08F}"/>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15</a:t>
            </a:r>
          </a:p>
        </p:txBody>
      </p:sp>
    </p:spTree>
    <p:extLst>
      <p:ext uri="{BB962C8B-B14F-4D97-AF65-F5344CB8AC3E}">
        <p14:creationId xmlns:p14="http://schemas.microsoft.com/office/powerpoint/2010/main" val="119268022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6-167">
            <a:extLst xmlns:a="http://schemas.openxmlformats.org/drawingml/2006/main">
              <a:ext uri="{FF2B5EF4-FFF2-40B4-BE49-F238E27FC236}">
                <a16:creationId xmlns:a16="http://schemas.microsoft.com/office/drawing/2014/main" id="{87600E0F-6983-4B21-9553-4CC2EB02DE27}"/>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15 / THE OBSERVED DIFFERENCE</a:t>
            </a:r>
          </a:p>
        </p:txBody>
      </p:sp>
      <p:sp>
        <p:nvSpPr>
          <p:cNvPr id="2" name="text-16-168">
            <a:extLst xmlns:a="http://schemas.openxmlformats.org/drawingml/2006/main">
              <a:ext uri="{FF2B5EF4-FFF2-40B4-BE49-F238E27FC236}">
                <a16:creationId xmlns:a16="http://schemas.microsoft.com/office/drawing/2014/main" id="{CA96218B-F69E-4FBC-8F4B-D084ABF8616E}"/>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Different meaning produced different work</a:t>
            </a:r>
          </a:p>
        </p:txBody>
      </p:sp>
      <p:sp>
        <p:nvSpPr>
          <p:cNvPr id="3" name="text-16-169">
            <a:extLst xmlns:a="http://schemas.openxmlformats.org/drawingml/2006/main">
              <a:ext uri="{FF2B5EF4-FFF2-40B4-BE49-F238E27FC236}">
                <a16:creationId xmlns:a16="http://schemas.microsoft.com/office/drawing/2014/main" id="{81CBFC4B-D702-4BB1-8CD8-537918FC975C}"/>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difference is in execution, not just wording.</a:t>
            </a:r>
          </a:p>
        </p:txBody>
      </p:sp>
      <p:sp>
        <p:nvSpPr>
          <p:cNvPr id="4" name="text-16-170">
            <a:extLst xmlns:a="http://schemas.openxmlformats.org/drawingml/2006/main">
              <a:ext uri="{FF2B5EF4-FFF2-40B4-BE49-F238E27FC236}">
                <a16:creationId xmlns:a16="http://schemas.microsoft.com/office/drawing/2014/main" id="{005B6BFF-A52F-4987-AB00-0EC10ED45EFD}"/>
              </a:ext>
            </a:extLst>
          </p:cNvPr>
          <p:cNvSpPr>
            <a:spLocks xmlns:a="http://schemas.openxmlformats.org/drawingml/2006/main" noGrp="1"/>
          </p:cNvSpPr>
          <p:nvPr/>
        </p:nvSpPr>
        <p:spPr>
          <a:xfrm xmlns:a="http://schemas.openxmlformats.org/drawingml/2006/main">
            <a:off x="704850" y="2314575"/>
            <a:ext cx="4457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071E3"/>
                </a:solidFill>
                <a:latin typeface="Inter"/>
                <a:ea typeface="Inter"/>
                <a:cs typeface="Inter"/>
              </a:defRPr>
            </a:pPr>
            <a:r>
              <a:rPr sz="1650" b="1">
                <a:solidFill>
                  <a:srgbClr val="0071E3"/>
                </a:solidFill>
                <a:latin typeface="Inter"/>
                <a:ea typeface="Inter"/>
                <a:cs typeface="Inter"/>
              </a:rPr>
              <a:t>A / Current metadata</a:t>
            </a:r>
          </a:p>
        </p:txBody>
      </p:sp>
      <p:sp>
        <p:nvSpPr>
          <p:cNvPr id="5" name="text-16-171">
            <a:extLst xmlns:a="http://schemas.openxmlformats.org/drawingml/2006/main">
              <a:ext uri="{FF2B5EF4-FFF2-40B4-BE49-F238E27FC236}">
                <a16:creationId xmlns:a16="http://schemas.microsoft.com/office/drawing/2014/main" id="{95EB78D2-060C-45E9-AC7E-88492F6CC72E}"/>
              </a:ext>
            </a:extLst>
          </p:cNvPr>
          <p:cNvSpPr>
            <a:spLocks xmlns:a="http://schemas.openxmlformats.org/drawingml/2006/main" noGrp="1"/>
          </p:cNvSpPr>
          <p:nvPr/>
        </p:nvSpPr>
        <p:spPr>
          <a:xfrm xmlns:a="http://schemas.openxmlformats.org/drawingml/2006/main">
            <a:off x="704850" y="2962275"/>
            <a:ext cx="45434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1">
                <a:solidFill>
                  <a:srgbClr val="1D1D1F"/>
                </a:solidFill>
                <a:latin typeface="Inter"/>
                <a:ea typeface="Inter"/>
                <a:cs typeface="Inter"/>
              </a:defRPr>
            </a:pPr>
            <a:r>
              <a:rPr sz="2325" b="1">
                <a:solidFill>
                  <a:srgbClr val="1D1D1F"/>
                </a:solidFill>
                <a:latin typeface="Inter"/>
                <a:ea typeface="Inter"/>
                <a:cs typeface="Inter"/>
              </a:rPr>
              <a:t>Calibration and health</a:t>
            </a:r>
          </a:p>
          <a:p xmlns:a="http://schemas.openxmlformats.org/drawingml/2006/main">
            <a:pPr algn="l">
              <a:defRPr sz="2325" b="1">
                <a:solidFill>
                  <a:srgbClr val="1D1D1F"/>
                </a:solidFill>
                <a:latin typeface="Inter"/>
                <a:ea typeface="Inter"/>
                <a:cs typeface="Inter"/>
              </a:defRPr>
            </a:pPr>
            <a:r>
              <a:rPr sz="2325" b="1">
                <a:solidFill>
                  <a:srgbClr val="1D1D1F"/>
                </a:solidFill>
                <a:latin typeface="Inter"/>
                <a:ea typeface="Inter"/>
                <a:cs typeface="Inter"/>
              </a:rPr>
              <a:t>Distinct channel lineage</a:t>
            </a:r>
          </a:p>
        </p:txBody>
      </p:sp>
      <p:sp>
        <p:nvSpPr>
          <p:cNvPr id="6" name="text-16-172">
            <a:extLst xmlns:a="http://schemas.openxmlformats.org/drawingml/2006/main">
              <a:ext uri="{FF2B5EF4-FFF2-40B4-BE49-F238E27FC236}">
                <a16:creationId xmlns:a16="http://schemas.microsoft.com/office/drawing/2014/main" id="{13D8AE01-36FA-4355-9032-750C7471FB57}"/>
              </a:ext>
            </a:extLst>
          </p:cNvPr>
          <p:cNvSpPr>
            <a:spLocks xmlns:a="http://schemas.openxmlformats.org/drawingml/2006/main" noGrp="1"/>
          </p:cNvSpPr>
          <p:nvPr/>
        </p:nvSpPr>
        <p:spPr>
          <a:xfrm xmlns:a="http://schemas.openxmlformats.org/drawingml/2006/main">
            <a:off x="714375" y="4343400"/>
            <a:ext cx="44291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0">
                <a:solidFill>
                  <a:srgbClr val="6E6E73"/>
                </a:solidFill>
                <a:latin typeface="Inter"/>
                <a:ea typeface="Inter"/>
                <a:cs typeface="Inter"/>
              </a:defRPr>
            </a:pPr>
            <a:r>
              <a:rPr sz="1875" b="0">
                <a:solidFill>
                  <a:srgbClr val="6E6E73"/>
                </a:solidFill>
                <a:latin typeface="Inter"/>
                <a:ea typeface="Inter"/>
                <a:cs typeface="Inter"/>
              </a:rPr>
              <a:t>Current metadata comparison</a:t>
            </a:r>
          </a:p>
          <a:p xmlns:a="http://schemas.openxmlformats.org/drawingml/2006/main">
            <a:pPr algn="l">
              <a:defRPr sz="1875" b="0">
                <a:solidFill>
                  <a:srgbClr val="6E6E73"/>
                </a:solidFill>
                <a:latin typeface="Inter"/>
                <a:ea typeface="Inter"/>
                <a:cs typeface="Inter"/>
              </a:defRPr>
            </a:pPr>
            <a:r>
              <a:rPr sz="1875" b="0">
                <a:solidFill>
                  <a:srgbClr val="6E6E73"/>
                </a:solidFill>
                <a:latin typeface="Inter"/>
                <a:ea typeface="Inter"/>
                <a:cs typeface="Inter"/>
              </a:rPr>
              <a:t>No reserve-history read</a:t>
            </a:r>
          </a:p>
        </p:txBody>
      </p:sp>
      <p:sp>
        <p:nvSpPr>
          <p:cNvPr id="7" name="text-16-173">
            <a:extLst xmlns:a="http://schemas.openxmlformats.org/drawingml/2006/main">
              <a:ext uri="{FF2B5EF4-FFF2-40B4-BE49-F238E27FC236}">
                <a16:creationId xmlns:a16="http://schemas.microsoft.com/office/drawing/2014/main" id="{CC545A1C-5510-4FB6-BBBB-F5543F3CAEEC}"/>
              </a:ext>
            </a:extLst>
          </p:cNvPr>
          <p:cNvSpPr>
            <a:spLocks xmlns:a="http://schemas.openxmlformats.org/drawingml/2006/main" noGrp="1"/>
          </p:cNvSpPr>
          <p:nvPr/>
        </p:nvSpPr>
        <p:spPr>
          <a:xfrm xmlns:a="http://schemas.openxmlformats.org/drawingml/2006/main">
            <a:off x="6191250" y="2314575"/>
            <a:ext cx="5334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071E3"/>
                </a:solidFill>
                <a:latin typeface="Inter"/>
                <a:ea typeface="Inter"/>
                <a:cs typeface="Inter"/>
              </a:defRPr>
            </a:pPr>
            <a:r>
              <a:rPr sz="1650" b="1">
                <a:solidFill>
                  <a:srgbClr val="0071E3"/>
                </a:solidFill>
                <a:latin typeface="Inter"/>
                <a:ea typeface="Inter"/>
                <a:cs typeface="Inter"/>
              </a:rPr>
              <a:t>B / Recorded mock history</a:t>
            </a:r>
          </a:p>
        </p:txBody>
      </p:sp>
      <p:graphicFrame>
        <p:nvGraphicFramePr>
          <p:cNvPr id="21" name="Chart"/>
          <p:cNvGraphicFramePr/>
          <p:nvPr/>
        </p:nvGraphicFramePr>
        <p:xfrm>
          <a:off xmlns:a="http://schemas.openxmlformats.org/drawingml/2006/main" x="5972175" y="2771775"/>
          <a:ext xmlns:a="http://schemas.openxmlformats.org/drawingml/2006/main" cx="5505450" cy="2657475"/>
        </p:xfrm>
        <a:graphic xmlns:a="http://schemas.openxmlformats.org/drawingml/2006/main">
          <a:graphicData uri="http://schemas.openxmlformats.org/drawingml/2006/chart">
            <c:chart xmlns:r="http://schemas.openxmlformats.org/officeDocument/2006/relationships" xmlns:c="http://schemas.openxmlformats.org/drawingml/2006/chart" r:id="R88d9b3fbc07c4b50"/>
          </a:graphicData>
        </a:graphic>
      </p:graphicFrame>
      <p:sp>
        <p:nvSpPr>
          <p:cNvPr id="9" name="text-16-174">
            <a:extLst xmlns:a="http://schemas.openxmlformats.org/drawingml/2006/main">
              <a:ext uri="{FF2B5EF4-FFF2-40B4-BE49-F238E27FC236}">
                <a16:creationId xmlns:a16="http://schemas.microsoft.com/office/drawing/2014/main" id="{F704A9BD-0497-4F90-B1D2-164069D1DDAD}"/>
              </a:ext>
            </a:extLst>
          </p:cNvPr>
          <p:cNvSpPr>
            <a:spLocks xmlns:a="http://schemas.openxmlformats.org/drawingml/2006/main" noGrp="1"/>
          </p:cNvSpPr>
          <p:nvPr/>
        </p:nvSpPr>
        <p:spPr>
          <a:xfrm xmlns:a="http://schemas.openxmlformats.org/drawingml/2006/main">
            <a:off x="6191250" y="5591175"/>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500" b="1">
                <a:solidFill>
                  <a:srgbClr val="1D1D1F"/>
                </a:solidFill>
                <a:latin typeface="Inter"/>
                <a:ea typeface="Inter"/>
                <a:cs typeface="Inter"/>
              </a:defRPr>
            </a:pPr>
            <a:r>
              <a:rPr sz="1500" b="1">
                <a:solidFill>
                  <a:srgbClr val="1D1D1F"/>
                </a:solidFill>
                <a:latin typeface="Inter"/>
                <a:ea typeface="Inter"/>
                <a:cs typeface="Inter"/>
              </a:rPr>
              <a:t>3 samples   /   20 s measured span   /   150 um range</a:t>
            </a:r>
          </a:p>
        </p:txBody>
      </p:sp>
      <p:sp>
        <p:nvSpPr>
          <p:cNvPr id="10" name="text-16-175">
            <a:extLst xmlns:a="http://schemas.openxmlformats.org/drawingml/2006/main">
              <a:ext uri="{FF2B5EF4-FFF2-40B4-BE49-F238E27FC236}">
                <a16:creationId xmlns:a16="http://schemas.microsoft.com/office/drawing/2014/main" id="{DBF2DDB8-9A04-4073-8154-D2EC2FC02FF5}"/>
              </a:ext>
            </a:extLst>
          </p:cNvPr>
          <p:cNvSpPr>
            <a:spLocks xmlns:a="http://schemas.openxmlformats.org/drawingml/2006/main" noGrp="1"/>
          </p:cNvSpPr>
          <p:nvPr/>
        </p:nvSpPr>
        <p:spPr>
          <a:xfrm xmlns:a="http://schemas.openxmlformats.org/drawingml/2006/main">
            <a:off x="704850" y="6038850"/>
            <a:ext cx="5153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0">
                <a:solidFill>
                  <a:srgbClr val="6E6E73"/>
                </a:solidFill>
                <a:latin typeface="Inter"/>
                <a:ea typeface="Inter"/>
                <a:cs typeface="Inter"/>
              </a:defRPr>
            </a:pPr>
            <a:r>
              <a:rPr sz="1275" b="0">
                <a:solidFill>
                  <a:srgbClr val="6E6E73"/>
                </a:solidFill>
                <a:latin typeface="Inter"/>
                <a:ea typeface="Inter"/>
                <a:cs typeface="Inter"/>
              </a:rPr>
              <a:t>The same-context control retained substantive work.</a:t>
            </a:r>
          </a:p>
          <a:p xmlns:a="http://schemas.openxmlformats.org/drawingml/2006/main">
            <a:pPr algn="l">
              <a:defRPr sz="1275" b="0">
                <a:solidFill>
                  <a:srgbClr val="6E6E73"/>
                </a:solidFill>
                <a:latin typeface="Inter"/>
                <a:ea typeface="Inter"/>
                <a:cs typeface="Inter"/>
              </a:defRPr>
            </a:pPr>
            <a:r>
              <a:rPr sz="1275" b="0">
                <a:solidFill>
                  <a:srgbClr val="6E6E73"/>
                </a:solidFill>
                <a:latin typeface="Inter"/>
                <a:ea typeface="Inter"/>
                <a:cs typeface="Inter"/>
              </a:rPr>
              <a:t>Both executions use the same sensor inputs.</a:t>
            </a:r>
          </a:p>
        </p:txBody>
      </p:sp>
      <p:sp>
        <p:nvSpPr>
          <p:cNvPr id="11" name="text-16-176">
            <a:extLst xmlns:a="http://schemas.openxmlformats.org/drawingml/2006/main">
              <a:ext uri="{FF2B5EF4-FFF2-40B4-BE49-F238E27FC236}">
                <a16:creationId xmlns:a16="http://schemas.microsoft.com/office/drawing/2014/main" id="{4B2DB42F-D1F3-4CAA-9D2B-98F39CAD4DF6}"/>
              </a:ext>
            </a:extLst>
          </p:cNvPr>
          <p:cNvSpPr>
            <a:spLocks xmlns:a="http://schemas.openxmlformats.org/drawingml/2006/main" noGrp="1"/>
          </p:cNvSpPr>
          <p:nvPr/>
        </p:nvSpPr>
        <p:spPr>
          <a:xfrm xmlns:a="http://schemas.openxmlformats.org/drawingml/2006/main">
            <a:off x="6191250" y="6038850"/>
            <a:ext cx="5334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00" b="0">
                <a:solidFill>
                  <a:srgbClr val="6E6E73"/>
                </a:solidFill>
                <a:latin typeface="Inter"/>
                <a:ea typeface="Inter"/>
                <a:cs typeface="Inter"/>
              </a:defRPr>
            </a:pPr>
            <a:r>
              <a:rPr sz="1200" b="0">
                <a:solidFill>
                  <a:srgbClr val="6E6E73"/>
                </a:solidFill>
                <a:latin typeface="Inter"/>
                <a:ea typeface="Inter"/>
                <a:cs typeface="Inter"/>
              </a:rPr>
              <a:t>Recorded admitted synthetic reserve-history read</a:t>
            </a:r>
          </a:p>
          <a:p xmlns:a="http://schemas.openxmlformats.org/drawingml/2006/main">
            <a:pPr algn="l">
              <a:defRPr sz="1200" b="0">
                <a:solidFill>
                  <a:srgbClr val="6E6E73"/>
                </a:solidFill>
                <a:latin typeface="Inter"/>
                <a:ea typeface="Inter"/>
                <a:cs typeface="Inter"/>
              </a:defRPr>
            </a:pPr>
            <a:r>
              <a:rPr sz="1200" b="0">
                <a:solidFill>
                  <a:srgbClr val="6E6E73"/>
                </a:solidFill>
                <a:latin typeface="Inter"/>
                <a:ea typeface="Inter"/>
                <a:cs typeface="Inter"/>
              </a:rPr>
              <a:t>MOCK_SOURCE_READ; not physical slope measurements</a:t>
            </a:r>
          </a:p>
        </p:txBody>
      </p:sp>
      <p:sp>
        <p:nvSpPr>
          <p:cNvPr id="12" name="text-16-177">
            <a:extLst xmlns:a="http://schemas.openxmlformats.org/drawingml/2006/main">
              <a:ext uri="{FF2B5EF4-FFF2-40B4-BE49-F238E27FC236}">
                <a16:creationId xmlns:a16="http://schemas.microsoft.com/office/drawing/2014/main" id="{AB2DB15B-C2E0-435E-87CF-3487259EBAB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3" name="text-16-178">
            <a:extLst xmlns:a="http://schemas.openxmlformats.org/drawingml/2006/main">
              <a:ext uri="{FF2B5EF4-FFF2-40B4-BE49-F238E27FC236}">
                <a16:creationId xmlns:a16="http://schemas.microsoft.com/office/drawing/2014/main" id="{00BCA66E-5EF1-4183-9FB6-B9B7B25D8EA4}"/>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16</a:t>
            </a:r>
          </a:p>
        </p:txBody>
      </p:sp>
    </p:spTree>
    <p:extLst>
      <p:ext uri="{BB962C8B-B14F-4D97-AF65-F5344CB8AC3E}">
        <p14:creationId xmlns:p14="http://schemas.microsoft.com/office/powerpoint/2010/main" val="79601407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7-179">
            <a:extLst xmlns:a="http://schemas.openxmlformats.org/drawingml/2006/main">
              <a:ext uri="{FF2B5EF4-FFF2-40B4-BE49-F238E27FC236}">
                <a16:creationId xmlns:a16="http://schemas.microsoft.com/office/drawing/2014/main" id="{53BE6684-122C-42AB-B652-1872E8B2692A}"/>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16 / INVESTIGATION CONTRACTS</a:t>
            </a:r>
          </a:p>
        </p:txBody>
      </p:sp>
      <p:sp>
        <p:nvSpPr>
          <p:cNvPr id="2" name="text-17-180">
            <a:extLst xmlns:a="http://schemas.openxmlformats.org/drawingml/2006/main">
              <a:ext uri="{FF2B5EF4-FFF2-40B4-BE49-F238E27FC236}">
                <a16:creationId xmlns:a16="http://schemas.microsoft.com/office/drawing/2014/main" id="{E11DAB03-75D6-4021-AA55-4B2D8C89745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 question has its own evidence needs</a:t>
            </a:r>
          </a:p>
        </p:txBody>
      </p:sp>
      <p:sp>
        <p:nvSpPr>
          <p:cNvPr id="3" name="text-17-181">
            <a:extLst xmlns:a="http://schemas.openxmlformats.org/drawingml/2006/main">
              <a:ext uri="{FF2B5EF4-FFF2-40B4-BE49-F238E27FC236}">
                <a16:creationId xmlns:a16="http://schemas.microsoft.com/office/drawing/2014/main" id="{DC4F6FF3-1687-45E1-90CE-B21261A6C887}"/>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Source-fitness guards do not answer every question.</a:t>
            </a:r>
          </a:p>
        </p:txBody>
      </p:sp>
      <p:sp>
        <p:nvSpPr>
          <p:cNvPr id="4" name="text-17-182">
            <a:extLst xmlns:a="http://schemas.openxmlformats.org/drawingml/2006/main">
              <a:ext uri="{FF2B5EF4-FFF2-40B4-BE49-F238E27FC236}">
                <a16:creationId xmlns:a16="http://schemas.microsoft.com/office/drawing/2014/main" id="{1717C0F2-ED94-4D8D-91BF-FBFDD6627B15}"/>
              </a:ext>
            </a:extLst>
          </p:cNvPr>
          <p:cNvSpPr>
            <a:spLocks xmlns:a="http://schemas.openxmlformats.org/drawingml/2006/main" noGrp="1"/>
          </p:cNvSpPr>
          <p:nvPr/>
        </p:nvSpPr>
        <p:spPr>
          <a:xfrm xmlns:a="http://schemas.openxmlformats.org/drawingml/2006/main">
            <a:off x="704850" y="257175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Reference integrity investigates current metadata relationships.</a:t>
            </a:r>
          </a:p>
        </p:txBody>
      </p:sp>
      <p:sp>
        <p:nvSpPr>
          <p:cNvPr id="5" name="text-17-183">
            <a:extLst xmlns:a="http://schemas.openxmlformats.org/drawingml/2006/main">
              <a:ext uri="{FF2B5EF4-FFF2-40B4-BE49-F238E27FC236}">
                <a16:creationId xmlns:a16="http://schemas.microsoft.com/office/drawing/2014/main" id="{2E5EE4AE-3756-4B4E-BB3A-BF05A5374C89}"/>
              </a:ext>
            </a:extLst>
          </p:cNvPr>
          <p:cNvSpPr>
            <a:spLocks xmlns:a="http://schemas.openxmlformats.org/drawingml/2006/main" noGrp="1"/>
          </p:cNvSpPr>
          <p:nvPr/>
        </p:nvSpPr>
        <p:spPr>
          <a:xfrm xmlns:a="http://schemas.openxmlformats.org/drawingml/2006/main">
            <a:off x="704850" y="3267075"/>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Reserve history investigates measured variation after source-fitness checks.</a:t>
            </a:r>
          </a:p>
        </p:txBody>
      </p:sp>
      <p:sp>
        <p:nvSpPr>
          <p:cNvPr id="6" name="text-17-184">
            <a:extLst xmlns:a="http://schemas.openxmlformats.org/drawingml/2006/main">
              <a:ext uri="{FF2B5EF4-FFF2-40B4-BE49-F238E27FC236}">
                <a16:creationId xmlns:a16="http://schemas.microsoft.com/office/drawing/2014/main" id="{64C02BFF-F106-4EAF-A9D0-4F28B6B7C089}"/>
              </a:ext>
            </a:extLst>
          </p:cNvPr>
          <p:cNvSpPr>
            <a:spLocks xmlns:a="http://schemas.openxmlformats.org/drawingml/2006/main" noGrp="1"/>
          </p:cNvSpPr>
          <p:nvPr/>
        </p:nvSpPr>
        <p:spPr>
          <a:xfrm xmlns:a="http://schemas.openxmlformats.org/drawingml/2006/main">
            <a:off x="704850" y="4333875"/>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Evidence gaps compares supplied facts with the selected duty and intended use.</a:t>
            </a:r>
          </a:p>
        </p:txBody>
      </p:sp>
      <p:sp>
        <p:nvSpPr>
          <p:cNvPr id="7" name="text-17-185">
            <a:extLst xmlns:a="http://schemas.openxmlformats.org/drawingml/2006/main">
              <a:ext uri="{FF2B5EF4-FFF2-40B4-BE49-F238E27FC236}">
                <a16:creationId xmlns:a16="http://schemas.microsoft.com/office/drawing/2014/main" id="{FAD72438-BD1D-44D0-9E90-849DF7FC857B}"/>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17-186">
            <a:extLst xmlns:a="http://schemas.openxmlformats.org/drawingml/2006/main">
              <a:ext uri="{FF2B5EF4-FFF2-40B4-BE49-F238E27FC236}">
                <a16:creationId xmlns:a16="http://schemas.microsoft.com/office/drawing/2014/main" id="{437E9F00-5A2B-4729-8C2C-A46633DA2452}"/>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17</a:t>
            </a:r>
          </a:p>
        </p:txBody>
      </p:sp>
    </p:spTree>
    <p:extLst>
      <p:ext uri="{BB962C8B-B14F-4D97-AF65-F5344CB8AC3E}">
        <p14:creationId xmlns:p14="http://schemas.microsoft.com/office/powerpoint/2010/main" val="13424895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18-187">
            <a:extLst xmlns:a="http://schemas.openxmlformats.org/drawingml/2006/main">
              <a:ext uri="{FF2B5EF4-FFF2-40B4-BE49-F238E27FC236}">
                <a16:creationId xmlns:a16="http://schemas.microsoft.com/office/drawing/2014/main" id="{CA272047-5427-410D-839A-C26E3ED5CFBA}"/>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17 / NEGATIVE RESULTS MATTER</a:t>
            </a:r>
          </a:p>
        </p:txBody>
      </p:sp>
      <p:sp>
        <p:nvSpPr>
          <p:cNvPr id="2" name="text-18-188">
            <a:extLst xmlns:a="http://schemas.openxmlformats.org/drawingml/2006/main">
              <a:ext uri="{FF2B5EF4-FFF2-40B4-BE49-F238E27FC236}">
                <a16:creationId xmlns:a16="http://schemas.microsoft.com/office/drawing/2014/main" id="{AA17BC58-D2B0-4DE6-B63C-3444A8C0A57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The earlier pairs remain inconclusive</a:t>
            </a:r>
          </a:p>
        </p:txBody>
      </p:sp>
      <p:sp>
        <p:nvSpPr>
          <p:cNvPr id="3" name="text-18-189">
            <a:extLst xmlns:a="http://schemas.openxmlformats.org/drawingml/2006/main">
              <a:ext uri="{FF2B5EF4-FFF2-40B4-BE49-F238E27FC236}">
                <a16:creationId xmlns:a16="http://schemas.microsoft.com/office/drawing/2014/main" id="{59FEB0EF-F6FA-4F41-ADA9-D864581FED2D}"/>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later success does not rewrite the experiment log.</a:t>
            </a:r>
          </a:p>
        </p:txBody>
      </p:sp>
      <p:sp>
        <p:nvSpPr>
          <p:cNvPr id="4" name="text-18-190">
            <a:extLst xmlns:a="http://schemas.openxmlformats.org/drawingml/2006/main">
              <a:ext uri="{FF2B5EF4-FFF2-40B4-BE49-F238E27FC236}">
                <a16:creationId xmlns:a16="http://schemas.microsoft.com/office/drawing/2014/main" id="{D7286BA3-FE81-49A5-84E3-A5B64728C29F}"/>
              </a:ext>
            </a:extLst>
          </p:cNvPr>
          <p:cNvSpPr>
            <a:spLocks xmlns:a="http://schemas.openxmlformats.org/drawingml/2006/main" noGrp="1"/>
          </p:cNvSpPr>
          <p:nvPr/>
        </p:nvSpPr>
        <p:spPr>
          <a:xfrm xmlns:a="http://schemas.openxmlformats.org/drawingml/2006/main">
            <a:off x="685800" y="234315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01</a:t>
            </a:r>
          </a:p>
        </p:txBody>
      </p:sp>
      <p:sp>
        <p:nvSpPr>
          <p:cNvPr id="5" name="text-18-191">
            <a:extLst xmlns:a="http://schemas.openxmlformats.org/drawingml/2006/main">
              <a:ext uri="{FF2B5EF4-FFF2-40B4-BE49-F238E27FC236}">
                <a16:creationId xmlns:a16="http://schemas.microsoft.com/office/drawing/2014/main" id="{235E82B7-776E-477B-9E75-285A010C2AD2}"/>
              </a:ext>
            </a:extLst>
          </p:cNvPr>
          <p:cNvSpPr>
            <a:spLocks xmlns:a="http://schemas.openxmlformats.org/drawingml/2006/main" noGrp="1"/>
          </p:cNvSpPr>
          <p:nvPr/>
        </p:nvSpPr>
        <p:spPr>
          <a:xfrm xmlns:a="http://schemas.openxmlformats.org/drawingml/2006/main">
            <a:off x="1905000" y="234315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LS2</a:t>
            </a:r>
          </a:p>
        </p:txBody>
      </p:sp>
      <p:sp>
        <p:nvSpPr>
          <p:cNvPr id="6" name="text-18-192">
            <a:extLst xmlns:a="http://schemas.openxmlformats.org/drawingml/2006/main">
              <a:ext uri="{FF2B5EF4-FFF2-40B4-BE49-F238E27FC236}">
                <a16:creationId xmlns:a16="http://schemas.microsoft.com/office/drawing/2014/main" id="{5CC28A5A-8293-4844-8ACF-2C818136F898}"/>
              </a:ext>
            </a:extLst>
          </p:cNvPr>
          <p:cNvSpPr>
            <a:spLocks xmlns:a="http://schemas.openxmlformats.org/drawingml/2006/main" noGrp="1"/>
          </p:cNvSpPr>
          <p:nvPr/>
        </p:nvSpPr>
        <p:spPr>
          <a:xfrm xmlns:a="http://schemas.openxmlformats.org/drawingml/2006/main">
            <a:off x="5457825" y="234315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Same work; inconclusive</a:t>
            </a:r>
          </a:p>
        </p:txBody>
      </p:sp>
      <p:sp>
        <p:nvSpPr>
          <p:cNvPr id="7" name="">
            <a:extLst xmlns:a="http://schemas.openxmlformats.org/drawingml/2006/main">
              <a:ext uri="{FF2B5EF4-FFF2-40B4-BE49-F238E27FC236}">
                <a16:creationId xmlns:a16="http://schemas.microsoft.com/office/drawing/2014/main" id="{4BE9B987-562B-4B30-AA91-4393FFFCE833}"/>
              </a:ext>
            </a:extLst>
          </p:cNvPr>
          <p:cNvSpPr>
            <a:spLocks xmlns:a="http://schemas.openxmlformats.org/drawingml/2006/main" noGrp="1"/>
          </p:cNvSpPr>
          <p:nvPr/>
        </p:nvSpPr>
        <p:spPr>
          <a:xfrm xmlns:a="http://schemas.openxmlformats.org/drawingml/2006/main">
            <a:off x="685800" y="31813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8" name="text-18-193">
            <a:extLst xmlns:a="http://schemas.openxmlformats.org/drawingml/2006/main">
              <a:ext uri="{FF2B5EF4-FFF2-40B4-BE49-F238E27FC236}">
                <a16:creationId xmlns:a16="http://schemas.microsoft.com/office/drawing/2014/main" id="{9A86236C-89B7-4CD2-AD25-37B60B386033}"/>
              </a:ext>
            </a:extLst>
          </p:cNvPr>
          <p:cNvSpPr>
            <a:spLocks xmlns:a="http://schemas.openxmlformats.org/drawingml/2006/main" noGrp="1"/>
          </p:cNvSpPr>
          <p:nvPr/>
        </p:nvSpPr>
        <p:spPr>
          <a:xfrm xmlns:a="http://schemas.openxmlformats.org/drawingml/2006/main">
            <a:off x="685800" y="327660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02</a:t>
            </a:r>
          </a:p>
        </p:txBody>
      </p:sp>
      <p:sp>
        <p:nvSpPr>
          <p:cNvPr id="9" name="text-18-194">
            <a:extLst xmlns:a="http://schemas.openxmlformats.org/drawingml/2006/main">
              <a:ext uri="{FF2B5EF4-FFF2-40B4-BE49-F238E27FC236}">
                <a16:creationId xmlns:a16="http://schemas.microsoft.com/office/drawing/2014/main" id="{655884F1-403E-4C47-B332-A8CD0357128A}"/>
              </a:ext>
            </a:extLst>
          </p:cNvPr>
          <p:cNvSpPr>
            <a:spLocks xmlns:a="http://schemas.openxmlformats.org/drawingml/2006/main" noGrp="1"/>
          </p:cNvSpPr>
          <p:nvPr/>
        </p:nvSpPr>
        <p:spPr>
          <a:xfrm xmlns:a="http://schemas.openxmlformats.org/drawingml/2006/main">
            <a:off x="1905000" y="32766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LS2R</a:t>
            </a:r>
          </a:p>
        </p:txBody>
      </p:sp>
      <p:sp>
        <p:nvSpPr>
          <p:cNvPr id="10" name="text-18-195">
            <a:extLst xmlns:a="http://schemas.openxmlformats.org/drawingml/2006/main">
              <a:ext uri="{FF2B5EF4-FFF2-40B4-BE49-F238E27FC236}">
                <a16:creationId xmlns:a16="http://schemas.microsoft.com/office/drawing/2014/main" id="{744274DB-E5B0-49E3-BEF4-E21D342F06D4}"/>
              </a:ext>
            </a:extLst>
          </p:cNvPr>
          <p:cNvSpPr>
            <a:spLocks xmlns:a="http://schemas.openxmlformats.org/drawingml/2006/main" noGrp="1"/>
          </p:cNvSpPr>
          <p:nvPr/>
        </p:nvSpPr>
        <p:spPr>
          <a:xfrm xmlns:a="http://schemas.openxmlformats.org/drawingml/2006/main">
            <a:off x="5457825" y="327660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Overlapping purpose; inconclusive</a:t>
            </a:r>
          </a:p>
        </p:txBody>
      </p:sp>
      <p:sp>
        <p:nvSpPr>
          <p:cNvPr id="11" name="">
            <a:extLst xmlns:a="http://schemas.openxmlformats.org/drawingml/2006/main">
              <a:ext uri="{FF2B5EF4-FFF2-40B4-BE49-F238E27FC236}">
                <a16:creationId xmlns:a16="http://schemas.microsoft.com/office/drawing/2014/main" id="{4EFC4723-CBB3-4E33-904D-7728CDA40A60}"/>
              </a:ext>
            </a:extLst>
          </p:cNvPr>
          <p:cNvSpPr>
            <a:spLocks xmlns:a="http://schemas.openxmlformats.org/drawingml/2006/main" noGrp="1"/>
          </p:cNvSpPr>
          <p:nvPr/>
        </p:nvSpPr>
        <p:spPr>
          <a:xfrm xmlns:a="http://schemas.openxmlformats.org/drawingml/2006/main">
            <a:off x="685800" y="411480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2" name="text-18-196">
            <a:extLst xmlns:a="http://schemas.openxmlformats.org/drawingml/2006/main">
              <a:ext uri="{FF2B5EF4-FFF2-40B4-BE49-F238E27FC236}">
                <a16:creationId xmlns:a16="http://schemas.microsoft.com/office/drawing/2014/main" id="{FF7E0681-BF4B-4DA3-A4BB-A7F78BFB347E}"/>
              </a:ext>
            </a:extLst>
          </p:cNvPr>
          <p:cNvSpPr>
            <a:spLocks xmlns:a="http://schemas.openxmlformats.org/drawingml/2006/main" noGrp="1"/>
          </p:cNvSpPr>
          <p:nvPr/>
        </p:nvSpPr>
        <p:spPr>
          <a:xfrm xmlns:a="http://schemas.openxmlformats.org/drawingml/2006/main">
            <a:off x="685800" y="4210050"/>
            <a:ext cx="10287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03</a:t>
            </a:r>
          </a:p>
        </p:txBody>
      </p:sp>
      <p:sp>
        <p:nvSpPr>
          <p:cNvPr id="13" name="text-18-197">
            <a:extLst xmlns:a="http://schemas.openxmlformats.org/drawingml/2006/main">
              <a:ext uri="{FF2B5EF4-FFF2-40B4-BE49-F238E27FC236}">
                <a16:creationId xmlns:a16="http://schemas.microsoft.com/office/drawing/2014/main" id="{5F966FC2-62F8-4EFF-8FDE-2B412C0CD908}"/>
              </a:ext>
            </a:extLst>
          </p:cNvPr>
          <p:cNvSpPr>
            <a:spLocks xmlns:a="http://schemas.openxmlformats.org/drawingml/2006/main" noGrp="1"/>
          </p:cNvSpPr>
          <p:nvPr/>
        </p:nvSpPr>
        <p:spPr>
          <a:xfrm xmlns:a="http://schemas.openxmlformats.org/drawingml/2006/main">
            <a:off x="1905000" y="421005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LS2R2</a:t>
            </a:r>
          </a:p>
        </p:txBody>
      </p:sp>
      <p:sp>
        <p:nvSpPr>
          <p:cNvPr id="14" name="text-18-198">
            <a:extLst xmlns:a="http://schemas.openxmlformats.org/drawingml/2006/main">
              <a:ext uri="{FF2B5EF4-FFF2-40B4-BE49-F238E27FC236}">
                <a16:creationId xmlns:a16="http://schemas.microsoft.com/office/drawing/2014/main" id="{D3FF3E03-B886-4890-885C-F244E3A5ED9F}"/>
              </a:ext>
            </a:extLst>
          </p:cNvPr>
          <p:cNvSpPr>
            <a:spLocks xmlns:a="http://schemas.openxmlformats.org/drawingml/2006/main" noGrp="1"/>
          </p:cNvSpPr>
          <p:nvPr/>
        </p:nvSpPr>
        <p:spPr>
          <a:xfrm xmlns:a="http://schemas.openxmlformats.org/drawingml/2006/main">
            <a:off x="5457825" y="4210050"/>
            <a:ext cx="6048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Distinct executed investigations</a:t>
            </a:r>
          </a:p>
        </p:txBody>
      </p:sp>
      <p:sp>
        <p:nvSpPr>
          <p:cNvPr id="15" name="">
            <a:extLst xmlns:a="http://schemas.openxmlformats.org/drawingml/2006/main">
              <a:ext uri="{FF2B5EF4-FFF2-40B4-BE49-F238E27FC236}">
                <a16:creationId xmlns:a16="http://schemas.microsoft.com/office/drawing/2014/main" id="{3525A82D-AD31-4E70-98AF-6144A6890848}"/>
              </a:ext>
            </a:extLst>
          </p:cNvPr>
          <p:cNvSpPr>
            <a:spLocks xmlns:a="http://schemas.openxmlformats.org/drawingml/2006/main" noGrp="1"/>
          </p:cNvSpPr>
          <p:nvPr/>
        </p:nvSpPr>
        <p:spPr>
          <a:xfrm xmlns:a="http://schemas.openxmlformats.org/drawingml/2006/main">
            <a:off x="685800" y="5048250"/>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6" name="text-18-199">
            <a:extLst xmlns:a="http://schemas.openxmlformats.org/drawingml/2006/main">
              <a:ext uri="{FF2B5EF4-FFF2-40B4-BE49-F238E27FC236}">
                <a16:creationId xmlns:a16="http://schemas.microsoft.com/office/drawing/2014/main" id="{D6E9D426-D3D0-4126-BDB2-7268757A5E8B}"/>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7" name="text-18-200">
            <a:extLst xmlns:a="http://schemas.openxmlformats.org/drawingml/2006/main">
              <a:ext uri="{FF2B5EF4-FFF2-40B4-BE49-F238E27FC236}">
                <a16:creationId xmlns:a16="http://schemas.microsoft.com/office/drawing/2014/main" id="{DE723C46-3DD7-4DAB-99E4-8173AC46226B}"/>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18</a:t>
            </a:r>
          </a:p>
        </p:txBody>
      </p:sp>
    </p:spTree>
    <p:extLst>
      <p:ext uri="{BB962C8B-B14F-4D97-AF65-F5344CB8AC3E}">
        <p14:creationId xmlns:p14="http://schemas.microsoft.com/office/powerpoint/2010/main" val="10663287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19-201">
            <a:extLst xmlns:a="http://schemas.openxmlformats.org/drawingml/2006/main">
              <a:ext uri="{FF2B5EF4-FFF2-40B4-BE49-F238E27FC236}">
                <a16:creationId xmlns:a16="http://schemas.microsoft.com/office/drawing/2014/main" id="{6DEE5888-08E4-404F-824B-F22499553FB8}"/>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18 / CHANGED RAINFALL</a:t>
            </a:r>
          </a:p>
        </p:txBody>
      </p:sp>
      <p:sp>
        <p:nvSpPr>
          <p:cNvPr id="2" name="text-19-202">
            <a:extLst xmlns:a="http://schemas.openxmlformats.org/drawingml/2006/main">
              <a:ext uri="{FF2B5EF4-FFF2-40B4-BE49-F238E27FC236}">
                <a16:creationId xmlns:a16="http://schemas.microsoft.com/office/drawing/2014/main" id="{CE7F6F50-7D5A-433C-8F7D-961B9A109F86}"/>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E changes the next real intake</a:t>
            </a:r>
          </a:p>
        </p:txBody>
      </p:sp>
      <p:sp>
        <p:nvSpPr>
          <p:cNvPr id="3" name="text-19-203">
            <a:extLst xmlns:a="http://schemas.openxmlformats.org/drawingml/2006/main">
              <a:ext uri="{FF2B5EF4-FFF2-40B4-BE49-F238E27FC236}">
                <a16:creationId xmlns:a16="http://schemas.microsoft.com/office/drawing/2014/main" id="{562AC076-1655-4D64-AA4E-C29355B7154A}"/>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pending configuration is not a permanent entitlement.</a:t>
            </a:r>
          </a:p>
        </p:txBody>
      </p:sp>
      <p:sp>
        <p:nvSpPr>
          <p:cNvPr id="4" name="">
            <a:extLst xmlns:a="http://schemas.openxmlformats.org/drawingml/2006/main">
              <a:ext uri="{FF2B5EF4-FFF2-40B4-BE49-F238E27FC236}">
                <a16:creationId xmlns:a16="http://schemas.microsoft.com/office/drawing/2014/main" id="{00EE00CE-650B-455F-A1BF-935EB9438C93}"/>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19-204">
            <a:extLst xmlns:a="http://schemas.openxmlformats.org/drawingml/2006/main">
              <a:ext uri="{FF2B5EF4-FFF2-40B4-BE49-F238E27FC236}">
                <a16:creationId xmlns:a16="http://schemas.microsoft.com/office/drawing/2014/main" id="{C4835AE2-8D7E-49B7-8AB7-7FF36B872F44}"/>
              </a:ext>
            </a:extLst>
          </p:cNvPr>
          <p:cNvSpPr>
            <a:spLocks xmlns:a="http://schemas.openxmlformats.org/drawingml/2006/main" noGrp="1"/>
          </p:cNvSpPr>
          <p:nvPr/>
        </p:nvSpPr>
        <p:spPr>
          <a:xfrm xmlns:a="http://schemas.openxmlformats.org/drawingml/2006/main">
            <a:off x="685800"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19-205">
            <a:extLst xmlns:a="http://schemas.openxmlformats.org/drawingml/2006/main">
              <a:ext uri="{FF2B5EF4-FFF2-40B4-BE49-F238E27FC236}">
                <a16:creationId xmlns:a16="http://schemas.microsoft.com/office/drawing/2014/main" id="{3D666F82-BA26-4029-A363-F4D9359A13AB}"/>
              </a:ext>
            </a:extLst>
          </p:cNvPr>
          <p:cNvSpPr>
            <a:spLocks xmlns:a="http://schemas.openxmlformats.org/drawingml/2006/main" noGrp="1"/>
          </p:cNvSpPr>
          <p:nvPr/>
        </p:nvSpPr>
        <p:spPr>
          <a:xfrm xmlns:a="http://schemas.openxmlformats.org/drawingml/2006/main">
            <a:off x="685800"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Rainfall changes</a:t>
            </a:r>
          </a:p>
        </p:txBody>
      </p:sp>
      <p:sp>
        <p:nvSpPr>
          <p:cNvPr id="7" name="text-19-206">
            <a:extLst xmlns:a="http://schemas.openxmlformats.org/drawingml/2006/main">
              <a:ext uri="{FF2B5EF4-FFF2-40B4-BE49-F238E27FC236}">
                <a16:creationId xmlns:a16="http://schemas.microsoft.com/office/drawing/2014/main" id="{7BB77221-8AE9-442E-8635-4E31C15D8165}"/>
              </a:ext>
            </a:extLst>
          </p:cNvPr>
          <p:cNvSpPr>
            <a:spLocks xmlns:a="http://schemas.openxmlformats.org/drawingml/2006/main" noGrp="1"/>
          </p:cNvSpPr>
          <p:nvPr/>
        </p:nvSpPr>
        <p:spPr>
          <a:xfrm xmlns:a="http://schemas.openxmlformats.org/drawingml/2006/main">
            <a:off x="685800"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Pending packet becomes stale</a:t>
            </a:r>
          </a:p>
        </p:txBody>
      </p:sp>
      <p:sp>
        <p:nvSpPr>
          <p:cNvPr id="8" name="text-19-207">
            <a:extLst xmlns:a="http://schemas.openxmlformats.org/drawingml/2006/main">
              <a:ext uri="{FF2B5EF4-FFF2-40B4-BE49-F238E27FC236}">
                <a16:creationId xmlns:a16="http://schemas.microsoft.com/office/drawing/2014/main" id="{7A7DA50B-8FB3-47E6-932C-108775384514}"/>
              </a:ext>
            </a:extLst>
          </p:cNvPr>
          <p:cNvSpPr>
            <a:spLocks xmlns:a="http://schemas.openxmlformats.org/drawingml/2006/main" noGrp="1"/>
          </p:cNvSpPr>
          <p:nvPr/>
        </p:nvSpPr>
        <p:spPr>
          <a:xfrm xmlns:a="http://schemas.openxmlformats.org/drawingml/2006/main">
            <a:off x="3469481"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19-208">
            <a:extLst xmlns:a="http://schemas.openxmlformats.org/drawingml/2006/main">
              <a:ext uri="{FF2B5EF4-FFF2-40B4-BE49-F238E27FC236}">
                <a16:creationId xmlns:a16="http://schemas.microsoft.com/office/drawing/2014/main" id="{F459166A-91E4-4EC4-9F66-D893D2E1146F}"/>
              </a:ext>
            </a:extLst>
          </p:cNvPr>
          <p:cNvSpPr>
            <a:spLocks xmlns:a="http://schemas.openxmlformats.org/drawingml/2006/main" noGrp="1"/>
          </p:cNvSpPr>
          <p:nvPr/>
        </p:nvSpPr>
        <p:spPr>
          <a:xfrm xmlns:a="http://schemas.openxmlformats.org/drawingml/2006/main">
            <a:off x="3469481"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Actual E</a:t>
            </a:r>
          </a:p>
        </p:txBody>
      </p:sp>
      <p:sp>
        <p:nvSpPr>
          <p:cNvPr id="10" name="text-19-209">
            <a:extLst xmlns:a="http://schemas.openxmlformats.org/drawingml/2006/main">
              <a:ext uri="{FF2B5EF4-FFF2-40B4-BE49-F238E27FC236}">
                <a16:creationId xmlns:a16="http://schemas.microsoft.com/office/drawing/2014/main" id="{DD25CDC2-1593-4AE9-8ED4-1BAA0E5DBBB4}"/>
              </a:ext>
            </a:extLst>
          </p:cNvPr>
          <p:cNvSpPr>
            <a:spLocks xmlns:a="http://schemas.openxmlformats.org/drawingml/2006/main" noGrp="1"/>
          </p:cNvSpPr>
          <p:nvPr/>
        </p:nvSpPr>
        <p:spPr>
          <a:xfrm xmlns:a="http://schemas.openxmlformats.org/drawingml/2006/main">
            <a:off x="3469481"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Changed work + retained sibling</a:t>
            </a:r>
          </a:p>
        </p:txBody>
      </p:sp>
      <p:sp>
        <p:nvSpPr>
          <p:cNvPr id="11" name="text-19-210">
            <a:extLst xmlns:a="http://schemas.openxmlformats.org/drawingml/2006/main">
              <a:ext uri="{FF2B5EF4-FFF2-40B4-BE49-F238E27FC236}">
                <a16:creationId xmlns:a16="http://schemas.microsoft.com/office/drawing/2014/main" id="{FB9F72E5-A44C-42B1-AF4B-F47CA81C6D6A}"/>
              </a:ext>
            </a:extLst>
          </p:cNvPr>
          <p:cNvSpPr>
            <a:spLocks xmlns:a="http://schemas.openxmlformats.org/drawingml/2006/main" noGrp="1"/>
          </p:cNvSpPr>
          <p:nvPr/>
        </p:nvSpPr>
        <p:spPr>
          <a:xfrm xmlns:a="http://schemas.openxmlformats.org/drawingml/2006/main">
            <a:off x="6253163"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19-211">
            <a:extLst xmlns:a="http://schemas.openxmlformats.org/drawingml/2006/main">
              <a:ext uri="{FF2B5EF4-FFF2-40B4-BE49-F238E27FC236}">
                <a16:creationId xmlns:a16="http://schemas.microsoft.com/office/drawing/2014/main" id="{EF87FC09-0F8B-4F7E-AA03-06353A372708}"/>
              </a:ext>
            </a:extLst>
          </p:cNvPr>
          <p:cNvSpPr>
            <a:spLocks xmlns:a="http://schemas.openxmlformats.org/drawingml/2006/main" noGrp="1"/>
          </p:cNvSpPr>
          <p:nvPr/>
        </p:nvSpPr>
        <p:spPr>
          <a:xfrm xmlns:a="http://schemas.openxmlformats.org/drawingml/2006/main">
            <a:off x="6253163"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Current configuration</a:t>
            </a:r>
          </a:p>
        </p:txBody>
      </p:sp>
      <p:sp>
        <p:nvSpPr>
          <p:cNvPr id="13" name="text-19-212">
            <a:extLst xmlns:a="http://schemas.openxmlformats.org/drawingml/2006/main">
              <a:ext uri="{FF2B5EF4-FFF2-40B4-BE49-F238E27FC236}">
                <a16:creationId xmlns:a16="http://schemas.microsoft.com/office/drawing/2014/main" id="{6057B01B-C52E-4A29-8009-56FCDEE9CC52}"/>
              </a:ext>
            </a:extLst>
          </p:cNvPr>
          <p:cNvSpPr>
            <a:spLocks xmlns:a="http://schemas.openxmlformats.org/drawingml/2006/main" noGrp="1"/>
          </p:cNvSpPr>
          <p:nvPr/>
        </p:nvSpPr>
        <p:spPr>
          <a:xfrm xmlns:a="http://schemas.openxmlformats.org/drawingml/2006/main">
            <a:off x="6253163"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Consumes recomputed result</a:t>
            </a:r>
          </a:p>
        </p:txBody>
      </p:sp>
      <p:sp>
        <p:nvSpPr>
          <p:cNvPr id="14" name="text-19-213">
            <a:extLst xmlns:a="http://schemas.openxmlformats.org/drawingml/2006/main">
              <a:ext uri="{FF2B5EF4-FFF2-40B4-BE49-F238E27FC236}">
                <a16:creationId xmlns:a16="http://schemas.microsoft.com/office/drawing/2014/main" id="{36A12C19-916B-47CF-9417-98FF0A02401B}"/>
              </a:ext>
            </a:extLst>
          </p:cNvPr>
          <p:cNvSpPr>
            <a:spLocks xmlns:a="http://schemas.openxmlformats.org/drawingml/2006/main" noGrp="1"/>
          </p:cNvSpPr>
          <p:nvPr/>
        </p:nvSpPr>
        <p:spPr>
          <a:xfrm xmlns:a="http://schemas.openxmlformats.org/drawingml/2006/main">
            <a:off x="9036844"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19-214">
            <a:extLst xmlns:a="http://schemas.openxmlformats.org/drawingml/2006/main">
              <a:ext uri="{FF2B5EF4-FFF2-40B4-BE49-F238E27FC236}">
                <a16:creationId xmlns:a16="http://schemas.microsoft.com/office/drawing/2014/main" id="{CAEBED4F-26E6-4AE6-9DD9-DE541EB3EEDD}"/>
              </a:ext>
            </a:extLst>
          </p:cNvPr>
          <p:cNvSpPr>
            <a:spLocks xmlns:a="http://schemas.openxmlformats.org/drawingml/2006/main" noGrp="1"/>
          </p:cNvSpPr>
          <p:nvPr/>
        </p:nvSpPr>
        <p:spPr>
          <a:xfrm xmlns:a="http://schemas.openxmlformats.org/drawingml/2006/main">
            <a:off x="9036844"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Next intake</a:t>
            </a:r>
          </a:p>
        </p:txBody>
      </p:sp>
      <p:sp>
        <p:nvSpPr>
          <p:cNvPr id="16" name="text-19-215">
            <a:extLst xmlns:a="http://schemas.openxmlformats.org/drawingml/2006/main">
              <a:ext uri="{FF2B5EF4-FFF2-40B4-BE49-F238E27FC236}">
                <a16:creationId xmlns:a16="http://schemas.microsoft.com/office/drawing/2014/main" id="{0F9A17EA-EA90-41A6-8891-5956B72E44B7}"/>
              </a:ext>
            </a:extLst>
          </p:cNvPr>
          <p:cNvSpPr>
            <a:spLocks xmlns:a="http://schemas.openxmlformats.org/drawingml/2006/main" noGrp="1"/>
          </p:cNvSpPr>
          <p:nvPr/>
        </p:nvSpPr>
        <p:spPr>
          <a:xfrm xmlns:a="http://schemas.openxmlformats.org/drawingml/2006/main">
            <a:off x="9036844"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Uses applied cadence</a:t>
            </a:r>
          </a:p>
        </p:txBody>
      </p:sp>
      <p:sp>
        <p:nvSpPr>
          <p:cNvPr id="17" name="text-19-216">
            <a:extLst xmlns:a="http://schemas.openxmlformats.org/drawingml/2006/main">
              <a:ext uri="{FF2B5EF4-FFF2-40B4-BE49-F238E27FC236}">
                <a16:creationId xmlns:a16="http://schemas.microsoft.com/office/drawing/2014/main" id="{B23C831F-CF9E-4717-ADBC-D4DAC3DC0304}"/>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8" name="text-19-217">
            <a:extLst xmlns:a="http://schemas.openxmlformats.org/drawingml/2006/main">
              <a:ext uri="{FF2B5EF4-FFF2-40B4-BE49-F238E27FC236}">
                <a16:creationId xmlns:a16="http://schemas.microsoft.com/office/drawing/2014/main" id="{6B5BBE51-66D0-4EB2-A947-624DA857D5D8}"/>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19</a:t>
            </a:r>
          </a:p>
        </p:txBody>
      </p:sp>
    </p:spTree>
    <p:extLst>
      <p:ext uri="{BB962C8B-B14F-4D97-AF65-F5344CB8AC3E}">
        <p14:creationId xmlns:p14="http://schemas.microsoft.com/office/powerpoint/2010/main" val="84358265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0-218">
            <a:extLst xmlns:a="http://schemas.openxmlformats.org/drawingml/2006/main">
              <a:ext uri="{FF2B5EF4-FFF2-40B4-BE49-F238E27FC236}">
                <a16:creationId xmlns:a16="http://schemas.microsoft.com/office/drawing/2014/main" id="{CF35BBB2-3010-4DDC-BD06-0EDB6C25BB8F}"/>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19 / CURRENT POLICY</a:t>
            </a:r>
          </a:p>
        </p:txBody>
      </p:sp>
      <p:sp>
        <p:nvSpPr>
          <p:cNvPr id="2" name="text-20-219">
            <a:extLst xmlns:a="http://schemas.openxmlformats.org/drawingml/2006/main">
              <a:ext uri="{FF2B5EF4-FFF2-40B4-BE49-F238E27FC236}">
                <a16:creationId xmlns:a16="http://schemas.microsoft.com/office/drawing/2014/main" id="{9FE99679-6999-48DC-B84B-D8D24A11A82B}"/>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The same rainfall can mean a different cadence</a:t>
            </a:r>
          </a:p>
        </p:txBody>
      </p:sp>
      <p:sp>
        <p:nvSpPr>
          <p:cNvPr id="3" name="text-20-220">
            <a:extLst xmlns:a="http://schemas.openxmlformats.org/drawingml/2006/main">
              <a:ext uri="{FF2B5EF4-FFF2-40B4-BE49-F238E27FC236}">
                <a16:creationId xmlns:a16="http://schemas.microsoft.com/office/drawing/2014/main" id="{0C0348E6-0318-4B8C-9D50-CFF73C045E5E}"/>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accepted policy is an input, not a comment.</a:t>
            </a:r>
          </a:p>
        </p:txBody>
      </p:sp>
      <p:sp>
        <p:nvSpPr>
          <p:cNvPr id="4" name="text-20-221">
            <a:extLst xmlns:a="http://schemas.openxmlformats.org/drawingml/2006/main">
              <a:ext uri="{FF2B5EF4-FFF2-40B4-BE49-F238E27FC236}">
                <a16:creationId xmlns:a16="http://schemas.microsoft.com/office/drawing/2014/main" id="{6C582ADA-644C-44CE-9267-489A20A9E53A}"/>
              </a:ext>
            </a:extLst>
          </p:cNvPr>
          <p:cNvSpPr>
            <a:spLocks xmlns:a="http://schemas.openxmlformats.org/drawingml/2006/main" noGrp="1"/>
          </p:cNvSpPr>
          <p:nvPr/>
        </p:nvSpPr>
        <p:spPr>
          <a:xfrm xmlns:a="http://schemas.openxmlformats.org/drawingml/2006/main">
            <a:off x="6858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925" b="1">
                <a:solidFill>
                  <a:srgbClr val="1D1D1F"/>
                </a:solidFill>
                <a:latin typeface="Inter"/>
                <a:ea typeface="Inter"/>
                <a:cs typeface="Inter"/>
              </a:defRPr>
            </a:pPr>
            <a:r>
              <a:rPr sz="5925" b="1">
                <a:solidFill>
                  <a:srgbClr val="1D1D1F"/>
                </a:solidFill>
                <a:latin typeface="Inter"/>
                <a:ea typeface="Inter"/>
                <a:cs typeface="Inter"/>
              </a:rPr>
              <a:t>41</a:t>
            </a:r>
          </a:p>
        </p:txBody>
      </p:sp>
      <p:sp>
        <p:nvSpPr>
          <p:cNvPr id="5" name="text-20-222">
            <a:extLst xmlns:a="http://schemas.openxmlformats.org/drawingml/2006/main">
              <a:ext uri="{FF2B5EF4-FFF2-40B4-BE49-F238E27FC236}">
                <a16:creationId xmlns:a16="http://schemas.microsoft.com/office/drawing/2014/main" id="{D6D8DD56-2994-442F-BA5F-53BFA99CEEE9}"/>
              </a:ext>
            </a:extLst>
          </p:cNvPr>
          <p:cNvSpPr>
            <a:spLocks xmlns:a="http://schemas.openxmlformats.org/drawingml/2006/main" noGrp="1"/>
          </p:cNvSpPr>
          <p:nvPr/>
        </p:nvSpPr>
        <p:spPr>
          <a:xfrm xmlns:a="http://schemas.openxmlformats.org/drawingml/2006/main">
            <a:off x="7048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Rainfall, mm equivalent</a:t>
            </a:r>
          </a:p>
        </p:txBody>
      </p:sp>
      <p:sp>
        <p:nvSpPr>
          <p:cNvPr id="6" name="text-20-223">
            <a:extLst xmlns:a="http://schemas.openxmlformats.org/drawingml/2006/main">
              <a:ext uri="{FF2B5EF4-FFF2-40B4-BE49-F238E27FC236}">
                <a16:creationId xmlns:a16="http://schemas.microsoft.com/office/drawing/2014/main" id="{CB48F892-B36D-4426-9F04-3A00834B2286}"/>
              </a:ext>
            </a:extLst>
          </p:cNvPr>
          <p:cNvSpPr>
            <a:spLocks xmlns:a="http://schemas.openxmlformats.org/drawingml/2006/main" noGrp="1"/>
          </p:cNvSpPr>
          <p:nvPr/>
        </p:nvSpPr>
        <p:spPr>
          <a:xfrm xmlns:a="http://schemas.openxmlformats.org/drawingml/2006/main">
            <a:off x="42926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925" b="1">
                <a:solidFill>
                  <a:srgbClr val="1D1D1F"/>
                </a:solidFill>
                <a:latin typeface="Inter"/>
                <a:ea typeface="Inter"/>
                <a:cs typeface="Inter"/>
              </a:defRPr>
            </a:pPr>
            <a:r>
              <a:rPr sz="5925" b="1">
                <a:solidFill>
                  <a:srgbClr val="1D1D1F"/>
                </a:solidFill>
                <a:latin typeface="Inter"/>
                <a:ea typeface="Inter"/>
                <a:cs typeface="Inter"/>
              </a:rPr>
              <a:t>50</a:t>
            </a:r>
          </a:p>
        </p:txBody>
      </p:sp>
      <p:sp>
        <p:nvSpPr>
          <p:cNvPr id="7" name="text-20-224">
            <a:extLst xmlns:a="http://schemas.openxmlformats.org/drawingml/2006/main">
              <a:ext uri="{FF2B5EF4-FFF2-40B4-BE49-F238E27FC236}">
                <a16:creationId xmlns:a16="http://schemas.microsoft.com/office/drawing/2014/main" id="{18E8C2F3-0043-4FD4-ACE4-F3BCD89AF00C}"/>
              </a:ext>
            </a:extLst>
          </p:cNvPr>
          <p:cNvSpPr>
            <a:spLocks xmlns:a="http://schemas.openxmlformats.org/drawingml/2006/main" noGrp="1"/>
          </p:cNvSpPr>
          <p:nvPr/>
        </p:nvSpPr>
        <p:spPr>
          <a:xfrm xmlns:a="http://schemas.openxmlformats.org/drawingml/2006/main">
            <a:off x="43116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Accepted fast threshold, mm</a:t>
            </a:r>
          </a:p>
        </p:txBody>
      </p:sp>
      <p:sp>
        <p:nvSpPr>
          <p:cNvPr id="8" name="text-20-225">
            <a:extLst xmlns:a="http://schemas.openxmlformats.org/drawingml/2006/main">
              <a:ext uri="{FF2B5EF4-FFF2-40B4-BE49-F238E27FC236}">
                <a16:creationId xmlns:a16="http://schemas.microsoft.com/office/drawing/2014/main" id="{32815847-CAD5-44B1-975F-1F829000D4BD}"/>
              </a:ext>
            </a:extLst>
          </p:cNvPr>
          <p:cNvSpPr>
            <a:spLocks xmlns:a="http://schemas.openxmlformats.org/drawingml/2006/main" noGrp="1"/>
          </p:cNvSpPr>
          <p:nvPr/>
        </p:nvSpPr>
        <p:spPr>
          <a:xfrm xmlns:a="http://schemas.openxmlformats.org/drawingml/2006/main">
            <a:off x="78994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100" b="1">
                <a:solidFill>
                  <a:srgbClr val="1D1D1F"/>
                </a:solidFill>
                <a:latin typeface="Inter"/>
                <a:ea typeface="Inter"/>
                <a:cs typeface="Inter"/>
              </a:defRPr>
            </a:pPr>
            <a:r>
              <a:rPr sz="5100" b="1">
                <a:solidFill>
                  <a:srgbClr val="1D1D1F"/>
                </a:solidFill>
                <a:latin typeface="Inter"/>
                <a:ea typeface="Inter"/>
                <a:cs typeface="Inter"/>
              </a:rPr>
              <a:t>60 s</a:t>
            </a:r>
          </a:p>
        </p:txBody>
      </p:sp>
      <p:sp>
        <p:nvSpPr>
          <p:cNvPr id="9" name="text-20-226">
            <a:extLst xmlns:a="http://schemas.openxmlformats.org/drawingml/2006/main">
              <a:ext uri="{FF2B5EF4-FFF2-40B4-BE49-F238E27FC236}">
                <a16:creationId xmlns:a16="http://schemas.microsoft.com/office/drawing/2014/main" id="{83B538B9-57A8-4A80-89D5-9151593ADAFA}"/>
              </a:ext>
            </a:extLst>
          </p:cNvPr>
          <p:cNvSpPr>
            <a:spLocks xmlns:a="http://schemas.openxmlformats.org/drawingml/2006/main" noGrp="1"/>
          </p:cNvSpPr>
          <p:nvPr/>
        </p:nvSpPr>
        <p:spPr>
          <a:xfrm xmlns:a="http://schemas.openxmlformats.org/drawingml/2006/main">
            <a:off x="79184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Actual next cadence</a:t>
            </a:r>
          </a:p>
        </p:txBody>
      </p:sp>
      <p:sp>
        <p:nvSpPr>
          <p:cNvPr id="10" name="text-20-227">
            <a:extLst xmlns:a="http://schemas.openxmlformats.org/drawingml/2006/main">
              <a:ext uri="{FF2B5EF4-FFF2-40B4-BE49-F238E27FC236}">
                <a16:creationId xmlns:a16="http://schemas.microsoft.com/office/drawing/2014/main" id="{9CBCC7B4-631A-444A-8332-456F5F9FB393}"/>
              </a:ext>
            </a:extLst>
          </p:cNvPr>
          <p:cNvSpPr>
            <a:spLocks xmlns:a="http://schemas.openxmlformats.org/drawingml/2006/main" noGrp="1"/>
          </p:cNvSpPr>
          <p:nvPr/>
        </p:nvSpPr>
        <p:spPr>
          <a:xfrm xmlns:a="http://schemas.openxmlformats.org/drawingml/2006/main">
            <a:off x="704850" y="51720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D1D1F"/>
                </a:solidFill>
                <a:latin typeface="Inter"/>
                <a:ea typeface="Inter"/>
                <a:cs typeface="Inter"/>
              </a:defRPr>
            </a:pPr>
            <a:r>
              <a:rPr sz="1725" b="0">
                <a:solidFill>
                  <a:srgbClr val="1D1D1F"/>
                </a:solidFill>
                <a:latin typeface="Inter"/>
                <a:ea typeface="Inter"/>
                <a:cs typeface="Inter"/>
              </a:rPr>
              <a:t>Configured at tick 90. Next intake at tick 150.</a:t>
            </a:r>
          </a:p>
        </p:txBody>
      </p:sp>
      <p:sp>
        <p:nvSpPr>
          <p:cNvPr id="11" name="text-20-228">
            <a:extLst xmlns:a="http://schemas.openxmlformats.org/drawingml/2006/main">
              <a:ext uri="{FF2B5EF4-FFF2-40B4-BE49-F238E27FC236}">
                <a16:creationId xmlns:a16="http://schemas.microsoft.com/office/drawing/2014/main" id="{0D1ADD11-DE7F-4D4E-B6CD-8E924371BCA8}"/>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2" name="text-20-229">
            <a:extLst xmlns:a="http://schemas.openxmlformats.org/drawingml/2006/main">
              <a:ext uri="{FF2B5EF4-FFF2-40B4-BE49-F238E27FC236}">
                <a16:creationId xmlns:a16="http://schemas.microsoft.com/office/drawing/2014/main" id="{69160ED0-3EE9-4A36-AF7B-E61D88BECAC7}"/>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20</a:t>
            </a:r>
          </a:p>
        </p:txBody>
      </p:sp>
    </p:spTree>
    <p:extLst>
      <p:ext uri="{BB962C8B-B14F-4D97-AF65-F5344CB8AC3E}">
        <p14:creationId xmlns:p14="http://schemas.microsoft.com/office/powerpoint/2010/main" val="22313702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text-21-230">
            <a:extLst xmlns:a="http://schemas.openxmlformats.org/drawingml/2006/main">
              <a:ext uri="{FF2B5EF4-FFF2-40B4-BE49-F238E27FC236}">
                <a16:creationId xmlns:a16="http://schemas.microsoft.com/office/drawing/2014/main" id="{651D8BCB-BDC4-4820-91F3-7536C20E70B2}"/>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20 / WHILE THE MODEL WAITS</a:t>
            </a:r>
          </a:p>
        </p:txBody>
      </p:sp>
      <p:sp>
        <p:nvSpPr>
          <p:cNvPr id="2" name="text-21-231">
            <a:extLst xmlns:a="http://schemas.openxmlformats.org/drawingml/2006/main">
              <a:ext uri="{FF2B5EF4-FFF2-40B4-BE49-F238E27FC236}">
                <a16:creationId xmlns:a16="http://schemas.microsoft.com/office/drawing/2014/main" id="{F70AF980-2975-4145-BC8F-C9C4AD8E829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Local action precedes the cloud answer</a:t>
            </a:r>
          </a:p>
        </p:txBody>
      </p:sp>
      <p:sp>
        <p:nvSpPr>
          <p:cNvPr id="3" name="text-21-232">
            <a:extLst xmlns:a="http://schemas.openxmlformats.org/drawingml/2006/main">
              <a:ext uri="{FF2B5EF4-FFF2-40B4-BE49-F238E27FC236}">
                <a16:creationId xmlns:a16="http://schemas.microsoft.com/office/drawing/2014/main" id="{465466F0-CB21-4147-B4AE-A589DF44C999}"/>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pending worker does not own the Host.</a:t>
            </a:r>
          </a:p>
        </p:txBody>
      </p:sp>
      <p:sp>
        <p:nvSpPr>
          <p:cNvPr id="4" name="text-21-233">
            <a:extLst xmlns:a="http://schemas.openxmlformats.org/drawingml/2006/main">
              <a:ext uri="{FF2B5EF4-FFF2-40B4-BE49-F238E27FC236}">
                <a16:creationId xmlns:a16="http://schemas.microsoft.com/office/drawing/2014/main" id="{FC87C106-DAF1-4984-A1DF-4949A78AFFCB}"/>
              </a:ext>
            </a:extLst>
          </p:cNvPr>
          <p:cNvSpPr>
            <a:spLocks xmlns:a="http://schemas.openxmlformats.org/drawingml/2006/main" noGrp="1"/>
          </p:cNvSpPr>
          <p:nvPr/>
        </p:nvSpPr>
        <p:spPr>
          <a:xfrm xmlns:a="http://schemas.openxmlformats.org/drawingml/2006/main">
            <a:off x="685800" y="2343150"/>
            <a:ext cx="10287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01</a:t>
            </a:r>
          </a:p>
        </p:txBody>
      </p:sp>
      <p:sp>
        <p:nvSpPr>
          <p:cNvPr id="5" name="text-21-234">
            <a:extLst xmlns:a="http://schemas.openxmlformats.org/drawingml/2006/main">
              <a:ext uri="{FF2B5EF4-FFF2-40B4-BE49-F238E27FC236}">
                <a16:creationId xmlns:a16="http://schemas.microsoft.com/office/drawing/2014/main" id="{34CDA4F6-167A-45B9-9E37-0B817573E64E}"/>
              </a:ext>
            </a:extLst>
          </p:cNvPr>
          <p:cNvSpPr>
            <a:spLocks xmlns:a="http://schemas.openxmlformats.org/drawingml/2006/main" noGrp="1"/>
          </p:cNvSpPr>
          <p:nvPr/>
        </p:nvSpPr>
        <p:spPr>
          <a:xfrm xmlns:a="http://schemas.openxmlformats.org/drawingml/2006/main">
            <a:off x="1905000" y="2343150"/>
            <a:ext cx="32004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Pending request</a:t>
            </a:r>
          </a:p>
        </p:txBody>
      </p:sp>
      <p:sp>
        <p:nvSpPr>
          <p:cNvPr id="6" name="text-21-235">
            <a:extLst xmlns:a="http://schemas.openxmlformats.org/drawingml/2006/main">
              <a:ext uri="{FF2B5EF4-FFF2-40B4-BE49-F238E27FC236}">
                <a16:creationId xmlns:a16="http://schemas.microsoft.com/office/drawing/2014/main" id="{35D63487-1D65-4BD8-B07D-B36E88E08D53}"/>
              </a:ext>
            </a:extLst>
          </p:cNvPr>
          <p:cNvSpPr>
            <a:spLocks xmlns:a="http://schemas.openxmlformats.org/drawingml/2006/main" noGrp="1"/>
          </p:cNvSpPr>
          <p:nvPr/>
        </p:nvSpPr>
        <p:spPr>
          <a:xfrm xmlns:a="http://schemas.openxmlformats.org/drawingml/2006/main">
            <a:off x="5457825" y="2343150"/>
            <a:ext cx="6048375"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Old immutable context</a:t>
            </a:r>
          </a:p>
        </p:txBody>
      </p:sp>
      <p:sp>
        <p:nvSpPr>
          <p:cNvPr id="7" name="">
            <a:extLst xmlns:a="http://schemas.openxmlformats.org/drawingml/2006/main">
              <a:ext uri="{FF2B5EF4-FFF2-40B4-BE49-F238E27FC236}">
                <a16:creationId xmlns:a16="http://schemas.microsoft.com/office/drawing/2014/main" id="{547FCFC7-01B9-48F7-B59E-023E3A765A1C}"/>
              </a:ext>
            </a:extLst>
          </p:cNvPr>
          <p:cNvSpPr>
            <a:spLocks xmlns:a="http://schemas.openxmlformats.org/drawingml/2006/main" noGrp="1"/>
          </p:cNvSpPr>
          <p:nvPr/>
        </p:nvSpPr>
        <p:spPr>
          <a:xfrm xmlns:a="http://schemas.openxmlformats.org/drawingml/2006/main">
            <a:off x="685800" y="3112294"/>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8" name="text-21-236">
            <a:extLst xmlns:a="http://schemas.openxmlformats.org/drawingml/2006/main">
              <a:ext uri="{FF2B5EF4-FFF2-40B4-BE49-F238E27FC236}">
                <a16:creationId xmlns:a16="http://schemas.microsoft.com/office/drawing/2014/main" id="{77B60E20-D30F-424B-9390-B67C6AA0D1DF}"/>
              </a:ext>
            </a:extLst>
          </p:cNvPr>
          <p:cNvSpPr>
            <a:spLocks xmlns:a="http://schemas.openxmlformats.org/drawingml/2006/main" noGrp="1"/>
          </p:cNvSpPr>
          <p:nvPr/>
        </p:nvSpPr>
        <p:spPr>
          <a:xfrm xmlns:a="http://schemas.openxmlformats.org/drawingml/2006/main">
            <a:off x="685800" y="3207544"/>
            <a:ext cx="10287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02</a:t>
            </a:r>
          </a:p>
        </p:txBody>
      </p:sp>
      <p:sp>
        <p:nvSpPr>
          <p:cNvPr id="9" name="text-21-237">
            <a:extLst xmlns:a="http://schemas.openxmlformats.org/drawingml/2006/main">
              <a:ext uri="{FF2B5EF4-FFF2-40B4-BE49-F238E27FC236}">
                <a16:creationId xmlns:a16="http://schemas.microsoft.com/office/drawing/2014/main" id="{3B0D302E-6586-4BCF-98AB-869087DB50DA}"/>
              </a:ext>
            </a:extLst>
          </p:cNvPr>
          <p:cNvSpPr>
            <a:spLocks xmlns:a="http://schemas.openxmlformats.org/drawingml/2006/main" noGrp="1"/>
          </p:cNvSpPr>
          <p:nvPr/>
        </p:nvSpPr>
        <p:spPr>
          <a:xfrm xmlns:a="http://schemas.openxmlformats.org/drawingml/2006/main">
            <a:off x="1905000" y="3207544"/>
            <a:ext cx="32004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Fresh local evidence</a:t>
            </a:r>
          </a:p>
        </p:txBody>
      </p:sp>
      <p:sp>
        <p:nvSpPr>
          <p:cNvPr id="10" name="text-21-238">
            <a:extLst xmlns:a="http://schemas.openxmlformats.org/drawingml/2006/main">
              <a:ext uri="{FF2B5EF4-FFF2-40B4-BE49-F238E27FC236}">
                <a16:creationId xmlns:a16="http://schemas.microsoft.com/office/drawing/2014/main" id="{45E61EE2-E44A-4192-A6AB-182869E301D6}"/>
              </a:ext>
            </a:extLst>
          </p:cNvPr>
          <p:cNvSpPr>
            <a:spLocks xmlns:a="http://schemas.openxmlformats.org/drawingml/2006/main" noGrp="1"/>
          </p:cNvSpPr>
          <p:nvPr/>
        </p:nvSpPr>
        <p:spPr>
          <a:xfrm xmlns:a="http://schemas.openxmlformats.org/drawingml/2006/main">
            <a:off x="5457825" y="3207544"/>
            <a:ext cx="6048375"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New bounded invocation</a:t>
            </a:r>
          </a:p>
        </p:txBody>
      </p:sp>
      <p:sp>
        <p:nvSpPr>
          <p:cNvPr id="11" name="">
            <a:extLst xmlns:a="http://schemas.openxmlformats.org/drawingml/2006/main">
              <a:ext uri="{FF2B5EF4-FFF2-40B4-BE49-F238E27FC236}">
                <a16:creationId xmlns:a16="http://schemas.microsoft.com/office/drawing/2014/main" id="{2D5BEF56-C180-4622-A2E5-E816D7B23A36}"/>
              </a:ext>
            </a:extLst>
          </p:cNvPr>
          <p:cNvSpPr>
            <a:spLocks xmlns:a="http://schemas.openxmlformats.org/drawingml/2006/main" noGrp="1"/>
          </p:cNvSpPr>
          <p:nvPr/>
        </p:nvSpPr>
        <p:spPr>
          <a:xfrm xmlns:a="http://schemas.openxmlformats.org/drawingml/2006/main">
            <a:off x="685800" y="3976688"/>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2" name="text-21-239">
            <a:extLst xmlns:a="http://schemas.openxmlformats.org/drawingml/2006/main">
              <a:ext uri="{FF2B5EF4-FFF2-40B4-BE49-F238E27FC236}">
                <a16:creationId xmlns:a16="http://schemas.microsoft.com/office/drawing/2014/main" id="{373C35F9-0E49-43E8-91DB-06DEBD339F57}"/>
              </a:ext>
            </a:extLst>
          </p:cNvPr>
          <p:cNvSpPr>
            <a:spLocks xmlns:a="http://schemas.openxmlformats.org/drawingml/2006/main" noGrp="1"/>
          </p:cNvSpPr>
          <p:nvPr/>
        </p:nvSpPr>
        <p:spPr>
          <a:xfrm xmlns:a="http://schemas.openxmlformats.org/drawingml/2006/main">
            <a:off x="685800" y="4071938"/>
            <a:ext cx="10287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03</a:t>
            </a:r>
          </a:p>
        </p:txBody>
      </p:sp>
      <p:sp>
        <p:nvSpPr>
          <p:cNvPr id="13" name="text-21-240">
            <a:extLst xmlns:a="http://schemas.openxmlformats.org/drawingml/2006/main">
              <a:ext uri="{FF2B5EF4-FFF2-40B4-BE49-F238E27FC236}">
                <a16:creationId xmlns:a16="http://schemas.microsoft.com/office/drawing/2014/main" id="{E2A1BB0E-C15F-4F2B-80B6-B5D230697591}"/>
              </a:ext>
            </a:extLst>
          </p:cNvPr>
          <p:cNvSpPr>
            <a:spLocks xmlns:a="http://schemas.openxmlformats.org/drawingml/2006/main" noGrp="1"/>
          </p:cNvSpPr>
          <p:nvPr/>
        </p:nvSpPr>
        <p:spPr>
          <a:xfrm xmlns:a="http://schemas.openxmlformats.org/drawingml/2006/main">
            <a:off x="1905000" y="4071938"/>
            <a:ext cx="32004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Native mock ON</a:t>
            </a:r>
          </a:p>
        </p:txBody>
      </p:sp>
      <p:sp>
        <p:nvSpPr>
          <p:cNvPr id="14" name="text-21-241">
            <a:extLst xmlns:a="http://schemas.openxmlformats.org/drawingml/2006/main">
              <a:ext uri="{FF2B5EF4-FFF2-40B4-BE49-F238E27FC236}">
                <a16:creationId xmlns:a16="http://schemas.microsoft.com/office/drawing/2014/main" id="{C9B31027-55C7-4F64-AC57-A0BE9DC727C5}"/>
              </a:ext>
            </a:extLst>
          </p:cNvPr>
          <p:cNvSpPr>
            <a:spLocks xmlns:a="http://schemas.openxmlformats.org/drawingml/2006/main" noGrp="1"/>
          </p:cNvSpPr>
          <p:nvPr/>
        </p:nvSpPr>
        <p:spPr>
          <a:xfrm xmlns:a="http://schemas.openxmlformats.org/drawingml/2006/main">
            <a:off x="5457825" y="4071938"/>
            <a:ext cx="6048375"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Current Root and Host</a:t>
            </a:r>
          </a:p>
        </p:txBody>
      </p:sp>
      <p:sp>
        <p:nvSpPr>
          <p:cNvPr id="15" name="">
            <a:extLst xmlns:a="http://schemas.openxmlformats.org/drawingml/2006/main">
              <a:ext uri="{FF2B5EF4-FFF2-40B4-BE49-F238E27FC236}">
                <a16:creationId xmlns:a16="http://schemas.microsoft.com/office/drawing/2014/main" id="{9D4C33BE-7F8E-4C34-AEB3-D53F7C09A087}"/>
              </a:ext>
            </a:extLst>
          </p:cNvPr>
          <p:cNvSpPr>
            <a:spLocks xmlns:a="http://schemas.openxmlformats.org/drawingml/2006/main" noGrp="1"/>
          </p:cNvSpPr>
          <p:nvPr/>
        </p:nvSpPr>
        <p:spPr>
          <a:xfrm xmlns:a="http://schemas.openxmlformats.org/drawingml/2006/main">
            <a:off x="685800" y="4841081"/>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16" name="text-21-242">
            <a:extLst xmlns:a="http://schemas.openxmlformats.org/drawingml/2006/main">
              <a:ext uri="{FF2B5EF4-FFF2-40B4-BE49-F238E27FC236}">
                <a16:creationId xmlns:a16="http://schemas.microsoft.com/office/drawing/2014/main" id="{3D8C724C-62B9-49D1-97FC-DC471531684E}"/>
              </a:ext>
            </a:extLst>
          </p:cNvPr>
          <p:cNvSpPr>
            <a:spLocks xmlns:a="http://schemas.openxmlformats.org/drawingml/2006/main" noGrp="1"/>
          </p:cNvSpPr>
          <p:nvPr/>
        </p:nvSpPr>
        <p:spPr>
          <a:xfrm xmlns:a="http://schemas.openxmlformats.org/drawingml/2006/main">
            <a:off x="685800" y="4936331"/>
            <a:ext cx="10287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1">
                <a:solidFill>
                  <a:srgbClr val="0071E3"/>
                </a:solidFill>
                <a:latin typeface="Inter"/>
                <a:ea typeface="Inter"/>
                <a:cs typeface="Inter"/>
              </a:defRPr>
            </a:pPr>
            <a:r>
              <a:rPr sz="1725" b="1">
                <a:solidFill>
                  <a:srgbClr val="0071E3"/>
                </a:solidFill>
                <a:latin typeface="Inter"/>
                <a:ea typeface="Inter"/>
                <a:cs typeface="Inter"/>
              </a:rPr>
              <a:t>04</a:t>
            </a:r>
          </a:p>
        </p:txBody>
      </p:sp>
      <p:sp>
        <p:nvSpPr>
          <p:cNvPr id="17" name="text-21-243">
            <a:extLst xmlns:a="http://schemas.openxmlformats.org/drawingml/2006/main">
              <a:ext uri="{FF2B5EF4-FFF2-40B4-BE49-F238E27FC236}">
                <a16:creationId xmlns:a16="http://schemas.microsoft.com/office/drawing/2014/main" id="{7581DC5E-467A-4C80-8250-739DFCFF81EF}"/>
              </a:ext>
            </a:extLst>
          </p:cNvPr>
          <p:cNvSpPr>
            <a:spLocks xmlns:a="http://schemas.openxmlformats.org/drawingml/2006/main" noGrp="1"/>
          </p:cNvSpPr>
          <p:nvPr/>
        </p:nvSpPr>
        <p:spPr>
          <a:xfrm xmlns:a="http://schemas.openxmlformats.org/drawingml/2006/main">
            <a:off x="1905000" y="4936331"/>
            <a:ext cx="3200400"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1">
                <a:solidFill>
                  <a:srgbClr val="1D1D1F"/>
                </a:solidFill>
                <a:latin typeface="Inter"/>
                <a:ea typeface="Inter"/>
                <a:cs typeface="Inter"/>
              </a:defRPr>
            </a:pPr>
            <a:r>
              <a:rPr sz="1800" b="1">
                <a:solidFill>
                  <a:srgbClr val="1D1D1F"/>
                </a:solidFill>
                <a:latin typeface="Inter"/>
                <a:ea typeface="Inter"/>
                <a:cs typeface="Inter"/>
              </a:rPr>
              <a:t>Late response</a:t>
            </a:r>
          </a:p>
        </p:txBody>
      </p:sp>
      <p:sp>
        <p:nvSpPr>
          <p:cNvPr id="18" name="text-21-244">
            <a:extLst xmlns:a="http://schemas.openxmlformats.org/drawingml/2006/main">
              <a:ext uri="{FF2B5EF4-FFF2-40B4-BE49-F238E27FC236}">
                <a16:creationId xmlns:a16="http://schemas.microsoft.com/office/drawing/2014/main" id="{63E5E184-D8EB-4370-A28E-0D0FD4680B4F}"/>
              </a:ext>
            </a:extLst>
          </p:cNvPr>
          <p:cNvSpPr>
            <a:spLocks xmlns:a="http://schemas.openxmlformats.org/drawingml/2006/main" noGrp="1"/>
          </p:cNvSpPr>
          <p:nvPr/>
        </p:nvSpPr>
        <p:spPr>
          <a:xfrm xmlns:a="http://schemas.openxmlformats.org/drawingml/2006/main">
            <a:off x="5457825" y="4936331"/>
            <a:ext cx="6048375" cy="807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00" b="0">
                <a:solidFill>
                  <a:srgbClr val="1D1D1F"/>
                </a:solidFill>
                <a:latin typeface="Inter"/>
                <a:ea typeface="Inter"/>
                <a:cs typeface="Inter"/>
              </a:defRPr>
            </a:pPr>
            <a:r>
              <a:rPr sz="1800" b="0">
                <a:solidFill>
                  <a:srgbClr val="1D1D1F"/>
                </a:solidFill>
                <a:latin typeface="Inter"/>
                <a:ea typeface="Inter"/>
                <a:cs typeface="Inter"/>
              </a:rPr>
              <a:t>Old identity; no automatic effect</a:t>
            </a:r>
          </a:p>
        </p:txBody>
      </p:sp>
      <p:sp>
        <p:nvSpPr>
          <p:cNvPr id="19" name="">
            <a:extLst xmlns:a="http://schemas.openxmlformats.org/drawingml/2006/main">
              <a:ext uri="{FF2B5EF4-FFF2-40B4-BE49-F238E27FC236}">
                <a16:creationId xmlns:a16="http://schemas.microsoft.com/office/drawing/2014/main" id="{9C708629-2091-4EE0-A94F-C1BC06556C6F}"/>
              </a:ext>
            </a:extLst>
          </p:cNvPr>
          <p:cNvSpPr>
            <a:spLocks xmlns:a="http://schemas.openxmlformats.org/drawingml/2006/main" noGrp="1"/>
          </p:cNvSpPr>
          <p:nvPr/>
        </p:nvSpPr>
        <p:spPr>
          <a:xfrm xmlns:a="http://schemas.openxmlformats.org/drawingml/2006/main">
            <a:off x="685800" y="5705475"/>
            <a:ext cx="10820400" cy="0"/>
          </a:xfrm>
          <a:prstGeom xmlns:a="http://schemas.openxmlformats.org/drawingml/2006/main" prst="line">
            <a:avLst/>
          </a:prstGeom>
          <a:noFill xmlns:a="http://schemas.openxmlformats.org/drawingml/2006/main"/>
          <a:ln xmlns:a="http://schemas.openxmlformats.org/drawingml/2006/main" w="6191">
            <a:solidFill>
              <a:srgbClr val="D2D2D7"/>
            </a:solidFill>
          </a:ln>
        </p:spPr>
      </p:sp>
      <p:sp>
        <p:nvSpPr>
          <p:cNvPr id="20" name="text-21-245">
            <a:extLst xmlns:a="http://schemas.openxmlformats.org/drawingml/2006/main">
              <a:ext uri="{FF2B5EF4-FFF2-40B4-BE49-F238E27FC236}">
                <a16:creationId xmlns:a16="http://schemas.microsoft.com/office/drawing/2014/main" id="{08E66C05-FF82-4515-9220-3DDDBA3CC320}"/>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21" name="text-21-246">
            <a:extLst xmlns:a="http://schemas.openxmlformats.org/drawingml/2006/main">
              <a:ext uri="{FF2B5EF4-FFF2-40B4-BE49-F238E27FC236}">
                <a16:creationId xmlns:a16="http://schemas.microsoft.com/office/drawing/2014/main" id="{3EF92AA4-49AF-4B9D-A8F8-526544029950}"/>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21</a:t>
            </a:r>
          </a:p>
        </p:txBody>
      </p:sp>
    </p:spTree>
    <p:extLst>
      <p:ext uri="{BB962C8B-B14F-4D97-AF65-F5344CB8AC3E}">
        <p14:creationId xmlns:p14="http://schemas.microsoft.com/office/powerpoint/2010/main" val="193096667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2-247">
            <a:extLst xmlns:a="http://schemas.openxmlformats.org/drawingml/2006/main">
              <a:ext uri="{FF2B5EF4-FFF2-40B4-BE49-F238E27FC236}">
                <a16:creationId xmlns:a16="http://schemas.microsoft.com/office/drawing/2014/main" id="{8604E827-0450-428F-8BE3-1E4A500A6800}"/>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21 / OBSERVABILITY</a:t>
            </a:r>
          </a:p>
        </p:txBody>
      </p:sp>
      <p:sp>
        <p:nvSpPr>
          <p:cNvPr id="2" name="text-22-248">
            <a:extLst xmlns:a="http://schemas.openxmlformats.org/drawingml/2006/main">
              <a:ext uri="{FF2B5EF4-FFF2-40B4-BE49-F238E27FC236}">
                <a16:creationId xmlns:a16="http://schemas.microsoft.com/office/drawing/2014/main" id="{5176C93E-B6E5-4EA6-A4C5-8D25F8C01B84}"/>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Missing evidence changes the answer</a:t>
            </a:r>
          </a:p>
        </p:txBody>
      </p:sp>
      <p:sp>
        <p:nvSpPr>
          <p:cNvPr id="3" name="text-22-249">
            <a:extLst xmlns:a="http://schemas.openxmlformats.org/drawingml/2006/main">
              <a:ext uri="{FF2B5EF4-FFF2-40B4-BE49-F238E27FC236}">
                <a16:creationId xmlns:a16="http://schemas.microsoft.com/office/drawing/2014/main" id="{A9BAB0F2-6022-4AB8-9875-04F95A4173E9}"/>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runtime preserves insufficiency instead of inventing confidence.</a:t>
            </a:r>
          </a:p>
        </p:txBody>
      </p:sp>
      <p:sp>
        <p:nvSpPr>
          <p:cNvPr id="4" name="text-22-250">
            <a:extLst xmlns:a="http://schemas.openxmlformats.org/drawingml/2006/main">
              <a:ext uri="{FF2B5EF4-FFF2-40B4-BE49-F238E27FC236}">
                <a16:creationId xmlns:a16="http://schemas.microsoft.com/office/drawing/2014/main" id="{D60669FD-DCCC-4496-BB07-8EF26F68A2EC}"/>
              </a:ext>
            </a:extLst>
          </p:cNvPr>
          <p:cNvSpPr>
            <a:spLocks xmlns:a="http://schemas.openxmlformats.org/drawingml/2006/main" noGrp="1"/>
          </p:cNvSpPr>
          <p:nvPr/>
        </p:nvSpPr>
        <p:spPr>
          <a:xfrm xmlns:a="http://schemas.openxmlformats.org/drawingml/2006/main">
            <a:off x="704850" y="257175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Freshness uses measurement time; receipt time cannot renew an event.</a:t>
            </a:r>
          </a:p>
        </p:txBody>
      </p:sp>
      <p:sp>
        <p:nvSpPr>
          <p:cNvPr id="5" name="text-22-251">
            <a:extLst xmlns:a="http://schemas.openxmlformats.org/drawingml/2006/main">
              <a:ext uri="{FF2B5EF4-FFF2-40B4-BE49-F238E27FC236}">
                <a16:creationId xmlns:a16="http://schemas.microsoft.com/office/drawing/2014/main" id="{D5876877-D05C-4DC1-B551-2E865F0228A2}"/>
              </a:ext>
            </a:extLst>
          </p:cNvPr>
          <p:cNvSpPr>
            <a:spLocks xmlns:a="http://schemas.openxmlformats.org/drawingml/2006/main" noGrp="1"/>
          </p:cNvSpPr>
          <p:nvPr/>
        </p:nvSpPr>
        <p:spPr>
          <a:xfrm xmlns:a="http://schemas.openxmlformats.org/drawingml/2006/main">
            <a:off x="704850" y="3267075"/>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Primary missing: LIMITED. Primary and reserve missing: INSUFFICIENT.</a:t>
            </a:r>
          </a:p>
        </p:txBody>
      </p:sp>
      <p:sp>
        <p:nvSpPr>
          <p:cNvPr id="6" name="text-22-252">
            <a:extLst xmlns:a="http://schemas.openxmlformats.org/drawingml/2006/main">
              <a:ext uri="{FF2B5EF4-FFF2-40B4-BE49-F238E27FC236}">
                <a16:creationId xmlns:a16="http://schemas.microsoft.com/office/drawing/2014/main" id="{DA832F54-C86D-4065-A47E-A71E0AD53774}"/>
              </a:ext>
            </a:extLst>
          </p:cNvPr>
          <p:cNvSpPr>
            <a:spLocks xmlns:a="http://schemas.openxmlformats.org/drawingml/2006/main" noGrp="1"/>
          </p:cNvSpPr>
          <p:nvPr/>
        </p:nvSpPr>
        <p:spPr>
          <a:xfrm xmlns:a="http://schemas.openxmlformats.org/drawingml/2006/main">
            <a:off x="704850" y="396240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Independent lineage, order, units and explicit intervals are checked.</a:t>
            </a:r>
          </a:p>
        </p:txBody>
      </p:sp>
      <p:sp>
        <p:nvSpPr>
          <p:cNvPr id="7" name="text-22-253">
            <a:extLst xmlns:a="http://schemas.openxmlformats.org/drawingml/2006/main">
              <a:ext uri="{FF2B5EF4-FFF2-40B4-BE49-F238E27FC236}">
                <a16:creationId xmlns:a16="http://schemas.microsoft.com/office/drawing/2014/main" id="{FD23B8A9-30DD-4282-B38E-76DF7D5DC1B7}"/>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22-254">
            <a:extLst xmlns:a="http://schemas.openxmlformats.org/drawingml/2006/main">
              <a:ext uri="{FF2B5EF4-FFF2-40B4-BE49-F238E27FC236}">
                <a16:creationId xmlns:a16="http://schemas.microsoft.com/office/drawing/2014/main" id="{A07A5210-600B-4619-8732-668C29DCFCFC}"/>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22</a:t>
            </a:r>
          </a:p>
        </p:txBody>
      </p:sp>
    </p:spTree>
    <p:extLst>
      <p:ext uri="{BB962C8B-B14F-4D97-AF65-F5344CB8AC3E}">
        <p14:creationId xmlns:p14="http://schemas.microsoft.com/office/powerpoint/2010/main" val="17840663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3-255">
            <a:extLst xmlns:a="http://schemas.openxmlformats.org/drawingml/2006/main">
              <a:ext uri="{FF2B5EF4-FFF2-40B4-BE49-F238E27FC236}">
                <a16:creationId xmlns:a16="http://schemas.microsoft.com/office/drawing/2014/main" id="{62AB9609-6CCF-420F-BBC7-B8B4CB776A2F}"/>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22 / MEASURED RECOVERY</a:t>
            </a:r>
          </a:p>
        </p:txBody>
      </p:sp>
      <p:sp>
        <p:nvSpPr>
          <p:cNvPr id="2" name="text-23-256">
            <a:extLst xmlns:a="http://schemas.openxmlformats.org/drawingml/2006/main">
              <a:ext uri="{FF2B5EF4-FFF2-40B4-BE49-F238E27FC236}">
                <a16:creationId xmlns:a16="http://schemas.microsoft.com/office/drawing/2014/main" id="{0CF21EF8-3A9E-48AE-AA33-E56835B9FC91}"/>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OFF needs its own evidence</a:t>
            </a:r>
          </a:p>
        </p:txBody>
      </p:sp>
      <p:sp>
        <p:nvSpPr>
          <p:cNvPr id="3" name="text-23-257">
            <a:extLst xmlns:a="http://schemas.openxmlformats.org/drawingml/2006/main">
              <a:ext uri="{FF2B5EF4-FFF2-40B4-BE49-F238E27FC236}">
                <a16:creationId xmlns:a16="http://schemas.microsoft.com/office/drawing/2014/main" id="{2DAF6F26-502B-4C24-A9D2-195768B40416}"/>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Three fresh pairs must cover the recovery interval.</a:t>
            </a:r>
          </a:p>
        </p:txBody>
      </p:sp>
      <p:sp>
        <p:nvSpPr>
          <p:cNvPr id="4" name="text-23-258">
            <a:extLst xmlns:a="http://schemas.openxmlformats.org/drawingml/2006/main">
              <a:ext uri="{FF2B5EF4-FFF2-40B4-BE49-F238E27FC236}">
                <a16:creationId xmlns:a16="http://schemas.microsoft.com/office/drawing/2014/main" id="{C5891131-D949-430D-90DC-46EB68B830E9}"/>
              </a:ext>
            </a:extLst>
          </p:cNvPr>
          <p:cNvSpPr>
            <a:spLocks xmlns:a="http://schemas.openxmlformats.org/drawingml/2006/main" noGrp="1"/>
          </p:cNvSpPr>
          <p:nvPr/>
        </p:nvSpPr>
        <p:spPr>
          <a:xfrm xmlns:a="http://schemas.openxmlformats.org/drawingml/2006/main">
            <a:off x="6858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750" b="1">
                <a:solidFill>
                  <a:srgbClr val="1D1D1F"/>
                </a:solidFill>
                <a:latin typeface="Inter"/>
                <a:ea typeface="Inter"/>
                <a:cs typeface="Inter"/>
              </a:defRPr>
            </a:pPr>
            <a:r>
              <a:rPr sz="3750" b="1">
                <a:solidFill>
                  <a:srgbClr val="1D1D1F"/>
                </a:solidFill>
                <a:latin typeface="Inter"/>
                <a:ea typeface="Inter"/>
                <a:cs typeface="Inter"/>
              </a:rPr>
              <a:t>2 channels</a:t>
            </a:r>
          </a:p>
        </p:txBody>
      </p:sp>
      <p:sp>
        <p:nvSpPr>
          <p:cNvPr id="5" name="text-23-259">
            <a:extLst xmlns:a="http://schemas.openxmlformats.org/drawingml/2006/main">
              <a:ext uri="{FF2B5EF4-FFF2-40B4-BE49-F238E27FC236}">
                <a16:creationId xmlns:a16="http://schemas.microsoft.com/office/drawing/2014/main" id="{9A496F81-583F-42CB-9A97-C26C1128C779}"/>
              </a:ext>
            </a:extLst>
          </p:cNvPr>
          <p:cNvSpPr>
            <a:spLocks xmlns:a="http://schemas.openxmlformats.org/drawingml/2006/main" noGrp="1"/>
          </p:cNvSpPr>
          <p:nvPr/>
        </p:nvSpPr>
        <p:spPr>
          <a:xfrm xmlns:a="http://schemas.openxmlformats.org/drawingml/2006/main">
            <a:off x="7048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Independent current witnesses</a:t>
            </a:r>
          </a:p>
        </p:txBody>
      </p:sp>
      <p:sp>
        <p:nvSpPr>
          <p:cNvPr id="6" name="text-23-260">
            <a:extLst xmlns:a="http://schemas.openxmlformats.org/drawingml/2006/main">
              <a:ext uri="{FF2B5EF4-FFF2-40B4-BE49-F238E27FC236}">
                <a16:creationId xmlns:a16="http://schemas.microsoft.com/office/drawing/2014/main" id="{B56A8800-9F2F-406C-A743-6D841A33A6B0}"/>
              </a:ext>
            </a:extLst>
          </p:cNvPr>
          <p:cNvSpPr>
            <a:spLocks xmlns:a="http://schemas.openxmlformats.org/drawingml/2006/main" noGrp="1"/>
          </p:cNvSpPr>
          <p:nvPr/>
        </p:nvSpPr>
        <p:spPr>
          <a:xfrm xmlns:a="http://schemas.openxmlformats.org/drawingml/2006/main">
            <a:off x="42926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100" b="1">
                <a:solidFill>
                  <a:srgbClr val="1D1D1F"/>
                </a:solidFill>
                <a:latin typeface="Inter"/>
                <a:ea typeface="Inter"/>
                <a:cs typeface="Inter"/>
              </a:defRPr>
            </a:pPr>
            <a:r>
              <a:rPr sz="5100" b="1">
                <a:solidFill>
                  <a:srgbClr val="1D1D1F"/>
                </a:solidFill>
                <a:latin typeface="Inter"/>
                <a:ea typeface="Inter"/>
                <a:cs typeface="Inter"/>
              </a:rPr>
              <a:t>3 pairs</a:t>
            </a:r>
          </a:p>
        </p:txBody>
      </p:sp>
      <p:sp>
        <p:nvSpPr>
          <p:cNvPr id="7" name="text-23-261">
            <a:extLst xmlns:a="http://schemas.openxmlformats.org/drawingml/2006/main">
              <a:ext uri="{FF2B5EF4-FFF2-40B4-BE49-F238E27FC236}">
                <a16:creationId xmlns:a16="http://schemas.microsoft.com/office/drawing/2014/main" id="{92F09AAB-4811-458F-9EDA-22087412FFD7}"/>
              </a:ext>
            </a:extLst>
          </p:cNvPr>
          <p:cNvSpPr>
            <a:spLocks xmlns:a="http://schemas.openxmlformats.org/drawingml/2006/main" noGrp="1"/>
          </p:cNvSpPr>
          <p:nvPr/>
        </p:nvSpPr>
        <p:spPr>
          <a:xfrm xmlns:a="http://schemas.openxmlformats.org/drawingml/2006/main">
            <a:off x="43116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Minimum new samples</a:t>
            </a:r>
          </a:p>
        </p:txBody>
      </p:sp>
      <p:sp>
        <p:nvSpPr>
          <p:cNvPr id="8" name="text-23-262">
            <a:extLst xmlns:a="http://schemas.openxmlformats.org/drawingml/2006/main">
              <a:ext uri="{FF2B5EF4-FFF2-40B4-BE49-F238E27FC236}">
                <a16:creationId xmlns:a16="http://schemas.microsoft.com/office/drawing/2014/main" id="{37444679-477F-4BAE-AD04-CEBCE93D1BA3}"/>
              </a:ext>
            </a:extLst>
          </p:cNvPr>
          <p:cNvSpPr>
            <a:spLocks xmlns:a="http://schemas.openxmlformats.org/drawingml/2006/main" noGrp="1"/>
          </p:cNvSpPr>
          <p:nvPr/>
        </p:nvSpPr>
        <p:spPr>
          <a:xfrm xmlns:a="http://schemas.openxmlformats.org/drawingml/2006/main">
            <a:off x="78994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100" b="1">
                <a:solidFill>
                  <a:srgbClr val="1D1D1F"/>
                </a:solidFill>
                <a:latin typeface="Inter"/>
                <a:ea typeface="Inter"/>
                <a:cs typeface="Inter"/>
              </a:defRPr>
            </a:pPr>
            <a:r>
              <a:rPr sz="5100" b="1">
                <a:solidFill>
                  <a:srgbClr val="1D1D1F"/>
                </a:solidFill>
                <a:latin typeface="Inter"/>
                <a:ea typeface="Inter"/>
                <a:cs typeface="Inter"/>
              </a:rPr>
              <a:t>30 s</a:t>
            </a:r>
          </a:p>
        </p:txBody>
      </p:sp>
      <p:sp>
        <p:nvSpPr>
          <p:cNvPr id="9" name="text-23-263">
            <a:extLst xmlns:a="http://schemas.openxmlformats.org/drawingml/2006/main">
              <a:ext uri="{FF2B5EF4-FFF2-40B4-BE49-F238E27FC236}">
                <a16:creationId xmlns:a16="http://schemas.microsoft.com/office/drawing/2014/main" id="{33BDD84D-32CB-4FFB-B1E8-85452B4E1817}"/>
              </a:ext>
            </a:extLst>
          </p:cNvPr>
          <p:cNvSpPr>
            <a:spLocks xmlns:a="http://schemas.openxmlformats.org/drawingml/2006/main" noGrp="1"/>
          </p:cNvSpPr>
          <p:nvPr/>
        </p:nvSpPr>
        <p:spPr>
          <a:xfrm xmlns:a="http://schemas.openxmlformats.org/drawingml/2006/main">
            <a:off x="79184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Measured span on each channel</a:t>
            </a:r>
          </a:p>
        </p:txBody>
      </p:sp>
      <p:sp>
        <p:nvSpPr>
          <p:cNvPr id="10" name="text-23-264">
            <a:extLst xmlns:a="http://schemas.openxmlformats.org/drawingml/2006/main">
              <a:ext uri="{FF2B5EF4-FFF2-40B4-BE49-F238E27FC236}">
                <a16:creationId xmlns:a16="http://schemas.microsoft.com/office/drawing/2014/main" id="{B964C4C8-876A-484C-9792-16CC106F0478}"/>
              </a:ext>
            </a:extLst>
          </p:cNvPr>
          <p:cNvSpPr>
            <a:spLocks xmlns:a="http://schemas.openxmlformats.org/drawingml/2006/main" noGrp="1"/>
          </p:cNvSpPr>
          <p:nvPr/>
        </p:nvSpPr>
        <p:spPr>
          <a:xfrm xmlns:a="http://schemas.openxmlformats.org/drawingml/2006/main">
            <a:off x="704850" y="51720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D1D1F"/>
                </a:solidFill>
                <a:latin typeface="Inter"/>
                <a:ea typeface="Inter"/>
                <a:cs typeface="Inter"/>
              </a:defRPr>
            </a:pPr>
            <a:r>
              <a:rPr sz="1725" b="0">
                <a:solidFill>
                  <a:srgbClr val="1D1D1F"/>
                </a:solidFill>
                <a:latin typeface="Inter"/>
                <a:ea typeface="Inter"/>
                <a:cs typeface="Inter"/>
              </a:rPr>
              <a:t>Maximum gap: 15 s. Local age: current accepted policy.</a:t>
            </a:r>
          </a:p>
        </p:txBody>
      </p:sp>
      <p:sp>
        <p:nvSpPr>
          <p:cNvPr id="11" name="text-23-265">
            <a:extLst xmlns:a="http://schemas.openxmlformats.org/drawingml/2006/main">
              <a:ext uri="{FF2B5EF4-FFF2-40B4-BE49-F238E27FC236}">
                <a16:creationId xmlns:a16="http://schemas.microsoft.com/office/drawing/2014/main" id="{33F3E12C-0ED9-4BBA-A381-3246043C7364}"/>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2" name="text-23-266">
            <a:extLst xmlns:a="http://schemas.openxmlformats.org/drawingml/2006/main">
              <a:ext uri="{FF2B5EF4-FFF2-40B4-BE49-F238E27FC236}">
                <a16:creationId xmlns:a16="http://schemas.microsoft.com/office/drawing/2014/main" id="{F93C545D-73DD-4A70-84DA-CD62C1989F85}"/>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23</a:t>
            </a:r>
          </a:p>
        </p:txBody>
      </p:sp>
    </p:spTree>
    <p:extLst>
      <p:ext uri="{BB962C8B-B14F-4D97-AF65-F5344CB8AC3E}">
        <p14:creationId xmlns:p14="http://schemas.microsoft.com/office/powerpoint/2010/main" val="1502823743"/>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24-267">
            <a:extLst xmlns:a="http://schemas.openxmlformats.org/drawingml/2006/main">
              <a:ext uri="{FF2B5EF4-FFF2-40B4-BE49-F238E27FC236}">
                <a16:creationId xmlns:a16="http://schemas.microsoft.com/office/drawing/2014/main" id="{06B53D34-D0A3-4355-9646-D4A2D65FEE0F}"/>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23 / DELIVERY</a:t>
            </a:r>
          </a:p>
        </p:txBody>
      </p:sp>
      <p:sp>
        <p:nvSpPr>
          <p:cNvPr id="2" name="text-24-268">
            <a:extLst xmlns:a="http://schemas.openxmlformats.org/drawingml/2006/main">
              <a:ext uri="{FF2B5EF4-FFF2-40B4-BE49-F238E27FC236}">
                <a16:creationId xmlns:a16="http://schemas.microsoft.com/office/drawing/2014/main" id="{A156073C-801E-4082-ADFC-FD96A2F14F7A}"/>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 report is immutable. Delivery is a state.</a:t>
            </a:r>
          </a:p>
        </p:txBody>
      </p:sp>
      <p:sp>
        <p:nvSpPr>
          <p:cNvPr id="3" name="text-24-269">
            <a:extLst xmlns:a="http://schemas.openxmlformats.org/drawingml/2006/main">
              <a:ext uri="{FF2B5EF4-FFF2-40B4-BE49-F238E27FC236}">
                <a16:creationId xmlns:a16="http://schemas.microsoft.com/office/drawing/2014/main" id="{2DB7B5D2-1D0D-48D7-AEFC-4ACFDE8C2F8C}"/>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No acknowledgement means UNKNOWN, not success.</a:t>
            </a:r>
          </a:p>
        </p:txBody>
      </p:sp>
      <p:sp>
        <p:nvSpPr>
          <p:cNvPr id="4" name="">
            <a:extLst xmlns:a="http://schemas.openxmlformats.org/drawingml/2006/main">
              <a:ext uri="{FF2B5EF4-FFF2-40B4-BE49-F238E27FC236}">
                <a16:creationId xmlns:a16="http://schemas.microsoft.com/office/drawing/2014/main" id="{682C4233-0985-437A-AE4C-39A1F1F47E87}"/>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24-270">
            <a:extLst xmlns:a="http://schemas.openxmlformats.org/drawingml/2006/main">
              <a:ext uri="{FF2B5EF4-FFF2-40B4-BE49-F238E27FC236}">
                <a16:creationId xmlns:a16="http://schemas.microsoft.com/office/drawing/2014/main" id="{B00E13AA-D43F-4762-BF06-7B4F543F183E}"/>
              </a:ext>
            </a:extLst>
          </p:cNvPr>
          <p:cNvSpPr>
            <a:spLocks xmlns:a="http://schemas.openxmlformats.org/drawingml/2006/main" noGrp="1"/>
          </p:cNvSpPr>
          <p:nvPr/>
        </p:nvSpPr>
        <p:spPr>
          <a:xfrm xmlns:a="http://schemas.openxmlformats.org/drawingml/2006/main">
            <a:off x="685800"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24-271">
            <a:extLst xmlns:a="http://schemas.openxmlformats.org/drawingml/2006/main">
              <a:ext uri="{FF2B5EF4-FFF2-40B4-BE49-F238E27FC236}">
                <a16:creationId xmlns:a16="http://schemas.microsoft.com/office/drawing/2014/main" id="{5263FE80-6B4A-4C06-B811-659F2F120186}"/>
              </a:ext>
            </a:extLst>
          </p:cNvPr>
          <p:cNvSpPr>
            <a:spLocks xmlns:a="http://schemas.openxmlformats.org/drawingml/2006/main" noGrp="1"/>
          </p:cNvSpPr>
          <p:nvPr/>
        </p:nvSpPr>
        <p:spPr>
          <a:xfrm xmlns:a="http://schemas.openxmlformats.org/drawingml/2006/main">
            <a:off x="685800"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Immutable payload</a:t>
            </a:r>
          </a:p>
        </p:txBody>
      </p:sp>
      <p:sp>
        <p:nvSpPr>
          <p:cNvPr id="7" name="text-24-272">
            <a:extLst xmlns:a="http://schemas.openxmlformats.org/drawingml/2006/main">
              <a:ext uri="{FF2B5EF4-FFF2-40B4-BE49-F238E27FC236}">
                <a16:creationId xmlns:a16="http://schemas.microsoft.com/office/drawing/2014/main" id="{DB10FC24-C167-4A97-9AA6-74649380FBD0}"/>
              </a:ext>
            </a:extLst>
          </p:cNvPr>
          <p:cNvSpPr>
            <a:spLocks xmlns:a="http://schemas.openxmlformats.org/drawingml/2006/main" noGrp="1"/>
          </p:cNvSpPr>
          <p:nvPr/>
        </p:nvSpPr>
        <p:spPr>
          <a:xfrm xmlns:a="http://schemas.openxmlformats.org/drawingml/2006/main">
            <a:off x="685800"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Message ID + byte hash</a:t>
            </a:r>
          </a:p>
        </p:txBody>
      </p:sp>
      <p:sp>
        <p:nvSpPr>
          <p:cNvPr id="8" name="text-24-273">
            <a:extLst xmlns:a="http://schemas.openxmlformats.org/drawingml/2006/main">
              <a:ext uri="{FF2B5EF4-FFF2-40B4-BE49-F238E27FC236}">
                <a16:creationId xmlns:a16="http://schemas.microsoft.com/office/drawing/2014/main" id="{E0A62D6B-CD86-441B-9797-582F20D1B156}"/>
              </a:ext>
            </a:extLst>
          </p:cNvPr>
          <p:cNvSpPr>
            <a:spLocks xmlns:a="http://schemas.openxmlformats.org/drawingml/2006/main" noGrp="1"/>
          </p:cNvSpPr>
          <p:nvPr/>
        </p:nvSpPr>
        <p:spPr>
          <a:xfrm xmlns:a="http://schemas.openxmlformats.org/drawingml/2006/main">
            <a:off x="3469481"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24-274">
            <a:extLst xmlns:a="http://schemas.openxmlformats.org/drawingml/2006/main">
              <a:ext uri="{FF2B5EF4-FFF2-40B4-BE49-F238E27FC236}">
                <a16:creationId xmlns:a16="http://schemas.microsoft.com/office/drawing/2014/main" id="{245FDCC1-7555-4598-8A75-67BC2A589A39}"/>
              </a:ext>
            </a:extLst>
          </p:cNvPr>
          <p:cNvSpPr>
            <a:spLocks xmlns:a="http://schemas.openxmlformats.org/drawingml/2006/main" noGrp="1"/>
          </p:cNvSpPr>
          <p:nvPr/>
        </p:nvSpPr>
        <p:spPr>
          <a:xfrm xmlns:a="http://schemas.openxmlformats.org/drawingml/2006/main">
            <a:off x="3469481"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Queued attempt</a:t>
            </a:r>
          </a:p>
        </p:txBody>
      </p:sp>
      <p:sp>
        <p:nvSpPr>
          <p:cNvPr id="10" name="text-24-275">
            <a:extLst xmlns:a="http://schemas.openxmlformats.org/drawingml/2006/main">
              <a:ext uri="{FF2B5EF4-FFF2-40B4-BE49-F238E27FC236}">
                <a16:creationId xmlns:a16="http://schemas.microsoft.com/office/drawing/2014/main" id="{53D392F9-316A-4CEE-A374-324AED74E9A6}"/>
              </a:ext>
            </a:extLst>
          </p:cNvPr>
          <p:cNvSpPr>
            <a:spLocks xmlns:a="http://schemas.openxmlformats.org/drawingml/2006/main" noGrp="1"/>
          </p:cNvSpPr>
          <p:nvPr/>
        </p:nvSpPr>
        <p:spPr>
          <a:xfrm xmlns:a="http://schemas.openxmlformats.org/drawingml/2006/main">
            <a:off x="3469481"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Current bounded dispatch</a:t>
            </a:r>
          </a:p>
        </p:txBody>
      </p:sp>
      <p:sp>
        <p:nvSpPr>
          <p:cNvPr id="11" name="text-24-276">
            <a:extLst xmlns:a="http://schemas.openxmlformats.org/drawingml/2006/main">
              <a:ext uri="{FF2B5EF4-FFF2-40B4-BE49-F238E27FC236}">
                <a16:creationId xmlns:a16="http://schemas.microsoft.com/office/drawing/2014/main" id="{451AC2EC-38A4-4822-8204-2FFEFE9C1295}"/>
              </a:ext>
            </a:extLst>
          </p:cNvPr>
          <p:cNvSpPr>
            <a:spLocks xmlns:a="http://schemas.openxmlformats.org/drawingml/2006/main" noGrp="1"/>
          </p:cNvSpPr>
          <p:nvPr/>
        </p:nvSpPr>
        <p:spPr>
          <a:xfrm xmlns:a="http://schemas.openxmlformats.org/drawingml/2006/main">
            <a:off x="6253163"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24-277">
            <a:extLst xmlns:a="http://schemas.openxmlformats.org/drawingml/2006/main">
              <a:ext uri="{FF2B5EF4-FFF2-40B4-BE49-F238E27FC236}">
                <a16:creationId xmlns:a16="http://schemas.microsoft.com/office/drawing/2014/main" id="{63097AE6-6D0B-47EA-BBAE-6A64AEF4D46F}"/>
              </a:ext>
            </a:extLst>
          </p:cNvPr>
          <p:cNvSpPr>
            <a:spLocks xmlns:a="http://schemas.openxmlformats.org/drawingml/2006/main" noGrp="1"/>
          </p:cNvSpPr>
          <p:nvPr/>
        </p:nvSpPr>
        <p:spPr>
          <a:xfrm xmlns:a="http://schemas.openxmlformats.org/drawingml/2006/main">
            <a:off x="6253163"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Receiver check</a:t>
            </a:r>
          </a:p>
        </p:txBody>
      </p:sp>
      <p:sp>
        <p:nvSpPr>
          <p:cNvPr id="13" name="text-24-278">
            <a:extLst xmlns:a="http://schemas.openxmlformats.org/drawingml/2006/main">
              <a:ext uri="{FF2B5EF4-FFF2-40B4-BE49-F238E27FC236}">
                <a16:creationId xmlns:a16="http://schemas.microsoft.com/office/drawing/2014/main" id="{EB2793EE-A2DA-4775-96CF-89099877C12E}"/>
              </a:ext>
            </a:extLst>
          </p:cNvPr>
          <p:cNvSpPr>
            <a:spLocks xmlns:a="http://schemas.openxmlformats.org/drawingml/2006/main" noGrp="1"/>
          </p:cNvSpPr>
          <p:nvPr/>
        </p:nvSpPr>
        <p:spPr>
          <a:xfrm xmlns:a="http://schemas.openxmlformats.org/drawingml/2006/main">
            <a:off x="6253163"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Exact identity and bytes</a:t>
            </a:r>
          </a:p>
        </p:txBody>
      </p:sp>
      <p:sp>
        <p:nvSpPr>
          <p:cNvPr id="14" name="text-24-279">
            <a:extLst xmlns:a="http://schemas.openxmlformats.org/drawingml/2006/main">
              <a:ext uri="{FF2B5EF4-FFF2-40B4-BE49-F238E27FC236}">
                <a16:creationId xmlns:a16="http://schemas.microsoft.com/office/drawing/2014/main" id="{F4750E6B-887C-4C33-A5C5-1EA997324D75}"/>
              </a:ext>
            </a:extLst>
          </p:cNvPr>
          <p:cNvSpPr>
            <a:spLocks xmlns:a="http://schemas.openxmlformats.org/drawingml/2006/main" noGrp="1"/>
          </p:cNvSpPr>
          <p:nvPr/>
        </p:nvSpPr>
        <p:spPr>
          <a:xfrm xmlns:a="http://schemas.openxmlformats.org/drawingml/2006/main">
            <a:off x="9036844"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24-280">
            <a:extLst xmlns:a="http://schemas.openxmlformats.org/drawingml/2006/main">
              <a:ext uri="{FF2B5EF4-FFF2-40B4-BE49-F238E27FC236}">
                <a16:creationId xmlns:a16="http://schemas.microsoft.com/office/drawing/2014/main" id="{7D6FBB72-8A2E-4CA2-BA33-9BA2C871C184}"/>
              </a:ext>
            </a:extLst>
          </p:cNvPr>
          <p:cNvSpPr>
            <a:spLocks xmlns:a="http://schemas.openxmlformats.org/drawingml/2006/main" noGrp="1"/>
          </p:cNvSpPr>
          <p:nvPr/>
        </p:nvSpPr>
        <p:spPr>
          <a:xfrm xmlns:a="http://schemas.openxmlformats.org/drawingml/2006/main">
            <a:off x="9036844"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Acknowledgement</a:t>
            </a:r>
          </a:p>
        </p:txBody>
      </p:sp>
      <p:sp>
        <p:nvSpPr>
          <p:cNvPr id="16" name="text-24-281">
            <a:extLst xmlns:a="http://schemas.openxmlformats.org/drawingml/2006/main">
              <a:ext uri="{FF2B5EF4-FFF2-40B4-BE49-F238E27FC236}">
                <a16:creationId xmlns:a16="http://schemas.microsoft.com/office/drawing/2014/main" id="{44702261-613D-4596-978A-E56489293C21}"/>
              </a:ext>
            </a:extLst>
          </p:cNvPr>
          <p:cNvSpPr>
            <a:spLocks xmlns:a="http://schemas.openxmlformats.org/drawingml/2006/main" noGrp="1"/>
          </p:cNvSpPr>
          <p:nvPr/>
        </p:nvSpPr>
        <p:spPr>
          <a:xfrm xmlns:a="http://schemas.openxmlformats.org/drawingml/2006/main">
            <a:off x="9036844"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RECEIVED or UNKNOWN</a:t>
            </a:r>
          </a:p>
        </p:txBody>
      </p:sp>
      <p:sp>
        <p:nvSpPr>
          <p:cNvPr id="17" name="text-24-282">
            <a:extLst xmlns:a="http://schemas.openxmlformats.org/drawingml/2006/main">
              <a:ext uri="{FF2B5EF4-FFF2-40B4-BE49-F238E27FC236}">
                <a16:creationId xmlns:a16="http://schemas.microsoft.com/office/drawing/2014/main" id="{F341D026-7E60-4FF3-BCF8-B004359FF5A2}"/>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8" name="text-24-283">
            <a:extLst xmlns:a="http://schemas.openxmlformats.org/drawingml/2006/main">
              <a:ext uri="{FF2B5EF4-FFF2-40B4-BE49-F238E27FC236}">
                <a16:creationId xmlns:a16="http://schemas.microsoft.com/office/drawing/2014/main" id="{D4B4F2F2-0BF3-4F25-B32B-D3B7BD9BA4CE}"/>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24</a:t>
            </a:r>
          </a:p>
        </p:txBody>
      </p:sp>
    </p:spTree>
    <p:extLst>
      <p:ext uri="{BB962C8B-B14F-4D97-AF65-F5344CB8AC3E}">
        <p14:creationId xmlns:p14="http://schemas.microsoft.com/office/powerpoint/2010/main" val="69413349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5-284">
            <a:extLst xmlns:a="http://schemas.openxmlformats.org/drawingml/2006/main">
              <a:ext uri="{FF2B5EF4-FFF2-40B4-BE49-F238E27FC236}">
                <a16:creationId xmlns:a16="http://schemas.microsoft.com/office/drawing/2014/main" id="{26C1C40A-4EA3-4F57-85B4-7D7A59BDD9E1}"/>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24 / TWO NODE PROFILES</a:t>
            </a:r>
          </a:p>
        </p:txBody>
      </p:sp>
      <p:sp>
        <p:nvSpPr>
          <p:cNvPr id="2" name="text-25-285">
            <a:extLst xmlns:a="http://schemas.openxmlformats.org/drawingml/2006/main">
              <a:ext uri="{FF2B5EF4-FFF2-40B4-BE49-F238E27FC236}">
                <a16:creationId xmlns:a16="http://schemas.microsoft.com/office/drawing/2014/main" id="{B8102554-3B5A-438A-9814-7D6755071CD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One cell, two reasoning profiles</a:t>
            </a:r>
          </a:p>
        </p:txBody>
      </p:sp>
      <p:sp>
        <p:nvSpPr>
          <p:cNvPr id="3" name="text-25-286">
            <a:extLst xmlns:a="http://schemas.openxmlformats.org/drawingml/2006/main">
              <a:ext uri="{FF2B5EF4-FFF2-40B4-BE49-F238E27FC236}">
                <a16:creationId xmlns:a16="http://schemas.microsoft.com/office/drawing/2014/main" id="{434995B8-3496-4931-8B35-929C177C6A0F}"/>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intended role and actual engine stay explicit.</a:t>
            </a:r>
          </a:p>
        </p:txBody>
      </p:sp>
      <p:graphicFrame>
        <p:nvGraphicFramePr>
          <p:cNvPr id="10" name=""/>
          <p:cNvGraphicFramePr/>
          <p:nvPr/>
        </p:nvGraphicFramePr>
        <p:xfrm>
          <a:off xmlns:a="http://schemas.openxmlformats.org/drawingml/2006/main" x="685800" y="2162175"/>
          <a:ext xmlns:a="http://schemas.openxmlformats.org/drawingml/2006/main" cx="10820400" cy="2224659"/>
        </p:xfrm>
        <a:graphic xmlns:a="http://schemas.openxmlformats.org/drawingml/2006/main">
          <a:graphicData uri="http://schemas.openxmlformats.org/drawingml/2006/table">
            <a:tbl>
              <a:tblPr firstRow="0" bandRow="0"/>
              <a:tblGrid>
                <a:gridCol w="2813304"/>
                <a:gridCol w="3678936"/>
                <a:gridCol w="4328160"/>
              </a:tblGrid>
              <a:tr h="447675">
                <a:tc>
                  <a:txBody>
                    <a:bodyPr>
                      <a:noAutofit/>
                    </a:bodyPr>
                    <a:lstStyle/>
                    <a:p>
                      <a:r>
                        <a:rPr sz="1350" b="1">
                          <a:solidFill>
                            <a:srgbClr val="6E6E73"/>
                          </a:solidFill>
                          <a:latin typeface="Inter"/>
                          <a:ea typeface="Inter"/>
                          <a:cs typeface="Inter"/>
                        </a:rPr>
                        <a:t>Profile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Observed implementation</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Capability boundary</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Algorithms only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Fresh local work + LocalDRS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0 model transports</a:t>
                      </a:r>
                    </a:p>
                  </a:txBody>
                  <a:tcPr marL="123825" marR="123825" marT="85725" marB="85725" anchor="ctr">
                    <a:solidFill>
                      <a:srgbClr val="FFFFFF"/>
                    </a:solidFill>
                  </a:tcPr>
                </a:tc>
              </a:tr>
              <a:tr h="729234">
                <a:tc>
                  <a:txBody>
                    <a:bodyPr>
                      <a:noAutofit/>
                    </a:bodyPr>
                    <a:lstStyle/>
                    <a:p>
                      <a:r>
                        <a:rPr sz="1650" b="0">
                          <a:solidFill>
                            <a:srgbClr val="1D1D1F"/>
                          </a:solidFill>
                          <a:latin typeface="Inter"/>
                          <a:ea typeface="Inter"/>
                          <a:cs typeface="Inter"/>
                        </a:rPr>
                        <a:t>Internal analyst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Gemini emulates intended local SLM</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Cloud origin is disclosed</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Future physical SLM</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Architectural substitution point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No hardware performance claim</a:t>
                      </a:r>
                    </a:p>
                  </a:txBody>
                  <a:tcPr marL="123825" marR="123825" marT="85725" marB="85725" anchor="ctr">
                    <a:solidFill>
                      <a:srgbClr val="FFFFFF"/>
                    </a:solidFill>
                  </a:tcPr>
                </a:tc>
              </a:tr>
            </a:tbl>
          </a:graphicData>
        </a:graphic>
      </p:graphicFrame>
      <p:sp>
        <p:nvSpPr>
          <p:cNvPr id="5" name="text-25-288">
            <a:extLst xmlns:a="http://schemas.openxmlformats.org/drawingml/2006/main">
              <a:ext uri="{FF2B5EF4-FFF2-40B4-BE49-F238E27FC236}">
                <a16:creationId xmlns:a16="http://schemas.microsoft.com/office/drawing/2014/main" id="{366D5EDD-60F3-4BDE-8574-70A87EEADEDB}"/>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25-289">
            <a:extLst xmlns:a="http://schemas.openxmlformats.org/drawingml/2006/main">
              <a:ext uri="{FF2B5EF4-FFF2-40B4-BE49-F238E27FC236}">
                <a16:creationId xmlns:a16="http://schemas.microsoft.com/office/drawing/2014/main" id="{A1C08417-FE6A-4F5A-AC87-C7AE4165C8FF}"/>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25</a:t>
            </a:r>
          </a:p>
        </p:txBody>
      </p:sp>
    </p:spTree>
    <p:extLst>
      <p:ext uri="{BB962C8B-B14F-4D97-AF65-F5344CB8AC3E}">
        <p14:creationId xmlns:p14="http://schemas.microsoft.com/office/powerpoint/2010/main" val="1006091413"/>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26-290">
            <a:extLst xmlns:a="http://schemas.openxmlformats.org/drawingml/2006/main">
              <a:ext uri="{FF2B5EF4-FFF2-40B4-BE49-F238E27FC236}">
                <a16:creationId xmlns:a16="http://schemas.microsoft.com/office/drawing/2014/main" id="{1100D50D-AB8F-408D-9A22-75D109853D7F}"/>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25 / MEMORY-FIRST</a:t>
            </a:r>
          </a:p>
        </p:txBody>
      </p:sp>
      <p:sp>
        <p:nvSpPr>
          <p:cNvPr id="2" name="text-26-291">
            <a:extLst xmlns:a="http://schemas.openxmlformats.org/drawingml/2006/main">
              <a:ext uri="{FF2B5EF4-FFF2-40B4-BE49-F238E27FC236}">
                <a16:creationId xmlns:a16="http://schemas.microsoft.com/office/drawing/2014/main" id="{851D83CA-0F1E-44EE-8C98-7D7A3EEC025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Memory and current eligibility</a:t>
            </a:r>
          </a:p>
        </p:txBody>
      </p:sp>
      <p:sp>
        <p:nvSpPr>
          <p:cNvPr id="3" name="text-26-292">
            <a:extLst xmlns:a="http://schemas.openxmlformats.org/drawingml/2006/main">
              <a:ext uri="{FF2B5EF4-FFF2-40B4-BE49-F238E27FC236}">
                <a16:creationId xmlns:a16="http://schemas.microsoft.com/office/drawing/2014/main" id="{5D93DE31-5551-451B-839D-245D0FA1E550}"/>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LocalDRS does not resurrect an old permission.</a:t>
            </a:r>
          </a:p>
        </p:txBody>
      </p:sp>
      <p:sp>
        <p:nvSpPr>
          <p:cNvPr id="4" name="text-26-293">
            <a:extLst xmlns:a="http://schemas.openxmlformats.org/drawingml/2006/main">
              <a:ext uri="{FF2B5EF4-FFF2-40B4-BE49-F238E27FC236}">
                <a16:creationId xmlns:a16="http://schemas.microsoft.com/office/drawing/2014/main" id="{1765770E-4C9F-4834-BEB9-3E19C2EB9895}"/>
              </a:ext>
            </a:extLst>
          </p:cNvPr>
          <p:cNvSpPr>
            <a:spLocks xmlns:a="http://schemas.openxmlformats.org/drawingml/2006/main" noGrp="1"/>
          </p:cNvSpPr>
          <p:nvPr/>
        </p:nvSpPr>
        <p:spPr>
          <a:xfrm xmlns:a="http://schemas.openxmlformats.org/drawingml/2006/main">
            <a:off x="704850" y="25717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Cold lookup, reviewed write, fresh query and bounded descent are separate steps.</a:t>
            </a:r>
          </a:p>
        </p:txBody>
      </p:sp>
      <p:sp>
        <p:nvSpPr>
          <p:cNvPr id="5" name="text-26-294">
            <a:extLst xmlns:a="http://schemas.openxmlformats.org/drawingml/2006/main">
              <a:ext uri="{FF2B5EF4-FFF2-40B4-BE49-F238E27FC236}">
                <a16:creationId xmlns:a16="http://schemas.microsoft.com/office/drawing/2014/main" id="{B15E6704-00B9-463C-851F-FD647E0D983C}"/>
              </a:ext>
            </a:extLst>
          </p:cNvPr>
          <p:cNvSpPr>
            <a:spLocks xmlns:a="http://schemas.openxmlformats.org/drawingml/2006/main" noGrp="1"/>
          </p:cNvSpPr>
          <p:nvPr/>
        </p:nvSpPr>
        <p:spPr>
          <a:xfrm xmlns:a="http://schemas.openxmlformats.org/drawingml/2006/main">
            <a:off x="704850" y="3638550"/>
            <a:ext cx="10620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Current Root, policy, calibration and dependency scope govern reuse.</a:t>
            </a:r>
          </a:p>
        </p:txBody>
      </p:sp>
      <p:sp>
        <p:nvSpPr>
          <p:cNvPr id="6" name="text-26-295">
            <a:extLst xmlns:a="http://schemas.openxmlformats.org/drawingml/2006/main">
              <a:ext uri="{FF2B5EF4-FFF2-40B4-BE49-F238E27FC236}">
                <a16:creationId xmlns:a16="http://schemas.microsoft.com/office/drawing/2014/main" id="{512A4C59-D98B-41B6-9532-96D3B233A583}"/>
              </a:ext>
            </a:extLst>
          </p:cNvPr>
          <p:cNvSpPr>
            <a:spLocks xmlns:a="http://schemas.openxmlformats.org/drawingml/2006/main" noGrp="1"/>
          </p:cNvSpPr>
          <p:nvPr/>
        </p:nvSpPr>
        <p:spPr>
          <a:xfrm xmlns:a="http://schemas.openxmlformats.org/drawingml/2006/main">
            <a:off x="704850" y="4333875"/>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Informational reuse yields new Work; it does not reopen an action packet.</a:t>
            </a:r>
          </a:p>
        </p:txBody>
      </p:sp>
      <p:sp>
        <p:nvSpPr>
          <p:cNvPr id="7" name="text-26-296">
            <a:extLst xmlns:a="http://schemas.openxmlformats.org/drawingml/2006/main">
              <a:ext uri="{FF2B5EF4-FFF2-40B4-BE49-F238E27FC236}">
                <a16:creationId xmlns:a16="http://schemas.microsoft.com/office/drawing/2014/main" id="{17EC1CAF-025C-4F9C-8CBA-3A50B9D3057E}"/>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26-297">
            <a:extLst xmlns:a="http://schemas.openxmlformats.org/drawingml/2006/main">
              <a:ext uri="{FF2B5EF4-FFF2-40B4-BE49-F238E27FC236}">
                <a16:creationId xmlns:a16="http://schemas.microsoft.com/office/drawing/2014/main" id="{DA4D8C7B-81D9-4B75-93E0-12F7BD97D564}"/>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26</a:t>
            </a:r>
          </a:p>
        </p:txBody>
      </p:sp>
    </p:spTree>
    <p:extLst>
      <p:ext uri="{BB962C8B-B14F-4D97-AF65-F5344CB8AC3E}">
        <p14:creationId xmlns:p14="http://schemas.microsoft.com/office/powerpoint/2010/main" val="5007952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27-298">
            <a:extLst xmlns:a="http://schemas.openxmlformats.org/drawingml/2006/main">
              <a:ext uri="{FF2B5EF4-FFF2-40B4-BE49-F238E27FC236}">
                <a16:creationId xmlns:a16="http://schemas.microsoft.com/office/drawing/2014/main" id="{A078C305-FB2C-4A86-AE3C-65E5113AFD39}"/>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26 / REAL EXTERNAL DATA</a:t>
            </a:r>
          </a:p>
        </p:txBody>
      </p:sp>
      <p:sp>
        <p:nvSpPr>
          <p:cNvPr id="2" name="text-27-299">
            <a:extLst xmlns:a="http://schemas.openxmlformats.org/drawingml/2006/main">
              <a:ext uri="{FF2B5EF4-FFF2-40B4-BE49-F238E27FC236}">
                <a16:creationId xmlns:a16="http://schemas.microsoft.com/office/drawing/2014/main" id="{199955BC-3179-4B0F-A927-E1DEDC2A1E6A}"/>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Eight real values. All zero.</a:t>
            </a:r>
          </a:p>
        </p:txBody>
      </p:sp>
      <p:sp>
        <p:nvSpPr>
          <p:cNvPr id="3" name="text-27-300">
            <a:extLst xmlns:a="http://schemas.openxmlformats.org/drawingml/2006/main">
              <a:ext uri="{FF2B5EF4-FFF2-40B4-BE49-F238E27FC236}">
                <a16:creationId xmlns:a16="http://schemas.microsoft.com/office/drawing/2014/main" id="{A8EEE15E-E131-40DA-BF67-6D61D2310552}"/>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Zero is a measurement; an empty list is not.</a:t>
            </a:r>
          </a:p>
        </p:txBody>
      </p:sp>
      <p:sp>
        <p:nvSpPr>
          <p:cNvPr id="4" name="text-27-301">
            <a:extLst xmlns:a="http://schemas.openxmlformats.org/drawingml/2006/main">
              <a:ext uri="{FF2B5EF4-FFF2-40B4-BE49-F238E27FC236}">
                <a16:creationId xmlns:a16="http://schemas.microsoft.com/office/drawing/2014/main" id="{F9B8160F-AE59-46D8-B4DD-52299D891ECF}"/>
              </a:ext>
            </a:extLst>
          </p:cNvPr>
          <p:cNvSpPr>
            <a:spLocks xmlns:a="http://schemas.openxmlformats.org/drawingml/2006/main" noGrp="1"/>
          </p:cNvSpPr>
          <p:nvPr/>
        </p:nvSpPr>
        <p:spPr>
          <a:xfrm xmlns:a="http://schemas.openxmlformats.org/drawingml/2006/main">
            <a:off x="6858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925" b="1">
                <a:solidFill>
                  <a:srgbClr val="1D1D1F"/>
                </a:solidFill>
                <a:latin typeface="Inter"/>
                <a:ea typeface="Inter"/>
                <a:cs typeface="Inter"/>
              </a:defRPr>
            </a:pPr>
            <a:r>
              <a:rPr sz="5925" b="1">
                <a:solidFill>
                  <a:srgbClr val="1D1D1F"/>
                </a:solidFill>
                <a:latin typeface="Inter"/>
                <a:ea typeface="Inter"/>
                <a:cs typeface="Inter"/>
              </a:rPr>
              <a:t>8</a:t>
            </a:r>
          </a:p>
        </p:txBody>
      </p:sp>
      <p:sp>
        <p:nvSpPr>
          <p:cNvPr id="5" name="text-27-302">
            <a:extLst xmlns:a="http://schemas.openxmlformats.org/drawingml/2006/main">
              <a:ext uri="{FF2B5EF4-FFF2-40B4-BE49-F238E27FC236}">
                <a16:creationId xmlns:a16="http://schemas.microsoft.com/office/drawing/2014/main" id="{B49AEAE6-36B6-4D5C-8450-1A02B26026B6}"/>
              </a:ext>
            </a:extLst>
          </p:cNvPr>
          <p:cNvSpPr>
            <a:spLocks xmlns:a="http://schemas.openxmlformats.org/drawingml/2006/main" noGrp="1"/>
          </p:cNvSpPr>
          <p:nvPr/>
        </p:nvSpPr>
        <p:spPr>
          <a:xfrm xmlns:a="http://schemas.openxmlformats.org/drawingml/2006/main">
            <a:off x="7048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Actual normalized readings</a:t>
            </a:r>
          </a:p>
        </p:txBody>
      </p:sp>
      <p:sp>
        <p:nvSpPr>
          <p:cNvPr id="6" name="text-27-303">
            <a:extLst xmlns:a="http://schemas.openxmlformats.org/drawingml/2006/main">
              <a:ext uri="{FF2B5EF4-FFF2-40B4-BE49-F238E27FC236}">
                <a16:creationId xmlns:a16="http://schemas.microsoft.com/office/drawing/2014/main" id="{8A7BC118-549F-425B-9C85-25140FE3E562}"/>
              </a:ext>
            </a:extLst>
          </p:cNvPr>
          <p:cNvSpPr>
            <a:spLocks xmlns:a="http://schemas.openxmlformats.org/drawingml/2006/main" noGrp="1"/>
          </p:cNvSpPr>
          <p:nvPr/>
        </p:nvSpPr>
        <p:spPr>
          <a:xfrm xmlns:a="http://schemas.openxmlformats.org/drawingml/2006/main">
            <a:off x="42926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925" b="1">
                <a:solidFill>
                  <a:srgbClr val="1D1D1F"/>
                </a:solidFill>
                <a:latin typeface="Inter"/>
                <a:ea typeface="Inter"/>
                <a:cs typeface="Inter"/>
              </a:defRPr>
            </a:pPr>
            <a:r>
              <a:rPr sz="5925" b="1">
                <a:solidFill>
                  <a:srgbClr val="1D1D1F"/>
                </a:solidFill>
                <a:latin typeface="Inter"/>
                <a:ea typeface="Inter"/>
                <a:cs typeface="Inter"/>
              </a:rPr>
              <a:t>0</a:t>
            </a:r>
          </a:p>
        </p:txBody>
      </p:sp>
      <p:sp>
        <p:nvSpPr>
          <p:cNvPr id="7" name="text-27-304">
            <a:extLst xmlns:a="http://schemas.openxmlformats.org/drawingml/2006/main">
              <a:ext uri="{FF2B5EF4-FFF2-40B4-BE49-F238E27FC236}">
                <a16:creationId xmlns:a16="http://schemas.microsoft.com/office/drawing/2014/main" id="{C450AB1F-98F8-4FBA-BD0D-6B2EE0556D26}"/>
              </a:ext>
            </a:extLst>
          </p:cNvPr>
          <p:cNvSpPr>
            <a:spLocks xmlns:a="http://schemas.openxmlformats.org/drawingml/2006/main" noGrp="1"/>
          </p:cNvSpPr>
          <p:nvPr/>
        </p:nvSpPr>
        <p:spPr>
          <a:xfrm xmlns:a="http://schemas.openxmlformats.org/drawingml/2006/main">
            <a:off x="43116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Value of every reading</a:t>
            </a:r>
          </a:p>
        </p:txBody>
      </p:sp>
      <p:sp>
        <p:nvSpPr>
          <p:cNvPr id="8" name="text-27-305">
            <a:extLst xmlns:a="http://schemas.openxmlformats.org/drawingml/2006/main">
              <a:ext uri="{FF2B5EF4-FFF2-40B4-BE49-F238E27FC236}">
                <a16:creationId xmlns:a16="http://schemas.microsoft.com/office/drawing/2014/main" id="{100D7233-27E8-4174-A8B4-60518968AA34}"/>
              </a:ext>
            </a:extLst>
          </p:cNvPr>
          <p:cNvSpPr>
            <a:spLocks xmlns:a="http://schemas.openxmlformats.org/drawingml/2006/main" noGrp="1"/>
          </p:cNvSpPr>
          <p:nvPr/>
        </p:nvSpPr>
        <p:spPr>
          <a:xfrm xmlns:a="http://schemas.openxmlformats.org/drawingml/2006/main">
            <a:off x="7899400" y="2552700"/>
            <a:ext cx="327342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5925" b="1">
                <a:solidFill>
                  <a:srgbClr val="1D1D1F"/>
                </a:solidFill>
                <a:latin typeface="Inter"/>
                <a:ea typeface="Inter"/>
                <a:cs typeface="Inter"/>
              </a:defRPr>
            </a:pPr>
            <a:r>
              <a:rPr sz="5925" b="1">
                <a:solidFill>
                  <a:srgbClr val="1D1D1F"/>
                </a:solidFill>
                <a:latin typeface="Inter"/>
                <a:ea typeface="Inter"/>
                <a:cs typeface="Inter"/>
              </a:rPr>
              <a:t>4163</a:t>
            </a:r>
          </a:p>
        </p:txBody>
      </p:sp>
      <p:sp>
        <p:nvSpPr>
          <p:cNvPr id="9" name="text-27-306">
            <a:extLst xmlns:a="http://schemas.openxmlformats.org/drawingml/2006/main">
              <a:ext uri="{FF2B5EF4-FFF2-40B4-BE49-F238E27FC236}">
                <a16:creationId xmlns:a16="http://schemas.microsoft.com/office/drawing/2014/main" id="{FEB6B50B-A4B7-4EE9-9EEA-FADF5FB4356F}"/>
              </a:ext>
            </a:extLst>
          </p:cNvPr>
          <p:cNvSpPr>
            <a:spLocks xmlns:a="http://schemas.openxmlformats.org/drawingml/2006/main" noGrp="1"/>
          </p:cNvSpPr>
          <p:nvPr/>
        </p:nvSpPr>
        <p:spPr>
          <a:xfrm xmlns:a="http://schemas.openxmlformats.org/drawingml/2006/main">
            <a:off x="7918450" y="3676650"/>
            <a:ext cx="31781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875" b="1">
                <a:solidFill>
                  <a:srgbClr val="1D1D1F"/>
                </a:solidFill>
                <a:latin typeface="Inter"/>
                <a:ea typeface="Inter"/>
                <a:cs typeface="Inter"/>
              </a:defRPr>
            </a:pPr>
            <a:r>
              <a:rPr sz="1875" b="1">
                <a:solidFill>
                  <a:srgbClr val="1D1D1F"/>
                </a:solidFill>
                <a:latin typeface="Inter"/>
                <a:ea typeface="Inter"/>
                <a:cs typeface="Inter"/>
              </a:rPr>
              <a:t>Pinned EA source</a:t>
            </a:r>
          </a:p>
        </p:txBody>
      </p:sp>
      <p:sp>
        <p:nvSpPr>
          <p:cNvPr id="10" name="text-27-307">
            <a:extLst xmlns:a="http://schemas.openxmlformats.org/drawingml/2006/main">
              <a:ext uri="{FF2B5EF4-FFF2-40B4-BE49-F238E27FC236}">
                <a16:creationId xmlns:a16="http://schemas.microsoft.com/office/drawing/2014/main" id="{3029F4D1-1597-485D-A569-8A06B01EC693}"/>
              </a:ext>
            </a:extLst>
          </p:cNvPr>
          <p:cNvSpPr>
            <a:spLocks xmlns:a="http://schemas.openxmlformats.org/drawingml/2006/main" noGrp="1"/>
          </p:cNvSpPr>
          <p:nvPr/>
        </p:nvSpPr>
        <p:spPr>
          <a:xfrm xmlns:a="http://schemas.openxmlformats.org/drawingml/2006/main">
            <a:off x="704850" y="5172075"/>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1D1D1F"/>
                </a:solidFill>
                <a:latin typeface="Inter"/>
                <a:ea typeface="Inter"/>
                <a:cs typeface="Inter"/>
              </a:defRPr>
            </a:pPr>
            <a:r>
              <a:rPr sz="1725" b="0">
                <a:solidFill>
                  <a:srgbClr val="1D1D1F"/>
                </a:solidFill>
                <a:latin typeface="Inter"/>
                <a:ea typeface="Inter"/>
                <a:cs typeface="Inter"/>
              </a:rPr>
              <a:t>Interval support unconfirmed. Physical site mapping not established.</a:t>
            </a:r>
          </a:p>
        </p:txBody>
      </p:sp>
      <p:sp>
        <p:nvSpPr>
          <p:cNvPr id="11" name="text-27-308">
            <a:extLst xmlns:a="http://schemas.openxmlformats.org/drawingml/2006/main">
              <a:ext uri="{FF2B5EF4-FFF2-40B4-BE49-F238E27FC236}">
                <a16:creationId xmlns:a16="http://schemas.microsoft.com/office/drawing/2014/main" id="{07BB9463-8442-464C-AFF6-E4504E6A62BB}"/>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2" name="text-27-309">
            <a:extLst xmlns:a="http://schemas.openxmlformats.org/drawingml/2006/main">
              <a:ext uri="{FF2B5EF4-FFF2-40B4-BE49-F238E27FC236}">
                <a16:creationId xmlns:a16="http://schemas.microsoft.com/office/drawing/2014/main" id="{069E390B-C58A-443A-A2B2-0ED3E103D90A}"/>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27</a:t>
            </a:r>
          </a:p>
        </p:txBody>
      </p:sp>
    </p:spTree>
    <p:extLst>
      <p:ext uri="{BB962C8B-B14F-4D97-AF65-F5344CB8AC3E}">
        <p14:creationId xmlns:p14="http://schemas.microsoft.com/office/powerpoint/2010/main" val="227335272"/>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8-310">
            <a:extLst xmlns:a="http://schemas.openxmlformats.org/drawingml/2006/main">
              <a:ext uri="{FF2B5EF4-FFF2-40B4-BE49-F238E27FC236}">
                <a16:creationId xmlns:a16="http://schemas.microsoft.com/office/drawing/2014/main" id="{2C8D092F-6DE0-4C74-955C-9780385463A7}"/>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27 / APPLICABILITY</a:t>
            </a:r>
          </a:p>
        </p:txBody>
      </p:sp>
      <p:sp>
        <p:nvSpPr>
          <p:cNvPr id="2" name="text-28-311">
            <a:extLst xmlns:a="http://schemas.openxmlformats.org/drawingml/2006/main">
              <a:ext uri="{FF2B5EF4-FFF2-40B4-BE49-F238E27FC236}">
                <a16:creationId xmlns:a16="http://schemas.microsoft.com/office/drawing/2014/main" id="{472DF6DA-FEAE-41DD-ADE5-CBE70A15F530}"/>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Fresh transport does not make data applicable</a:t>
            </a:r>
          </a:p>
        </p:txBody>
      </p:sp>
      <p:sp>
        <p:nvSpPr>
          <p:cNvPr id="3" name="text-28-312">
            <a:extLst xmlns:a="http://schemas.openxmlformats.org/drawingml/2006/main">
              <a:ext uri="{FF2B5EF4-FFF2-40B4-BE49-F238E27FC236}">
                <a16:creationId xmlns:a16="http://schemas.microsoft.com/office/drawing/2014/main" id="{28B3A18E-8D49-4D98-80C2-F83EB6E0DFC0}"/>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Time support and physical meaning are different questions.</a:t>
            </a:r>
          </a:p>
        </p:txBody>
      </p:sp>
      <p:graphicFrame>
        <p:nvGraphicFramePr>
          <p:cNvPr id="10" name=""/>
          <p:cNvGraphicFramePr/>
          <p:nvPr/>
        </p:nvGraphicFramePr>
        <p:xfrm>
          <a:off xmlns:a="http://schemas.openxmlformats.org/drawingml/2006/main" x="685800" y="2162175"/>
          <a:ext xmlns:a="http://schemas.openxmlformats.org/drawingml/2006/main" cx="10820400" cy="2224659"/>
        </p:xfrm>
        <a:graphic xmlns:a="http://schemas.openxmlformats.org/drawingml/2006/main">
          <a:graphicData uri="http://schemas.openxmlformats.org/drawingml/2006/table">
            <a:tbl>
              <a:tblPr firstRow="0" bandRow="0"/>
              <a:tblGrid>
                <a:gridCol w="2813304"/>
                <a:gridCol w="3678936"/>
                <a:gridCol w="4328160"/>
              </a:tblGrid>
              <a:tr h="447675">
                <a:tc>
                  <a:txBody>
                    <a:bodyPr>
                      <a:noAutofit/>
                    </a:bodyPr>
                    <a:lstStyle/>
                    <a:p>
                      <a:r>
                        <a:rPr sz="1350" b="1">
                          <a:solidFill>
                            <a:srgbClr val="6E6E73"/>
                          </a:solidFill>
                          <a:latin typeface="Inter"/>
                          <a:ea typeface="Inter"/>
                          <a:cs typeface="Inter"/>
                        </a:rPr>
                        <a:t>Question</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Checked relationship</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Honest possible result</a:t>
                      </a:r>
                    </a:p>
                  </a:txBody>
                  <a:tcPr marL="123825" marR="123825" marT="85725" marB="85725" anchor="ctr">
                    <a:solidFill>
                      <a:srgbClr val="F5F5F7"/>
                    </a:solidFill>
                  </a:tcPr>
                </a:tc>
              </a:tr>
              <a:tr h="729234">
                <a:tc>
                  <a:txBody>
                    <a:bodyPr>
                      <a:noAutofit/>
                    </a:bodyPr>
                    <a:lstStyle/>
                    <a:p>
                      <a:r>
                        <a:rPr sz="1650" b="0">
                          <a:solidFill>
                            <a:srgbClr val="1D1D1F"/>
                          </a:solidFill>
                          <a:latin typeface="Inter"/>
                          <a:ea typeface="Inter"/>
                          <a:cs typeface="Inter"/>
                        </a:rPr>
                        <a:t>Temporal</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Interval + statistic + age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Supported, missing, incompatible, historical</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Synthetic scope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Source site versus target site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Match or mismatch</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Physical relevance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Verified gauge-to-slope mapping</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Not established</a:t>
                      </a:r>
                    </a:p>
                  </a:txBody>
                  <a:tcPr marL="123825" marR="123825" marT="85725" marB="85725" anchor="ctr">
                    <a:solidFill>
                      <a:srgbClr val="FFFFFF"/>
                    </a:solidFill>
                  </a:tcPr>
                </a:tc>
              </a:tr>
            </a:tbl>
          </a:graphicData>
        </a:graphic>
      </p:graphicFrame>
      <p:sp>
        <p:nvSpPr>
          <p:cNvPr id="5" name="text-28-314">
            <a:extLst xmlns:a="http://schemas.openxmlformats.org/drawingml/2006/main">
              <a:ext uri="{FF2B5EF4-FFF2-40B4-BE49-F238E27FC236}">
                <a16:creationId xmlns:a16="http://schemas.microsoft.com/office/drawing/2014/main" id="{E97354F6-971E-4ACC-841E-A5B9A1F97F9F}"/>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28-315">
            <a:extLst xmlns:a="http://schemas.openxmlformats.org/drawingml/2006/main">
              <a:ext uri="{FF2B5EF4-FFF2-40B4-BE49-F238E27FC236}">
                <a16:creationId xmlns:a16="http://schemas.microsoft.com/office/drawing/2014/main" id="{F59342F4-B22C-499C-8BB0-950327F30C01}"/>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28</a:t>
            </a:r>
          </a:p>
        </p:txBody>
      </p:sp>
    </p:spTree>
    <p:extLst>
      <p:ext uri="{BB962C8B-B14F-4D97-AF65-F5344CB8AC3E}">
        <p14:creationId xmlns:p14="http://schemas.microsoft.com/office/powerpoint/2010/main" val="1189245074"/>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29-316">
            <a:extLst xmlns:a="http://schemas.openxmlformats.org/drawingml/2006/main">
              <a:ext uri="{FF2B5EF4-FFF2-40B4-BE49-F238E27FC236}">
                <a16:creationId xmlns:a16="http://schemas.microsoft.com/office/drawing/2014/main" id="{1E85B50F-9ED0-40B2-931C-7B6CE78429B6}"/>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28 / CONTRASTS C01-C05</a:t>
            </a:r>
          </a:p>
        </p:txBody>
      </p:sp>
      <p:sp>
        <p:nvSpPr>
          <p:cNvPr id="2" name="text-29-317">
            <a:extLst xmlns:a="http://schemas.openxmlformats.org/drawingml/2006/main">
              <a:ext uri="{FF2B5EF4-FFF2-40B4-BE49-F238E27FC236}">
                <a16:creationId xmlns:a16="http://schemas.microsoft.com/office/drawing/2014/main" id="{F8602C86-5286-4A12-9781-8314F53EB7B5}"/>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Five ways to challenge the interpretation</a:t>
            </a:r>
          </a:p>
        </p:txBody>
      </p:sp>
      <p:sp>
        <p:nvSpPr>
          <p:cNvPr id="3" name="text-29-318">
            <a:extLst xmlns:a="http://schemas.openxmlformats.org/drawingml/2006/main">
              <a:ext uri="{FF2B5EF4-FFF2-40B4-BE49-F238E27FC236}">
                <a16:creationId xmlns:a16="http://schemas.microsoft.com/office/drawing/2014/main" id="{9ACBA002-8C5E-4E91-9237-2F33A25A7003}"/>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checks exercise consumer behavior.</a:t>
            </a:r>
          </a:p>
        </p:txBody>
      </p:sp>
      <p:graphicFrame>
        <p:nvGraphicFramePr>
          <p:cNvPr id="10" name=""/>
          <p:cNvGraphicFramePr/>
          <p:nvPr/>
        </p:nvGraphicFramePr>
        <p:xfrm>
          <a:off xmlns:a="http://schemas.openxmlformats.org/drawingml/2006/main" x="685800" y="2162175"/>
          <a:ext xmlns:a="http://schemas.openxmlformats.org/drawingml/2006/main" cx="10820400" cy="3067050"/>
        </p:xfrm>
        <a:graphic xmlns:a="http://schemas.openxmlformats.org/drawingml/2006/main">
          <a:graphicData uri="http://schemas.openxmlformats.org/drawingml/2006/table">
            <a:tbl>
              <a:tblPr firstRow="0" bandRow="0"/>
              <a:tblGrid>
                <a:gridCol w="1298448"/>
                <a:gridCol w="4219956"/>
                <a:gridCol w="5301996"/>
              </a:tblGrid>
              <a:tr h="447675">
                <a:tc>
                  <a:txBody>
                    <a:bodyPr>
                      <a:noAutofit/>
                    </a:bodyPr>
                    <a:lstStyle/>
                    <a:p>
                      <a:r>
                        <a:rPr sz="1350" b="1">
                          <a:solidFill>
                            <a:srgbClr val="6E6E73"/>
                          </a:solidFill>
                          <a:latin typeface="Inter"/>
                          <a:ea typeface="Inter"/>
                          <a:cs typeface="Inter"/>
                        </a:rPr>
                        <a:t>Contrast</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Challenge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Observed boundary</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C01</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Change only the note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Different substantive work</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C02</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Old event; new receipt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Current applicability check</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C03</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Remove local witnesses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LIMITED / INSUFFICIENT</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C04</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Change chronology or lineage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Typed evidence checks</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C05</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Reduce Work budget</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2 -&gt; 1 -&gt; infeasible 0</a:t>
                      </a:r>
                    </a:p>
                  </a:txBody>
                  <a:tcPr marL="123825" marR="123825" marT="85725" marB="85725" anchor="ctr">
                    <a:solidFill>
                      <a:srgbClr val="FFFFFF"/>
                    </a:solidFill>
                  </a:tcPr>
                </a:tc>
              </a:tr>
            </a:tbl>
          </a:graphicData>
        </a:graphic>
      </p:graphicFrame>
      <p:sp>
        <p:nvSpPr>
          <p:cNvPr id="5" name="text-29-320">
            <a:extLst xmlns:a="http://schemas.openxmlformats.org/drawingml/2006/main">
              <a:ext uri="{FF2B5EF4-FFF2-40B4-BE49-F238E27FC236}">
                <a16:creationId xmlns:a16="http://schemas.microsoft.com/office/drawing/2014/main" id="{A2392DEE-67A1-423B-99C1-6EE4168787B5}"/>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29-321">
            <a:extLst xmlns:a="http://schemas.openxmlformats.org/drawingml/2006/main">
              <a:ext uri="{FF2B5EF4-FFF2-40B4-BE49-F238E27FC236}">
                <a16:creationId xmlns:a16="http://schemas.microsoft.com/office/drawing/2014/main" id="{D538DC12-5C7B-4AA9-80EF-EE8E423EE928}"/>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29</a:t>
            </a:r>
          </a:p>
        </p:txBody>
      </p:sp>
    </p:spTree>
    <p:extLst>
      <p:ext uri="{BB962C8B-B14F-4D97-AF65-F5344CB8AC3E}">
        <p14:creationId xmlns:p14="http://schemas.microsoft.com/office/powerpoint/2010/main" val="1801291583"/>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0-322">
            <a:extLst xmlns:a="http://schemas.openxmlformats.org/drawingml/2006/main">
              <a:ext uri="{FF2B5EF4-FFF2-40B4-BE49-F238E27FC236}">
                <a16:creationId xmlns:a16="http://schemas.microsoft.com/office/drawing/2014/main" id="{CDE34F4D-ECBB-47AC-BD07-2BA8A7AA710B}"/>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29 / CONTRASTS C06-C10</a:t>
            </a:r>
          </a:p>
        </p:txBody>
      </p:sp>
      <p:sp>
        <p:nvSpPr>
          <p:cNvPr id="2" name="text-30-323">
            <a:extLst xmlns:a="http://schemas.openxmlformats.org/drawingml/2006/main">
              <a:ext uri="{FF2B5EF4-FFF2-40B4-BE49-F238E27FC236}">
                <a16:creationId xmlns:a16="http://schemas.microsoft.com/office/drawing/2014/main" id="{30092815-A043-4916-9145-9D99F51665E9}"/>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Five ways to challenge continuation</a:t>
            </a:r>
          </a:p>
        </p:txBody>
      </p:sp>
      <p:sp>
        <p:nvSpPr>
          <p:cNvPr id="3" name="text-30-324">
            <a:extLst xmlns:a="http://schemas.openxmlformats.org/drawingml/2006/main">
              <a:ext uri="{FF2B5EF4-FFF2-40B4-BE49-F238E27FC236}">
                <a16:creationId xmlns:a16="http://schemas.microsoft.com/office/drawing/2014/main" id="{5CA85D22-DA02-4DAB-A3BC-1C3E48493A8D}"/>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prior success does not authorize the next action.</a:t>
            </a:r>
          </a:p>
        </p:txBody>
      </p:sp>
      <p:graphicFrame>
        <p:nvGraphicFramePr>
          <p:cNvPr id="10" name=""/>
          <p:cNvGraphicFramePr/>
          <p:nvPr/>
        </p:nvGraphicFramePr>
        <p:xfrm>
          <a:off xmlns:a="http://schemas.openxmlformats.org/drawingml/2006/main" x="685800" y="2162175"/>
          <a:ext xmlns:a="http://schemas.openxmlformats.org/drawingml/2006/main" cx="10820400" cy="3067050"/>
        </p:xfrm>
        <a:graphic xmlns:a="http://schemas.openxmlformats.org/drawingml/2006/main">
          <a:graphicData uri="http://schemas.openxmlformats.org/drawingml/2006/table">
            <a:tbl>
              <a:tblPr firstRow="0" bandRow="0"/>
              <a:tblGrid>
                <a:gridCol w="1298448"/>
                <a:gridCol w="4219956"/>
                <a:gridCol w="5301996"/>
              </a:tblGrid>
              <a:tr h="447675">
                <a:tc>
                  <a:txBody>
                    <a:bodyPr>
                      <a:noAutofit/>
                    </a:bodyPr>
                    <a:lstStyle/>
                    <a:p>
                      <a:r>
                        <a:rPr sz="1350" b="1">
                          <a:solidFill>
                            <a:srgbClr val="6E6E73"/>
                          </a:solidFill>
                          <a:latin typeface="Inter"/>
                          <a:ea typeface="Inter"/>
                          <a:cs typeface="Inter"/>
                        </a:rPr>
                        <a:t>Contrast</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Challenge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Observed boundary</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C06</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Optional provider still pending</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Local ON first</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C07</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Apparent recovery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Fresh measured window + OFF</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C08</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Different local channel types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Same site Root</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C09</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Delivery and replay ambiguity</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Exact acknowledgement; no permission reuse</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C10</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Policy/calibration changes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Current E and memory eligibility</a:t>
                      </a:r>
                    </a:p>
                  </a:txBody>
                  <a:tcPr marL="123825" marR="123825" marT="85725" marB="85725" anchor="ctr">
                    <a:solidFill>
                      <a:srgbClr val="FFFFFF"/>
                    </a:solidFill>
                  </a:tcPr>
                </a:tc>
              </a:tr>
            </a:tbl>
          </a:graphicData>
        </a:graphic>
      </p:graphicFrame>
      <p:sp>
        <p:nvSpPr>
          <p:cNvPr id="5" name="text-30-326">
            <a:extLst xmlns:a="http://schemas.openxmlformats.org/drawingml/2006/main">
              <a:ext uri="{FF2B5EF4-FFF2-40B4-BE49-F238E27FC236}">
                <a16:creationId xmlns:a16="http://schemas.microsoft.com/office/drawing/2014/main" id="{83776486-B4C7-4876-8A9C-B50FE2C56E1F}"/>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30-327">
            <a:extLst xmlns:a="http://schemas.openxmlformats.org/drawingml/2006/main">
              <a:ext uri="{FF2B5EF4-FFF2-40B4-BE49-F238E27FC236}">
                <a16:creationId xmlns:a16="http://schemas.microsoft.com/office/drawing/2014/main" id="{03098DC9-29A2-40B7-B1AA-68C2E51D52CE}"/>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30</a:t>
            </a:r>
          </a:p>
        </p:txBody>
      </p:sp>
    </p:spTree>
    <p:extLst>
      <p:ext uri="{BB962C8B-B14F-4D97-AF65-F5344CB8AC3E}">
        <p14:creationId xmlns:p14="http://schemas.microsoft.com/office/powerpoint/2010/main" val="545371674"/>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1-328">
            <a:extLst xmlns:a="http://schemas.openxmlformats.org/drawingml/2006/main">
              <a:ext uri="{FF2B5EF4-FFF2-40B4-BE49-F238E27FC236}">
                <a16:creationId xmlns:a16="http://schemas.microsoft.com/office/drawing/2014/main" id="{268DF4C5-BF9B-4864-A875-A44BC254A8AE}"/>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30 / THE PROOF PACKAGE</a:t>
            </a:r>
          </a:p>
        </p:txBody>
      </p:sp>
      <p:sp>
        <p:nvSpPr>
          <p:cNvPr id="2" name="text-31-329">
            <a:extLst xmlns:a="http://schemas.openxmlformats.org/drawingml/2006/main">
              <a:ext uri="{FF2B5EF4-FFF2-40B4-BE49-F238E27FC236}">
                <a16:creationId xmlns:a16="http://schemas.microsoft.com/office/drawing/2014/main" id="{01FBEE05-E02C-4D40-9C7E-03A6BFD7542E}"/>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An inspectable public derivative</a:t>
            </a:r>
          </a:p>
        </p:txBody>
      </p:sp>
      <p:sp>
        <p:nvSpPr>
          <p:cNvPr id="3" name="text-31-330">
            <a:extLst xmlns:a="http://schemas.openxmlformats.org/drawingml/2006/main">
              <a:ext uri="{FF2B5EF4-FFF2-40B4-BE49-F238E27FC236}">
                <a16:creationId xmlns:a16="http://schemas.microsoft.com/office/drawing/2014/main" id="{9E77C4DC-BF31-4164-BC6A-D2FA67CDA7F2}"/>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evidence map is broader than the frozen seal.</a:t>
            </a:r>
          </a:p>
        </p:txBody>
      </p:sp>
      <p:sp>
        <p:nvSpPr>
          <p:cNvPr id="4" name="text-31-331">
            <a:extLst xmlns:a="http://schemas.openxmlformats.org/drawingml/2006/main">
              <a:ext uri="{FF2B5EF4-FFF2-40B4-BE49-F238E27FC236}">
                <a16:creationId xmlns:a16="http://schemas.microsoft.com/office/drawing/2014/main" id="{90511BCD-6712-4AE5-A3DA-A631DAF9B87A}"/>
              </a:ext>
            </a:extLst>
          </p:cNvPr>
          <p:cNvSpPr>
            <a:spLocks xmlns:a="http://schemas.openxmlformats.org/drawingml/2006/main" noGrp="1"/>
          </p:cNvSpPr>
          <p:nvPr/>
        </p:nvSpPr>
        <p:spPr>
          <a:xfrm xmlns:a="http://schemas.openxmlformats.org/drawingml/2006/main">
            <a:off x="704850" y="25717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Public safe package: exact LS2R2 fields in a frozen projection, manifest and publication.</a:t>
            </a:r>
          </a:p>
        </p:txBody>
      </p:sp>
      <p:sp>
        <p:nvSpPr>
          <p:cNvPr id="5" name="text-31-332">
            <a:extLst xmlns:a="http://schemas.openxmlformats.org/drawingml/2006/main">
              <a:ext uri="{FF2B5EF4-FFF2-40B4-BE49-F238E27FC236}">
                <a16:creationId xmlns:a16="http://schemas.microsoft.com/office/drawing/2014/main" id="{19098B1F-8AFB-4394-8877-400D300112FD}"/>
              </a:ext>
            </a:extLst>
          </p:cNvPr>
          <p:cNvSpPr>
            <a:spLocks xmlns:a="http://schemas.openxmlformats.org/drawingml/2006/main" noGrp="1"/>
          </p:cNvSpPr>
          <p:nvPr/>
        </p:nvSpPr>
        <p:spPr>
          <a:xfrm xmlns:a="http://schemas.openxmlformats.org/drawingml/2006/main">
            <a:off x="704850" y="36385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Whole-story claim map: source archive/member/hash links with historical scope.</a:t>
            </a:r>
          </a:p>
        </p:txBody>
      </p:sp>
      <p:sp>
        <p:nvSpPr>
          <p:cNvPr id="6" name="text-31-333">
            <a:extLst xmlns:a="http://schemas.openxmlformats.org/drawingml/2006/main">
              <a:ext uri="{FF2B5EF4-FFF2-40B4-BE49-F238E27FC236}">
                <a16:creationId xmlns:a16="http://schemas.microsoft.com/office/drawing/2014/main" id="{31FC96DD-EB4B-495D-9EF9-CC61E660E105}"/>
              </a:ext>
            </a:extLst>
          </p:cNvPr>
          <p:cNvSpPr>
            <a:spLocks xmlns:a="http://schemas.openxmlformats.org/drawingml/2006/main" noGrp="1"/>
          </p:cNvSpPr>
          <p:nvPr/>
        </p:nvSpPr>
        <p:spPr>
          <a:xfrm xmlns:a="http://schemas.openxmlformats.org/drawingml/2006/main">
            <a:off x="704850" y="47053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325" b="0">
                <a:solidFill>
                  <a:srgbClr val="1D1D1F"/>
                </a:solidFill>
                <a:latin typeface="Inter"/>
                <a:ea typeface="Inter"/>
                <a:cs typeface="Inter"/>
              </a:defRPr>
            </a:pPr>
            <a:r>
              <a:rPr sz="2325" b="0">
                <a:solidFill>
                  <a:srgbClr val="1D1D1F"/>
                </a:solidFill>
                <a:latin typeface="Inter"/>
                <a:ea typeface="Inter"/>
                <a:cs typeface="Inter"/>
              </a:rPr>
              <a:t>Presentation and XML: new explanatory derivatives with their own identities.</a:t>
            </a:r>
          </a:p>
        </p:txBody>
      </p:sp>
      <p:sp>
        <p:nvSpPr>
          <p:cNvPr id="7" name="text-31-334">
            <a:extLst xmlns:a="http://schemas.openxmlformats.org/drawingml/2006/main">
              <a:ext uri="{FF2B5EF4-FFF2-40B4-BE49-F238E27FC236}">
                <a16:creationId xmlns:a16="http://schemas.microsoft.com/office/drawing/2014/main" id="{9FAA5851-CAC8-4524-A16F-9B93B5A04CCF}"/>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31-335">
            <a:extLst xmlns:a="http://schemas.openxmlformats.org/drawingml/2006/main">
              <a:ext uri="{FF2B5EF4-FFF2-40B4-BE49-F238E27FC236}">
                <a16:creationId xmlns:a16="http://schemas.microsoft.com/office/drawing/2014/main" id="{58280D16-2B8E-4FC4-8138-BED9970B50A6}"/>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31</a:t>
            </a:r>
          </a:p>
        </p:txBody>
      </p:sp>
    </p:spTree>
    <p:extLst>
      <p:ext uri="{BB962C8B-B14F-4D97-AF65-F5344CB8AC3E}">
        <p14:creationId xmlns:p14="http://schemas.microsoft.com/office/powerpoint/2010/main" val="2049397859"/>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32-336">
            <a:extLst xmlns:a="http://schemas.openxmlformats.org/drawingml/2006/main">
              <a:ext uri="{FF2B5EF4-FFF2-40B4-BE49-F238E27FC236}">
                <a16:creationId xmlns:a16="http://schemas.microsoft.com/office/drawing/2014/main" id="{46492183-4A1A-419F-A7A6-3822766922C1}"/>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31 / INDEPENDENT REPLAY</a:t>
            </a:r>
          </a:p>
        </p:txBody>
      </p:sp>
      <p:sp>
        <p:nvSpPr>
          <p:cNvPr id="2" name="text-32-337">
            <a:extLst xmlns:a="http://schemas.openxmlformats.org/drawingml/2006/main">
              <a:ext uri="{FF2B5EF4-FFF2-40B4-BE49-F238E27FC236}">
                <a16:creationId xmlns:a16="http://schemas.microsoft.com/office/drawing/2014/main" id="{72AD8E48-E0C9-44DE-B069-516D11AAC61D}"/>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Independent pin verification</a:t>
            </a:r>
          </a:p>
        </p:txBody>
      </p:sp>
      <p:sp>
        <p:nvSpPr>
          <p:cNvPr id="3" name="text-32-338">
            <a:extLst xmlns:a="http://schemas.openxmlformats.org/drawingml/2006/main">
              <a:ext uri="{FF2B5EF4-FFF2-40B4-BE49-F238E27FC236}">
                <a16:creationId xmlns:a16="http://schemas.microsoft.com/office/drawing/2014/main" id="{813D5D94-33E7-4B86-B34F-2EC4A01AD5BC}"/>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Verification consumes saved evidence, not new model calls.</a:t>
            </a:r>
          </a:p>
        </p:txBody>
      </p:sp>
      <p:sp>
        <p:nvSpPr>
          <p:cNvPr id="4" name="">
            <a:extLst xmlns:a="http://schemas.openxmlformats.org/drawingml/2006/main">
              <a:ext uri="{FF2B5EF4-FFF2-40B4-BE49-F238E27FC236}">
                <a16:creationId xmlns:a16="http://schemas.microsoft.com/office/drawing/2014/main" id="{C90E23BF-FA21-43CF-BFE0-0205E0E4018B}"/>
              </a:ext>
            </a:extLst>
          </p:cNvPr>
          <p:cNvSpPr>
            <a:spLocks xmlns:a="http://schemas.openxmlformats.org/drawingml/2006/main" noGrp="1"/>
          </p:cNvSpPr>
          <p:nvPr/>
        </p:nvSpPr>
        <p:spPr>
          <a:xfrm xmlns:a="http://schemas.openxmlformats.org/drawingml/2006/main">
            <a:off x="704850" y="2962275"/>
            <a:ext cx="10763250" cy="0"/>
          </a:xfrm>
          <a:prstGeom xmlns:a="http://schemas.openxmlformats.org/drawingml/2006/main" prst="line">
            <a:avLst/>
          </a:prstGeom>
          <a:noFill xmlns:a="http://schemas.openxmlformats.org/drawingml/2006/main"/>
          <a:ln xmlns:a="http://schemas.openxmlformats.org/drawingml/2006/main" w="19050">
            <a:solidFill>
              <a:srgbClr val="D2D2D7"/>
            </a:solidFill>
          </a:ln>
        </p:spPr>
      </p:sp>
      <p:sp>
        <p:nvSpPr>
          <p:cNvPr id="5" name="text-32-339">
            <a:extLst xmlns:a="http://schemas.openxmlformats.org/drawingml/2006/main">
              <a:ext uri="{FF2B5EF4-FFF2-40B4-BE49-F238E27FC236}">
                <a16:creationId xmlns:a16="http://schemas.microsoft.com/office/drawing/2014/main" id="{4CC57252-23C9-451B-A7CA-1F2A0157A9BD}"/>
              </a:ext>
            </a:extLst>
          </p:cNvPr>
          <p:cNvSpPr>
            <a:spLocks xmlns:a="http://schemas.openxmlformats.org/drawingml/2006/main" noGrp="1"/>
          </p:cNvSpPr>
          <p:nvPr/>
        </p:nvSpPr>
        <p:spPr>
          <a:xfrm xmlns:a="http://schemas.openxmlformats.org/drawingml/2006/main">
            <a:off x="685800"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01</a:t>
            </a:r>
          </a:p>
        </p:txBody>
      </p:sp>
      <p:sp>
        <p:nvSpPr>
          <p:cNvPr id="6" name="text-32-340">
            <a:extLst xmlns:a="http://schemas.openxmlformats.org/drawingml/2006/main">
              <a:ext uri="{FF2B5EF4-FFF2-40B4-BE49-F238E27FC236}">
                <a16:creationId xmlns:a16="http://schemas.microsoft.com/office/drawing/2014/main" id="{1C914A84-E5D4-4A3E-A538-398AE2BFCB3B}"/>
              </a:ext>
            </a:extLst>
          </p:cNvPr>
          <p:cNvSpPr>
            <a:spLocks xmlns:a="http://schemas.openxmlformats.org/drawingml/2006/main" noGrp="1"/>
          </p:cNvSpPr>
          <p:nvPr/>
        </p:nvSpPr>
        <p:spPr>
          <a:xfrm xmlns:a="http://schemas.openxmlformats.org/drawingml/2006/main">
            <a:off x="685800"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External pin</a:t>
            </a:r>
          </a:p>
        </p:txBody>
      </p:sp>
      <p:sp>
        <p:nvSpPr>
          <p:cNvPr id="7" name="text-32-341">
            <a:extLst xmlns:a="http://schemas.openxmlformats.org/drawingml/2006/main">
              <a:ext uri="{FF2B5EF4-FFF2-40B4-BE49-F238E27FC236}">
                <a16:creationId xmlns:a16="http://schemas.microsoft.com/office/drawing/2014/main" id="{881E1DF2-FC58-41CD-B230-63B102D7D82F}"/>
              </a:ext>
            </a:extLst>
          </p:cNvPr>
          <p:cNvSpPr>
            <a:spLocks xmlns:a="http://schemas.openxmlformats.org/drawingml/2006/main" noGrp="1"/>
          </p:cNvSpPr>
          <p:nvPr/>
        </p:nvSpPr>
        <p:spPr>
          <a:xfrm xmlns:a="http://schemas.openxmlformats.org/drawingml/2006/main">
            <a:off x="685800"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Independent expected identity</a:t>
            </a:r>
          </a:p>
        </p:txBody>
      </p:sp>
      <p:sp>
        <p:nvSpPr>
          <p:cNvPr id="8" name="text-32-342">
            <a:extLst xmlns:a="http://schemas.openxmlformats.org/drawingml/2006/main">
              <a:ext uri="{FF2B5EF4-FFF2-40B4-BE49-F238E27FC236}">
                <a16:creationId xmlns:a16="http://schemas.microsoft.com/office/drawing/2014/main" id="{1E2450E4-E0FA-4F74-AA8B-44EF02CC47A1}"/>
              </a:ext>
            </a:extLst>
          </p:cNvPr>
          <p:cNvSpPr>
            <a:spLocks xmlns:a="http://schemas.openxmlformats.org/drawingml/2006/main" noGrp="1"/>
          </p:cNvSpPr>
          <p:nvPr/>
        </p:nvSpPr>
        <p:spPr>
          <a:xfrm xmlns:a="http://schemas.openxmlformats.org/drawingml/2006/main">
            <a:off x="3469481"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02</a:t>
            </a:r>
          </a:p>
        </p:txBody>
      </p:sp>
      <p:sp>
        <p:nvSpPr>
          <p:cNvPr id="9" name="text-32-343">
            <a:extLst xmlns:a="http://schemas.openxmlformats.org/drawingml/2006/main">
              <a:ext uri="{FF2B5EF4-FFF2-40B4-BE49-F238E27FC236}">
                <a16:creationId xmlns:a16="http://schemas.microsoft.com/office/drawing/2014/main" id="{AA308921-69F6-425C-97AA-D1BF731138C2}"/>
              </a:ext>
            </a:extLst>
          </p:cNvPr>
          <p:cNvSpPr>
            <a:spLocks xmlns:a="http://schemas.openxmlformats.org/drawingml/2006/main" noGrp="1"/>
          </p:cNvSpPr>
          <p:nvPr/>
        </p:nvSpPr>
        <p:spPr>
          <a:xfrm xmlns:a="http://schemas.openxmlformats.org/drawingml/2006/main">
            <a:off x="3469481"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Reopen bytes</a:t>
            </a:r>
          </a:p>
        </p:txBody>
      </p:sp>
      <p:sp>
        <p:nvSpPr>
          <p:cNvPr id="10" name="text-32-344">
            <a:extLst xmlns:a="http://schemas.openxmlformats.org/drawingml/2006/main">
              <a:ext uri="{FF2B5EF4-FFF2-40B4-BE49-F238E27FC236}">
                <a16:creationId xmlns:a16="http://schemas.microsoft.com/office/drawing/2014/main" id="{6E827BDC-EE8B-4313-8880-B6EA9BF3D6B2}"/>
              </a:ext>
            </a:extLst>
          </p:cNvPr>
          <p:cNvSpPr>
            <a:spLocks xmlns:a="http://schemas.openxmlformats.org/drawingml/2006/main" noGrp="1"/>
          </p:cNvSpPr>
          <p:nvPr/>
        </p:nvSpPr>
        <p:spPr>
          <a:xfrm xmlns:a="http://schemas.openxmlformats.org/drawingml/2006/main">
            <a:off x="3469481"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Manifest and publication</a:t>
            </a:r>
          </a:p>
        </p:txBody>
      </p:sp>
      <p:sp>
        <p:nvSpPr>
          <p:cNvPr id="11" name="text-32-345">
            <a:extLst xmlns:a="http://schemas.openxmlformats.org/drawingml/2006/main">
              <a:ext uri="{FF2B5EF4-FFF2-40B4-BE49-F238E27FC236}">
                <a16:creationId xmlns:a16="http://schemas.microsoft.com/office/drawing/2014/main" id="{CFDC0A7F-15D3-44D0-B404-27CFA62F64F0}"/>
              </a:ext>
            </a:extLst>
          </p:cNvPr>
          <p:cNvSpPr>
            <a:spLocks xmlns:a="http://schemas.openxmlformats.org/drawingml/2006/main" noGrp="1"/>
          </p:cNvSpPr>
          <p:nvPr/>
        </p:nvSpPr>
        <p:spPr>
          <a:xfrm xmlns:a="http://schemas.openxmlformats.org/drawingml/2006/main">
            <a:off x="6253163"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03</a:t>
            </a:r>
          </a:p>
        </p:txBody>
      </p:sp>
      <p:sp>
        <p:nvSpPr>
          <p:cNvPr id="12" name="text-32-346">
            <a:extLst xmlns:a="http://schemas.openxmlformats.org/drawingml/2006/main">
              <a:ext uri="{FF2B5EF4-FFF2-40B4-BE49-F238E27FC236}">
                <a16:creationId xmlns:a16="http://schemas.microsoft.com/office/drawing/2014/main" id="{544810F2-779D-4B6E-BBF7-1385C79C39F1}"/>
              </a:ext>
            </a:extLst>
          </p:cNvPr>
          <p:cNvSpPr>
            <a:spLocks xmlns:a="http://schemas.openxmlformats.org/drawingml/2006/main" noGrp="1"/>
          </p:cNvSpPr>
          <p:nvPr/>
        </p:nvSpPr>
        <p:spPr>
          <a:xfrm xmlns:a="http://schemas.openxmlformats.org/drawingml/2006/main">
            <a:off x="6253163"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Check relations</a:t>
            </a:r>
          </a:p>
        </p:txBody>
      </p:sp>
      <p:sp>
        <p:nvSpPr>
          <p:cNvPr id="13" name="text-32-347">
            <a:extLst xmlns:a="http://schemas.openxmlformats.org/drawingml/2006/main">
              <a:ext uri="{FF2B5EF4-FFF2-40B4-BE49-F238E27FC236}">
                <a16:creationId xmlns:a16="http://schemas.microsoft.com/office/drawing/2014/main" id="{AFD98450-378E-4FAD-BA66-5A1467AFA3BA}"/>
              </a:ext>
            </a:extLst>
          </p:cNvPr>
          <p:cNvSpPr>
            <a:spLocks xmlns:a="http://schemas.openxmlformats.org/drawingml/2006/main" noGrp="1"/>
          </p:cNvSpPr>
          <p:nvPr/>
        </p:nvSpPr>
        <p:spPr>
          <a:xfrm xmlns:a="http://schemas.openxmlformats.org/drawingml/2006/main">
            <a:off x="6253163"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Supported safe projection</a:t>
            </a:r>
          </a:p>
        </p:txBody>
      </p:sp>
      <p:sp>
        <p:nvSpPr>
          <p:cNvPr id="14" name="text-32-348">
            <a:extLst xmlns:a="http://schemas.openxmlformats.org/drawingml/2006/main">
              <a:ext uri="{FF2B5EF4-FFF2-40B4-BE49-F238E27FC236}">
                <a16:creationId xmlns:a16="http://schemas.microsoft.com/office/drawing/2014/main" id="{BD44160B-184B-4EDF-BACD-C8651FBCF479}"/>
              </a:ext>
            </a:extLst>
          </p:cNvPr>
          <p:cNvSpPr>
            <a:spLocks xmlns:a="http://schemas.openxmlformats.org/drawingml/2006/main" noGrp="1"/>
          </p:cNvSpPr>
          <p:nvPr/>
        </p:nvSpPr>
        <p:spPr>
          <a:xfrm xmlns:a="http://schemas.openxmlformats.org/drawingml/2006/main">
            <a:off x="9036844" y="2381250"/>
            <a:ext cx="2469356"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0071E3"/>
                </a:solidFill>
                <a:latin typeface="Inter"/>
                <a:ea typeface="Inter"/>
                <a:cs typeface="Inter"/>
              </a:defRPr>
            </a:pPr>
            <a:r>
              <a:rPr sz="3525" b="1">
                <a:solidFill>
                  <a:srgbClr val="0071E3"/>
                </a:solidFill>
                <a:latin typeface="Inter"/>
                <a:ea typeface="Inter"/>
                <a:cs typeface="Inter"/>
              </a:rPr>
              <a:t>04</a:t>
            </a:r>
          </a:p>
        </p:txBody>
      </p:sp>
      <p:sp>
        <p:nvSpPr>
          <p:cNvPr id="15" name="text-32-349">
            <a:extLst xmlns:a="http://schemas.openxmlformats.org/drawingml/2006/main">
              <a:ext uri="{FF2B5EF4-FFF2-40B4-BE49-F238E27FC236}">
                <a16:creationId xmlns:a16="http://schemas.microsoft.com/office/drawing/2014/main" id="{CFF68CDF-4C34-4AA0-8643-195667EFC3FE}"/>
              </a:ext>
            </a:extLst>
          </p:cNvPr>
          <p:cNvSpPr>
            <a:spLocks xmlns:a="http://schemas.openxmlformats.org/drawingml/2006/main" noGrp="1"/>
          </p:cNvSpPr>
          <p:nvPr/>
        </p:nvSpPr>
        <p:spPr>
          <a:xfrm xmlns:a="http://schemas.openxmlformats.org/drawingml/2006/main">
            <a:off x="9036844" y="3295650"/>
            <a:ext cx="2469356"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950" b="1">
                <a:solidFill>
                  <a:srgbClr val="1D1D1F"/>
                </a:solidFill>
                <a:latin typeface="Inter"/>
                <a:ea typeface="Inter"/>
                <a:cs typeface="Inter"/>
              </a:defRPr>
            </a:pPr>
            <a:r>
              <a:rPr sz="1950" b="1">
                <a:solidFill>
                  <a:srgbClr val="1D1D1F"/>
                </a:solidFill>
                <a:latin typeface="Inter"/>
                <a:ea typeface="Inter"/>
                <a:cs typeface="Inter"/>
              </a:rPr>
              <a:t>PASS / refusal</a:t>
            </a:r>
          </a:p>
        </p:txBody>
      </p:sp>
      <p:sp>
        <p:nvSpPr>
          <p:cNvPr id="16" name="text-32-350">
            <a:extLst xmlns:a="http://schemas.openxmlformats.org/drawingml/2006/main">
              <a:ext uri="{FF2B5EF4-FFF2-40B4-BE49-F238E27FC236}">
                <a16:creationId xmlns:a16="http://schemas.microsoft.com/office/drawing/2014/main" id="{FBBDC4CC-C219-4C3E-924B-9E28ED996722}"/>
              </a:ext>
            </a:extLst>
          </p:cNvPr>
          <p:cNvSpPr>
            <a:spLocks xmlns:a="http://schemas.openxmlformats.org/drawingml/2006/main" noGrp="1"/>
          </p:cNvSpPr>
          <p:nvPr/>
        </p:nvSpPr>
        <p:spPr>
          <a:xfrm xmlns:a="http://schemas.openxmlformats.org/drawingml/2006/main">
            <a:off x="9036844" y="4257675"/>
            <a:ext cx="2469356"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No new external execution</a:t>
            </a:r>
          </a:p>
        </p:txBody>
      </p:sp>
      <p:sp>
        <p:nvSpPr>
          <p:cNvPr id="17" name="text-32-351">
            <a:extLst xmlns:a="http://schemas.openxmlformats.org/drawingml/2006/main">
              <a:ext uri="{FF2B5EF4-FFF2-40B4-BE49-F238E27FC236}">
                <a16:creationId xmlns:a16="http://schemas.microsoft.com/office/drawing/2014/main" id="{B5AD4D8D-C163-46B3-AFF7-CDFEF7E6CC2C}"/>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8" name="text-32-352">
            <a:extLst xmlns:a="http://schemas.openxmlformats.org/drawingml/2006/main">
              <a:ext uri="{FF2B5EF4-FFF2-40B4-BE49-F238E27FC236}">
                <a16:creationId xmlns:a16="http://schemas.microsoft.com/office/drawing/2014/main" id="{00F5EC80-0659-4AE4-B4AB-A5D02A18E2C5}"/>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32</a:t>
            </a:r>
          </a:p>
        </p:txBody>
      </p:sp>
    </p:spTree>
    <p:extLst>
      <p:ext uri="{BB962C8B-B14F-4D97-AF65-F5344CB8AC3E}">
        <p14:creationId xmlns:p14="http://schemas.microsoft.com/office/powerpoint/2010/main" val="1674100594"/>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33-353">
            <a:extLst xmlns:a="http://schemas.openxmlformats.org/drawingml/2006/main">
              <a:ext uri="{FF2B5EF4-FFF2-40B4-BE49-F238E27FC236}">
                <a16:creationId xmlns:a16="http://schemas.microsoft.com/office/drawing/2014/main" id="{EDB00351-7E86-4A5D-A693-BD38ACE38087}"/>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32 / MEASURED SCOPES</a:t>
            </a:r>
          </a:p>
        </p:txBody>
      </p:sp>
      <p:sp>
        <p:nvSpPr>
          <p:cNvPr id="2" name="text-33-354">
            <a:extLst xmlns:a="http://schemas.openxmlformats.org/drawingml/2006/main">
              <a:ext uri="{FF2B5EF4-FFF2-40B4-BE49-F238E27FC236}">
                <a16:creationId xmlns:a16="http://schemas.microsoft.com/office/drawing/2014/main" id="{FD314ABF-AB70-4FFB-980F-E9765FFA72FD}"/>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Minutes where work is actually performed</a:t>
            </a:r>
          </a:p>
        </p:txBody>
      </p:sp>
      <p:sp>
        <p:nvSpPr>
          <p:cNvPr id="3" name="text-33-355">
            <a:extLst xmlns:a="http://schemas.openxmlformats.org/drawingml/2006/main">
              <a:ext uri="{FF2B5EF4-FFF2-40B4-BE49-F238E27FC236}">
                <a16:creationId xmlns:a16="http://schemas.microsoft.com/office/drawing/2014/main" id="{778A4480-D7C9-4BC4-B14E-DD7E24A36A91}"/>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The timings describe separate observed scopes.</a:t>
            </a:r>
          </a:p>
        </p:txBody>
      </p:sp>
      <p:graphicFrame>
        <p:nvGraphicFramePr>
          <p:cNvPr id="10" name=""/>
          <p:cNvGraphicFramePr/>
          <p:nvPr/>
        </p:nvGraphicFramePr>
        <p:xfrm>
          <a:off xmlns:a="http://schemas.openxmlformats.org/drawingml/2006/main" x="685800" y="2162175"/>
          <a:ext xmlns:a="http://schemas.openxmlformats.org/drawingml/2006/main" cx="10820400" cy="3067050"/>
        </p:xfrm>
        <a:graphic xmlns:a="http://schemas.openxmlformats.org/drawingml/2006/main">
          <a:graphicData uri="http://schemas.openxmlformats.org/drawingml/2006/table">
            <a:tbl>
              <a:tblPr firstRow="0" bandRow="0"/>
              <a:tblGrid>
                <a:gridCol w="3462528"/>
                <a:gridCol w="1947672"/>
                <a:gridCol w="5410200"/>
              </a:tblGrid>
              <a:tr h="447675">
                <a:tc>
                  <a:txBody>
                    <a:bodyPr>
                      <a:noAutofit/>
                    </a:bodyPr>
                    <a:lstStyle/>
                    <a:p>
                      <a:r>
                        <a:rPr sz="1350" b="1">
                          <a:solidFill>
                            <a:srgbClr val="6E6E73"/>
                          </a:solidFill>
                          <a:latin typeface="Inter"/>
                          <a:ea typeface="Inter"/>
                          <a:cs typeface="Inter"/>
                        </a:rPr>
                        <a:t>Observed scope</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Elapsed</a:t>
                      </a:r>
                    </a:p>
                  </a:txBody>
                  <a:tcPr marL="123825" marR="123825" marT="85725" marB="85725" anchor="ctr">
                    <a:solidFill>
                      <a:srgbClr val="F5F5F7"/>
                    </a:solidFill>
                  </a:tcPr>
                </a:tc>
                <a:tc>
                  <a:txBody>
                    <a:bodyPr>
                      <a:noAutofit/>
                    </a:bodyPr>
                    <a:lstStyle/>
                    <a:p>
                      <a:r>
                        <a:rPr sz="1350" b="1">
                          <a:solidFill>
                            <a:srgbClr val="6E6E73"/>
                          </a:solidFill>
                          <a:latin typeface="Inter"/>
                          <a:ea typeface="Inter"/>
                          <a:cs typeface="Inter"/>
                        </a:rPr>
                        <a:t>Interpretation</a:t>
                      </a:r>
                    </a:p>
                  </a:txBody>
                  <a:tcPr marL="123825" marR="123825" marT="85725" marB="85725" anchor="ctr">
                    <a:solidFill>
                      <a:srgbClr val="F5F5F7"/>
                    </a:solidFill>
                  </a:tcPr>
                </a:tc>
              </a:tr>
              <a:tr h="523875">
                <a:tc>
                  <a:txBody>
                    <a:bodyPr>
                      <a:noAutofit/>
                    </a:bodyPr>
                    <a:lstStyle/>
                    <a:p>
                      <a:r>
                        <a:rPr sz="1650" b="0">
                          <a:solidFill>
                            <a:srgbClr val="1D1D1F"/>
                          </a:solidFill>
                          <a:latin typeface="Inter"/>
                          <a:ea typeface="Inter"/>
                          <a:cs typeface="Inter"/>
                        </a:rPr>
                        <a:t>Latest live stage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205.70 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Includes 5 Gemini calls and 1 D</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Its common D</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100.55 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Subset of that stage</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Its Gemini calls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67.42 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Sum of the 5 provider durations</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Earlier policy 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242.59 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Different recorded experiment</a:t>
                      </a:r>
                    </a:p>
                  </a:txBody>
                  <a:tcPr marL="123825" marR="123825" marT="85725" marB="85725" anchor="ctr">
                    <a:solidFill>
                      <a:srgbClr val="FFFFFF"/>
                    </a:solidFill>
                  </a:tcPr>
                </a:tc>
              </a:tr>
              <a:tr h="523875">
                <a:tc>
                  <a:txBody>
                    <a:bodyPr>
                      <a:noAutofit/>
                    </a:bodyPr>
                    <a:lstStyle/>
                    <a:p>
                      <a:r>
                        <a:rPr sz="1650" b="0">
                          <a:solidFill>
                            <a:srgbClr val="1D1D1F"/>
                          </a:solidFill>
                          <a:latin typeface="Inter"/>
                          <a:ea typeface="Inter"/>
                          <a:cs typeface="Inter"/>
                        </a:rPr>
                        <a:t>Earlier policy stage</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381.19 s</a:t>
                      </a:r>
                    </a:p>
                  </a:txBody>
                  <a:tcPr marL="123825" marR="123825" marT="85725" marB="85725" anchor="ctr">
                    <a:solidFill>
                      <a:srgbClr val="FFFFFF"/>
                    </a:solidFill>
                  </a:tcPr>
                </a:tc>
                <a:tc>
                  <a:txBody>
                    <a:bodyPr>
                      <a:noAutofit/>
                    </a:bodyPr>
                    <a:lstStyle/>
                    <a:p>
                      <a:r>
                        <a:rPr sz="1650" b="0">
                          <a:solidFill>
                            <a:srgbClr val="1D1D1F"/>
                          </a:solidFill>
                          <a:latin typeface="Inter"/>
                          <a:ea typeface="Inter"/>
                          <a:cs typeface="Inter"/>
                        </a:rPr>
                        <a:t>Includes D/E and checks</a:t>
                      </a:r>
                    </a:p>
                  </a:txBody>
                  <a:tcPr marL="123825" marR="123825" marT="85725" marB="85725" anchor="ctr">
                    <a:solidFill>
                      <a:srgbClr val="FFFFFF"/>
                    </a:solidFill>
                  </a:tcPr>
                </a:tc>
              </a:tr>
            </a:tbl>
          </a:graphicData>
        </a:graphic>
      </p:graphicFrame>
      <p:sp>
        <p:nvSpPr>
          <p:cNvPr id="5" name="text-33-357">
            <a:extLst xmlns:a="http://schemas.openxmlformats.org/drawingml/2006/main">
              <a:ext uri="{FF2B5EF4-FFF2-40B4-BE49-F238E27FC236}">
                <a16:creationId xmlns:a16="http://schemas.microsoft.com/office/drawing/2014/main" id="{602484FD-4110-4904-94DD-3B1577514E46}"/>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6" name="text-33-358">
            <a:extLst xmlns:a="http://schemas.openxmlformats.org/drawingml/2006/main">
              <a:ext uri="{FF2B5EF4-FFF2-40B4-BE49-F238E27FC236}">
                <a16:creationId xmlns:a16="http://schemas.microsoft.com/office/drawing/2014/main" id="{C0836108-7231-4848-8EAE-79F9FCE11006}"/>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33</a:t>
            </a:r>
          </a:p>
        </p:txBody>
      </p:sp>
    </p:spTree>
    <p:extLst>
      <p:ext uri="{BB962C8B-B14F-4D97-AF65-F5344CB8AC3E}">
        <p14:creationId xmlns:p14="http://schemas.microsoft.com/office/powerpoint/2010/main" val="404659971"/>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4-359">
            <a:extLst xmlns:a="http://schemas.openxmlformats.org/drawingml/2006/main">
              <a:ext uri="{FF2B5EF4-FFF2-40B4-BE49-F238E27FC236}">
                <a16:creationId xmlns:a16="http://schemas.microsoft.com/office/drawing/2014/main" id="{2DEB6DB4-CF6D-4757-BBF5-1B365D46610D}"/>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33 / SOURCE ADMISSION</a:t>
            </a:r>
          </a:p>
        </p:txBody>
      </p:sp>
      <p:sp>
        <p:nvSpPr>
          <p:cNvPr id="2" name="text-34-360">
            <a:extLst xmlns:a="http://schemas.openxmlformats.org/drawingml/2006/main">
              <a:ext uri="{FF2B5EF4-FFF2-40B4-BE49-F238E27FC236}">
                <a16:creationId xmlns:a16="http://schemas.microsoft.com/office/drawing/2014/main" id="{B1807FB7-E222-4995-AF9E-FD533E905B87}"/>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The implementation is in main</a:t>
            </a:r>
          </a:p>
        </p:txBody>
      </p:sp>
      <p:sp>
        <p:nvSpPr>
          <p:cNvPr id="3" name="text-34-361">
            <a:extLst xmlns:a="http://schemas.openxmlformats.org/drawingml/2006/main">
              <a:ext uri="{FF2B5EF4-FFF2-40B4-BE49-F238E27FC236}">
                <a16:creationId xmlns:a16="http://schemas.microsoft.com/office/drawing/2014/main" id="{A12F0CA2-16DA-4971-856B-BB1236F01205}"/>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Commit 2f328be binds the landed demonstration.</a:t>
            </a:r>
          </a:p>
        </p:txBody>
      </p:sp>
      <p:sp>
        <p:nvSpPr>
          <p:cNvPr id="4" name="text-34-362">
            <a:extLst xmlns:a="http://schemas.openxmlformats.org/drawingml/2006/main">
              <a:ext uri="{FF2B5EF4-FFF2-40B4-BE49-F238E27FC236}">
                <a16:creationId xmlns:a16="http://schemas.microsoft.com/office/drawing/2014/main" id="{6AAD2863-7896-4C85-8FE3-BC4474CD888D}"/>
              </a:ext>
            </a:extLst>
          </p:cNvPr>
          <p:cNvSpPr>
            <a:spLocks xmlns:a="http://schemas.openxmlformats.org/drawingml/2006/main" noGrp="1"/>
          </p:cNvSpPr>
          <p:nvPr/>
        </p:nvSpPr>
        <p:spPr>
          <a:xfrm xmlns:a="http://schemas.openxmlformats.org/drawingml/2006/main">
            <a:off x="704850" y="2581275"/>
            <a:ext cx="1062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1D1D1F"/>
                </a:solidFill>
                <a:latin typeface="Inter"/>
                <a:ea typeface="Inter"/>
                <a:cs typeface="Inter"/>
              </a:defRPr>
            </a:pPr>
            <a:r>
              <a:rPr sz="2550" b="0">
                <a:solidFill>
                  <a:srgbClr val="1D1D1F"/>
                </a:solidFill>
                <a:latin typeface="Inter"/>
                <a:ea typeface="Inter"/>
                <a:cs typeface="Inter"/>
              </a:rPr>
              <a:t>46 landed files; 1,015 protected base files preserved.</a:t>
            </a:r>
          </a:p>
        </p:txBody>
      </p:sp>
      <p:sp>
        <p:nvSpPr>
          <p:cNvPr id="5" name="text-34-363">
            <a:extLst xmlns:a="http://schemas.openxmlformats.org/drawingml/2006/main">
              <a:ext uri="{FF2B5EF4-FFF2-40B4-BE49-F238E27FC236}">
                <a16:creationId xmlns:a16="http://schemas.microsoft.com/office/drawing/2014/main" id="{2F476020-E97D-4356-B0B1-1B13B6C96BB1}"/>
              </a:ext>
            </a:extLst>
          </p:cNvPr>
          <p:cNvSpPr>
            <a:spLocks xmlns:a="http://schemas.openxmlformats.org/drawingml/2006/main" noGrp="1"/>
          </p:cNvSpPr>
          <p:nvPr/>
        </p:nvSpPr>
        <p:spPr>
          <a:xfrm xmlns:a="http://schemas.openxmlformats.org/drawingml/2006/main">
            <a:off x="704850" y="3314700"/>
            <a:ext cx="106203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1D1D1F"/>
                </a:solidFill>
                <a:latin typeface="Inter"/>
                <a:ea typeface="Inter"/>
                <a:cs typeface="Inter"/>
              </a:defRPr>
            </a:pPr>
            <a:r>
              <a:rPr sz="2550" b="0">
                <a:solidFill>
                  <a:srgbClr val="1D1D1F"/>
                </a:solidFill>
                <a:latin typeface="Inter"/>
                <a:ea typeface="Inter"/>
                <a:cs typeface="Inter"/>
              </a:rPr>
              <a:t>Admission, 9 Living registrations, release binder and replay passed.</a:t>
            </a:r>
          </a:p>
        </p:txBody>
      </p:sp>
      <p:sp>
        <p:nvSpPr>
          <p:cNvPr id="6" name="text-34-364">
            <a:extLst xmlns:a="http://schemas.openxmlformats.org/drawingml/2006/main">
              <a:ext uri="{FF2B5EF4-FFF2-40B4-BE49-F238E27FC236}">
                <a16:creationId xmlns:a16="http://schemas.microsoft.com/office/drawing/2014/main" id="{7929F31F-1C18-4955-9DDF-7EA891B51305}"/>
              </a:ext>
            </a:extLst>
          </p:cNvPr>
          <p:cNvSpPr>
            <a:spLocks xmlns:a="http://schemas.openxmlformats.org/drawingml/2006/main" noGrp="1"/>
          </p:cNvSpPr>
          <p:nvPr/>
        </p:nvSpPr>
        <p:spPr>
          <a:xfrm xmlns:a="http://schemas.openxmlformats.org/drawingml/2006/main">
            <a:off x="704850" y="4448175"/>
            <a:ext cx="10620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550" b="0">
                <a:solidFill>
                  <a:srgbClr val="1D1D1F"/>
                </a:solidFill>
                <a:latin typeface="Inter"/>
                <a:ea typeface="Inter"/>
                <a:cs typeface="Inter"/>
              </a:defRPr>
            </a:pPr>
            <a:r>
              <a:rPr sz="2550" b="0">
                <a:solidFill>
                  <a:srgbClr val="1D1D1F"/>
                </a:solidFill>
                <a:latin typeface="Inter"/>
                <a:ea typeface="Inter"/>
                <a:cs typeface="Inter"/>
              </a:rPr>
              <a:t>Source commit 2f328be; ordinary push; clean owner tree.</a:t>
            </a:r>
          </a:p>
        </p:txBody>
      </p:sp>
      <p:sp>
        <p:nvSpPr>
          <p:cNvPr id="7" name="text-34-365">
            <a:extLst xmlns:a="http://schemas.openxmlformats.org/drawingml/2006/main">
              <a:ext uri="{FF2B5EF4-FFF2-40B4-BE49-F238E27FC236}">
                <a16:creationId xmlns:a16="http://schemas.microsoft.com/office/drawing/2014/main" id="{9F2A7967-0EF7-4263-A336-CCBCAA0718FE}"/>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34-366">
            <a:extLst xmlns:a="http://schemas.openxmlformats.org/drawingml/2006/main">
              <a:ext uri="{FF2B5EF4-FFF2-40B4-BE49-F238E27FC236}">
                <a16:creationId xmlns:a16="http://schemas.microsoft.com/office/drawing/2014/main" id="{FF4FFC3D-1CE3-4175-9974-D6A39AB5AD6A}"/>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34</a:t>
            </a:r>
          </a:p>
        </p:txBody>
      </p:sp>
    </p:spTree>
    <p:extLst>
      <p:ext uri="{BB962C8B-B14F-4D97-AF65-F5344CB8AC3E}">
        <p14:creationId xmlns:p14="http://schemas.microsoft.com/office/powerpoint/2010/main" val="514089418"/>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35-367">
            <a:extLst xmlns:a="http://schemas.openxmlformats.org/drawingml/2006/main">
              <a:ext uri="{FF2B5EF4-FFF2-40B4-BE49-F238E27FC236}">
                <a16:creationId xmlns:a16="http://schemas.microsoft.com/office/drawing/2014/main" id="{3CB98E1F-0ED5-4493-8FA5-37154A463BA8}"/>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34 / WHAT THIS ESTABLISHES</a:t>
            </a:r>
          </a:p>
        </p:txBody>
      </p:sp>
      <p:sp>
        <p:nvSpPr>
          <p:cNvPr id="2" name="text-35-368">
            <a:extLst xmlns:a="http://schemas.openxmlformats.org/drawingml/2006/main">
              <a:ext uri="{FF2B5EF4-FFF2-40B4-BE49-F238E27FC236}">
                <a16:creationId xmlns:a16="http://schemas.microsoft.com/office/drawing/2014/main" id="{1379F99B-1CDE-4D95-8547-49BACBFFBE4A}"/>
              </a:ext>
            </a:extLst>
          </p:cNvPr>
          <p:cNvSpPr>
            <a:spLocks xmlns:a="http://schemas.openxmlformats.org/drawingml/2006/main" noGrp="1"/>
          </p:cNvSpPr>
          <p:nvPr/>
        </p:nvSpPr>
        <p:spPr>
          <a:xfrm xmlns:a="http://schemas.openxmlformats.org/drawingml/2006/main">
            <a:off x="666750" y="895350"/>
            <a:ext cx="108204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A demonstrated coordination primitive</a:t>
            </a:r>
          </a:p>
        </p:txBody>
      </p:sp>
      <p:sp>
        <p:nvSpPr>
          <p:cNvPr id="3" name="text-35-369">
            <a:extLst xmlns:a="http://schemas.openxmlformats.org/drawingml/2006/main">
              <a:ext uri="{FF2B5EF4-FFF2-40B4-BE49-F238E27FC236}">
                <a16:creationId xmlns:a16="http://schemas.microsoft.com/office/drawing/2014/main" id="{3404FC55-ECF6-4AC5-A9F0-8E7B707BBC53}"/>
              </a:ext>
            </a:extLst>
          </p:cNvPr>
          <p:cNvSpPr>
            <a:spLocks xmlns:a="http://schemas.openxmlformats.org/drawingml/2006/main" noGrp="1"/>
          </p:cNvSpPr>
          <p:nvPr/>
        </p:nvSpPr>
        <p:spPr>
          <a:xfrm xmlns:a="http://schemas.openxmlformats.org/drawingml/2006/main">
            <a:off x="704850" y="1609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Meaning influences work. Current authority controls action.</a:t>
            </a:r>
          </a:p>
        </p:txBody>
      </p:sp>
      <p:sp>
        <p:nvSpPr>
          <p:cNvPr id="4" name="text-35-370">
            <a:extLst xmlns:a="http://schemas.openxmlformats.org/drawingml/2006/main">
              <a:ext uri="{FF2B5EF4-FFF2-40B4-BE49-F238E27FC236}">
                <a16:creationId xmlns:a16="http://schemas.microsoft.com/office/drawing/2014/main" id="{CF5E84FA-3834-4A64-B352-9EF786387DAA}"/>
              </a:ext>
            </a:extLst>
          </p:cNvPr>
          <p:cNvSpPr>
            <a:spLocks xmlns:a="http://schemas.openxmlformats.org/drawingml/2006/main" noGrp="1"/>
          </p:cNvSpPr>
          <p:nvPr/>
        </p:nvSpPr>
        <p:spPr>
          <a:xfrm xmlns:a="http://schemas.openxmlformats.org/drawingml/2006/main">
            <a:off x="685800" y="2276475"/>
            <a:ext cx="5133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071E3"/>
                </a:solidFill>
                <a:latin typeface="Inter"/>
                <a:ea typeface="Inter"/>
                <a:cs typeface="Inter"/>
              </a:defRPr>
            </a:pPr>
            <a:r>
              <a:rPr sz="1650" b="1">
                <a:solidFill>
                  <a:srgbClr val="0071E3"/>
                </a:solidFill>
                <a:latin typeface="Inter"/>
                <a:ea typeface="Inter"/>
                <a:cs typeface="Inter"/>
              </a:rPr>
              <a:t>Established here</a:t>
            </a:r>
          </a:p>
        </p:txBody>
      </p:sp>
      <p:sp>
        <p:nvSpPr>
          <p:cNvPr id="5" name="text-35-371">
            <a:extLst xmlns:a="http://schemas.openxmlformats.org/drawingml/2006/main">
              <a:ext uri="{FF2B5EF4-FFF2-40B4-BE49-F238E27FC236}">
                <a16:creationId xmlns:a16="http://schemas.microsoft.com/office/drawing/2014/main" id="{990D59D3-76AE-44A1-85A3-2F3EA5D4D01B}"/>
              </a:ext>
            </a:extLst>
          </p:cNvPr>
          <p:cNvSpPr>
            <a:spLocks xmlns:a="http://schemas.openxmlformats.org/drawingml/2006/main" noGrp="1"/>
          </p:cNvSpPr>
          <p:nvPr/>
        </p:nvSpPr>
        <p:spPr>
          <a:xfrm xmlns:a="http://schemas.openxmlformats.org/drawingml/2006/main">
            <a:off x="685800" y="2943225"/>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Live meaning changes actual work</a:t>
            </a:r>
          </a:p>
        </p:txBody>
      </p:sp>
      <p:sp>
        <p:nvSpPr>
          <p:cNvPr id="6" name="text-35-372">
            <a:extLst xmlns:a="http://schemas.openxmlformats.org/drawingml/2006/main">
              <a:ext uri="{FF2B5EF4-FFF2-40B4-BE49-F238E27FC236}">
                <a16:creationId xmlns:a16="http://schemas.microsoft.com/office/drawing/2014/main" id="{268152C1-3644-4DA6-B2B8-52621BC94770}"/>
              </a:ext>
            </a:extLst>
          </p:cNvPr>
          <p:cNvSpPr>
            <a:spLocks xmlns:a="http://schemas.openxmlformats.org/drawingml/2006/main" noGrp="1"/>
          </p:cNvSpPr>
          <p:nvPr/>
        </p:nvSpPr>
        <p:spPr>
          <a:xfrm xmlns:a="http://schemas.openxmlformats.org/drawingml/2006/main">
            <a:off x="685800" y="3600450"/>
            <a:ext cx="5133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Local current action survives optional delay</a:t>
            </a:r>
          </a:p>
        </p:txBody>
      </p:sp>
      <p:sp>
        <p:nvSpPr>
          <p:cNvPr id="7" name="text-35-373">
            <a:extLst xmlns:a="http://schemas.openxmlformats.org/drawingml/2006/main">
              <a:ext uri="{FF2B5EF4-FFF2-40B4-BE49-F238E27FC236}">
                <a16:creationId xmlns:a16="http://schemas.microsoft.com/office/drawing/2014/main" id="{29FC9050-5013-4203-9825-2558C6563130}"/>
              </a:ext>
            </a:extLst>
          </p:cNvPr>
          <p:cNvSpPr>
            <a:spLocks xmlns:a="http://schemas.openxmlformats.org/drawingml/2006/main" noGrp="1"/>
          </p:cNvSpPr>
          <p:nvPr/>
        </p:nvSpPr>
        <p:spPr>
          <a:xfrm xmlns:a="http://schemas.openxmlformats.org/drawingml/2006/main">
            <a:off x="685800" y="4591050"/>
            <a:ext cx="5133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Evidence remains inspectable and scoped</a:t>
            </a:r>
          </a:p>
        </p:txBody>
      </p:sp>
      <p:sp>
        <p:nvSpPr>
          <p:cNvPr id="8" name="text-35-374">
            <a:extLst xmlns:a="http://schemas.openxmlformats.org/drawingml/2006/main">
              <a:ext uri="{FF2B5EF4-FFF2-40B4-BE49-F238E27FC236}">
                <a16:creationId xmlns:a16="http://schemas.microsoft.com/office/drawing/2014/main" id="{061C882A-700F-4D06-83D1-BE3B54C261C6}"/>
              </a:ext>
            </a:extLst>
          </p:cNvPr>
          <p:cNvSpPr>
            <a:spLocks xmlns:a="http://schemas.openxmlformats.org/drawingml/2006/main" noGrp="1"/>
          </p:cNvSpPr>
          <p:nvPr/>
        </p:nvSpPr>
        <p:spPr>
          <a:xfrm xmlns:a="http://schemas.openxmlformats.org/drawingml/2006/main">
            <a:off x="6372225" y="2276475"/>
            <a:ext cx="51339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650" b="1">
                <a:solidFill>
                  <a:srgbClr val="0071E3"/>
                </a:solidFill>
                <a:latin typeface="Inter"/>
                <a:ea typeface="Inter"/>
                <a:cs typeface="Inter"/>
              </a:defRPr>
            </a:pPr>
            <a:r>
              <a:rPr sz="1650" b="1">
                <a:solidFill>
                  <a:srgbClr val="0071E3"/>
                </a:solidFill>
                <a:latin typeface="Inter"/>
                <a:ea typeface="Inter"/>
                <a:cs typeface="Inter"/>
              </a:rPr>
              <a:t>Requires future validation</a:t>
            </a:r>
          </a:p>
        </p:txBody>
      </p:sp>
      <p:sp>
        <p:nvSpPr>
          <p:cNvPr id="9" name="text-35-375">
            <a:extLst xmlns:a="http://schemas.openxmlformats.org/drawingml/2006/main">
              <a:ext uri="{FF2B5EF4-FFF2-40B4-BE49-F238E27FC236}">
                <a16:creationId xmlns:a16="http://schemas.microsoft.com/office/drawing/2014/main" id="{8ACC47F4-1BFF-4128-A7E0-C5EDBC8552D7}"/>
              </a:ext>
            </a:extLst>
          </p:cNvPr>
          <p:cNvSpPr>
            <a:spLocks xmlns:a="http://schemas.openxmlformats.org/drawingml/2006/main" noGrp="1"/>
          </p:cNvSpPr>
          <p:nvPr/>
        </p:nvSpPr>
        <p:spPr>
          <a:xfrm xmlns:a="http://schemas.openxmlformats.org/drawingml/2006/main">
            <a:off x="6372225" y="2943225"/>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Physical sensing and site mapping</a:t>
            </a:r>
          </a:p>
        </p:txBody>
      </p:sp>
      <p:sp>
        <p:nvSpPr>
          <p:cNvPr id="10" name="text-35-376">
            <a:extLst xmlns:a="http://schemas.openxmlformats.org/drawingml/2006/main">
              <a:ext uri="{FF2B5EF4-FFF2-40B4-BE49-F238E27FC236}">
                <a16:creationId xmlns:a16="http://schemas.microsoft.com/office/drawing/2014/main" id="{B4944A43-8855-492E-9CBB-DED470A24C27}"/>
              </a:ext>
            </a:extLst>
          </p:cNvPr>
          <p:cNvSpPr>
            <a:spLocks xmlns:a="http://schemas.openxmlformats.org/drawingml/2006/main" noGrp="1"/>
          </p:cNvSpPr>
          <p:nvPr/>
        </p:nvSpPr>
        <p:spPr>
          <a:xfrm xmlns:a="http://schemas.openxmlformats.org/drawingml/2006/main">
            <a:off x="6372225" y="3600450"/>
            <a:ext cx="51339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Installed local model and hardware timing</a:t>
            </a:r>
          </a:p>
        </p:txBody>
      </p:sp>
      <p:sp>
        <p:nvSpPr>
          <p:cNvPr id="11" name="text-35-377">
            <a:extLst xmlns:a="http://schemas.openxmlformats.org/drawingml/2006/main">
              <a:ext uri="{FF2B5EF4-FFF2-40B4-BE49-F238E27FC236}">
                <a16:creationId xmlns:a16="http://schemas.microsoft.com/office/drawing/2014/main" id="{5D3F41C1-8C32-4C78-B59D-69EBB78B462C}"/>
              </a:ext>
            </a:extLst>
          </p:cNvPr>
          <p:cNvSpPr>
            <a:spLocks xmlns:a="http://schemas.openxmlformats.org/drawingml/2006/main" noGrp="1"/>
          </p:cNvSpPr>
          <p:nvPr/>
        </p:nvSpPr>
        <p:spPr>
          <a:xfrm xmlns:a="http://schemas.openxmlformats.org/drawingml/2006/main">
            <a:off x="6372225" y="4591050"/>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00" b="0">
                <a:solidFill>
                  <a:srgbClr val="1D1D1F"/>
                </a:solidFill>
                <a:latin typeface="Inter"/>
                <a:ea typeface="Inter"/>
                <a:cs typeface="Inter"/>
              </a:defRPr>
            </a:pPr>
            <a:r>
              <a:rPr sz="2100" b="0">
                <a:solidFill>
                  <a:srgbClr val="1D1D1F"/>
                </a:solidFill>
                <a:latin typeface="Inter"/>
                <a:ea typeface="Inter"/>
                <a:cs typeface="Inter"/>
              </a:rPr>
              <a:t>Operational deployment guarantees</a:t>
            </a:r>
          </a:p>
        </p:txBody>
      </p:sp>
      <p:sp>
        <p:nvSpPr>
          <p:cNvPr id="12" name="text-35-378">
            <a:extLst xmlns:a="http://schemas.openxmlformats.org/drawingml/2006/main">
              <a:ext uri="{FF2B5EF4-FFF2-40B4-BE49-F238E27FC236}">
                <a16:creationId xmlns:a16="http://schemas.microsoft.com/office/drawing/2014/main" id="{02DB9BD4-AB59-49D1-B9F0-145357C56BE0}"/>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13" name="text-35-379">
            <a:extLst xmlns:a="http://schemas.openxmlformats.org/drawingml/2006/main">
              <a:ext uri="{FF2B5EF4-FFF2-40B4-BE49-F238E27FC236}">
                <a16:creationId xmlns:a16="http://schemas.microsoft.com/office/drawing/2014/main" id="{E454B0F3-A130-4A8D-B059-080FB5BBE696}"/>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35</a:t>
            </a:r>
          </a:p>
        </p:txBody>
      </p:sp>
    </p:spTree>
    <p:extLst>
      <p:ext uri="{BB962C8B-B14F-4D97-AF65-F5344CB8AC3E}">
        <p14:creationId xmlns:p14="http://schemas.microsoft.com/office/powerpoint/2010/main" val="2085237236"/>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6-380">
            <a:extLst xmlns:a="http://schemas.openxmlformats.org/drawingml/2006/main">
              <a:ext uri="{FF2B5EF4-FFF2-40B4-BE49-F238E27FC236}">
                <a16:creationId xmlns:a16="http://schemas.microsoft.com/office/drawing/2014/main" id="{DAF9EDF7-2267-459F-827B-D5E97FC929EA}"/>
              </a:ext>
            </a:extLst>
          </p:cNvPr>
          <p:cNvSpPr>
            <a:spLocks xmlns:a="http://schemas.openxmlformats.org/drawingml/2006/main" noGrp="1"/>
          </p:cNvSpPr>
          <p:nvPr/>
        </p:nvSpPr>
        <p:spPr>
          <a:xfrm xmlns:a="http://schemas.openxmlformats.org/drawingml/2006/main">
            <a:off x="685800" y="44767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275" b="1">
                <a:solidFill>
                  <a:srgbClr val="0071E3"/>
                </a:solidFill>
                <a:latin typeface="Inter"/>
                <a:ea typeface="Inter"/>
                <a:cs typeface="Inter"/>
              </a:defRPr>
            </a:pPr>
            <a:r>
              <a:rPr sz="1275" b="1">
                <a:solidFill>
                  <a:srgbClr val="0071E3"/>
                </a:solidFill>
                <a:latin typeface="Inter"/>
                <a:ea typeface="Inter"/>
                <a:cs typeface="Inter"/>
              </a:rPr>
              <a:t>RADIOLARIA OS / LANDSLIDE SENTINEL</a:t>
            </a:r>
          </a:p>
        </p:txBody>
      </p:sp>
      <p:sp>
        <p:nvSpPr>
          <p:cNvPr id="2" name="text-36-381">
            <a:extLst xmlns:a="http://schemas.openxmlformats.org/drawingml/2006/main">
              <a:ext uri="{FF2B5EF4-FFF2-40B4-BE49-F238E27FC236}">
                <a16:creationId xmlns:a16="http://schemas.microsoft.com/office/drawing/2014/main" id="{36DD7862-42E3-4BE1-939F-B8665CA1D3CF}"/>
              </a:ext>
            </a:extLst>
          </p:cNvPr>
          <p:cNvSpPr>
            <a:spLocks xmlns:a="http://schemas.openxmlformats.org/drawingml/2006/main" noGrp="1"/>
          </p:cNvSpPr>
          <p:nvPr/>
        </p:nvSpPr>
        <p:spPr>
          <a:xfrm xmlns:a="http://schemas.openxmlformats.org/drawingml/2006/main">
            <a:off x="666750" y="895350"/>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From domain requirements</a:t>
            </a:r>
          </a:p>
          <a:p xmlns:a="http://schemas.openxmlformats.org/drawingml/2006/main">
            <a:pPr algn="l">
              <a:defRPr sz="3525" b="1">
                <a:solidFill>
                  <a:srgbClr val="1D1D1F"/>
                </a:solidFill>
                <a:latin typeface="Inter"/>
                <a:ea typeface="Inter"/>
                <a:cs typeface="Inter"/>
              </a:defRPr>
            </a:pPr>
            <a:r>
              <a:rPr sz="3525" b="1">
                <a:solidFill>
                  <a:srgbClr val="1D1D1F"/>
                </a:solidFill>
                <a:latin typeface="Inter"/>
                <a:ea typeface="Inter"/>
                <a:cs typeface="Inter"/>
              </a:rPr>
              <a:t>to testable behavior</a:t>
            </a:r>
          </a:p>
        </p:txBody>
      </p:sp>
      <p:sp>
        <p:nvSpPr>
          <p:cNvPr id="3" name="text-36-382">
            <a:extLst xmlns:a="http://schemas.openxmlformats.org/drawingml/2006/main">
              <a:ext uri="{FF2B5EF4-FFF2-40B4-BE49-F238E27FC236}">
                <a16:creationId xmlns:a16="http://schemas.microsoft.com/office/drawing/2014/main" id="{8C7261F5-B100-4A2B-9C2D-BC2D94D78549}"/>
              </a:ext>
            </a:extLst>
          </p:cNvPr>
          <p:cNvSpPr>
            <a:spLocks xmlns:a="http://schemas.openxmlformats.org/drawingml/2006/main" noGrp="1"/>
          </p:cNvSpPr>
          <p:nvPr/>
        </p:nvSpPr>
        <p:spPr>
          <a:xfrm xmlns:a="http://schemas.openxmlformats.org/drawingml/2006/main">
            <a:off x="704850" y="20383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1725" b="0">
                <a:solidFill>
                  <a:srgbClr val="6E6E73"/>
                </a:solidFill>
                <a:latin typeface="Inter"/>
                <a:ea typeface="Inter"/>
                <a:cs typeface="Inter"/>
              </a:defRPr>
            </a:pPr>
            <a:r>
              <a:rPr sz="1725" b="0">
                <a:solidFill>
                  <a:srgbClr val="6E6E73"/>
                </a:solidFill>
                <a:latin typeface="Inter"/>
                <a:ea typeface="Inter"/>
                <a:cs typeface="Inter"/>
              </a:rPr>
              <a:t>A reusable foundation with inspectable decisions and results.</a:t>
            </a:r>
          </a:p>
        </p:txBody>
      </p:sp>
      <p:sp>
        <p:nvSpPr>
          <p:cNvPr id="4" name="text-36-383">
            <a:extLst xmlns:a="http://schemas.openxmlformats.org/drawingml/2006/main">
              <a:ext uri="{FF2B5EF4-FFF2-40B4-BE49-F238E27FC236}">
                <a16:creationId xmlns:a16="http://schemas.microsoft.com/office/drawing/2014/main" id="{2302B06E-F88B-47DA-BAF3-6B7B13F70A28}"/>
              </a:ext>
            </a:extLst>
          </p:cNvPr>
          <p:cNvSpPr>
            <a:spLocks xmlns:a="http://schemas.openxmlformats.org/drawingml/2006/main" noGrp="1"/>
          </p:cNvSpPr>
          <p:nvPr/>
        </p:nvSpPr>
        <p:spPr>
          <a:xfrm xmlns:a="http://schemas.openxmlformats.org/drawingml/2006/main">
            <a:off x="704850" y="3038475"/>
            <a:ext cx="10620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D1D1F"/>
                </a:solidFill>
                <a:latin typeface="Inter"/>
                <a:ea typeface="Inter"/>
                <a:cs typeface="Inter"/>
              </a:defRPr>
            </a:pPr>
            <a:r>
              <a:rPr sz="2175" b="0">
                <a:solidFill>
                  <a:srgbClr val="1D1D1F"/>
                </a:solidFill>
                <a:latin typeface="Inter"/>
                <a:ea typeface="Inter"/>
                <a:cs typeface="Inter"/>
              </a:rPr>
              <a:t>Published question -&gt; explicit requirement -&gt; executed example -&gt; evidence.</a:t>
            </a:r>
          </a:p>
        </p:txBody>
      </p:sp>
      <p:sp>
        <p:nvSpPr>
          <p:cNvPr id="5" name="text-36-384">
            <a:extLst xmlns:a="http://schemas.openxmlformats.org/drawingml/2006/main">
              <a:ext uri="{FF2B5EF4-FFF2-40B4-BE49-F238E27FC236}">
                <a16:creationId xmlns:a16="http://schemas.microsoft.com/office/drawing/2014/main" id="{7BFC0426-890B-4751-88CA-E18549CFCA27}"/>
              </a:ext>
            </a:extLst>
          </p:cNvPr>
          <p:cNvSpPr>
            <a:spLocks xmlns:a="http://schemas.openxmlformats.org/drawingml/2006/main" noGrp="1"/>
          </p:cNvSpPr>
          <p:nvPr/>
        </p:nvSpPr>
        <p:spPr>
          <a:xfrm xmlns:a="http://schemas.openxmlformats.org/drawingml/2006/main">
            <a:off x="704850" y="3714750"/>
            <a:ext cx="10620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D1D1F"/>
                </a:solidFill>
                <a:latin typeface="Inter"/>
                <a:ea typeface="Inter"/>
                <a:cs typeface="Inter"/>
              </a:defRPr>
            </a:pPr>
            <a:r>
              <a:rPr sz="2175" b="0">
                <a:solidFill>
                  <a:srgbClr val="1D1D1F"/>
                </a:solidFill>
                <a:latin typeface="Inter"/>
                <a:ea typeface="Inter"/>
                <a:cs typeface="Inter"/>
              </a:rPr>
              <a:t>Approximately 12 hours on the existing kernel: owner-reported implementation time.</a:t>
            </a:r>
          </a:p>
        </p:txBody>
      </p:sp>
      <p:sp>
        <p:nvSpPr>
          <p:cNvPr id="6" name="text-36-385">
            <a:extLst xmlns:a="http://schemas.openxmlformats.org/drawingml/2006/main">
              <a:ext uri="{FF2B5EF4-FFF2-40B4-BE49-F238E27FC236}">
                <a16:creationId xmlns:a16="http://schemas.microsoft.com/office/drawing/2014/main" id="{FBA4498A-49F2-4196-8324-9B8ACE83AA34}"/>
              </a:ext>
            </a:extLst>
          </p:cNvPr>
          <p:cNvSpPr>
            <a:spLocks xmlns:a="http://schemas.openxmlformats.org/drawingml/2006/main" noGrp="1"/>
          </p:cNvSpPr>
          <p:nvPr/>
        </p:nvSpPr>
        <p:spPr>
          <a:xfrm xmlns:a="http://schemas.openxmlformats.org/drawingml/2006/main">
            <a:off x="704850" y="4733925"/>
            <a:ext cx="10620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2175" b="0">
                <a:solidFill>
                  <a:srgbClr val="1D1D1F"/>
                </a:solidFill>
                <a:latin typeface="Inter"/>
                <a:ea typeface="Inter"/>
                <a:cs typeface="Inter"/>
              </a:defRPr>
            </a:pPr>
            <a:r>
              <a:rPr sz="2175" b="0">
                <a:solidFill>
                  <a:srgbClr val="1D1D1F"/>
                </a:solidFill>
                <a:latin typeface="Inter"/>
                <a:ea typeface="Inter"/>
                <a:cs typeface="Inter"/>
              </a:rPr>
              <a:t>Human direction, prepared AI assistance and Codex. Prior kernel development is separate.</a:t>
            </a:r>
          </a:p>
        </p:txBody>
      </p:sp>
      <p:sp>
        <p:nvSpPr>
          <p:cNvPr id="7" name="text-36-386">
            <a:extLst xmlns:a="http://schemas.openxmlformats.org/drawingml/2006/main">
              <a:ext uri="{FF2B5EF4-FFF2-40B4-BE49-F238E27FC236}">
                <a16:creationId xmlns:a16="http://schemas.microsoft.com/office/drawing/2014/main" id="{50B03789-C598-41EF-8F57-E6CFB12DB0FC}"/>
              </a:ext>
            </a:extLst>
          </p:cNvPr>
          <p:cNvSpPr>
            <a:spLocks xmlns:a="http://schemas.openxmlformats.org/drawingml/2006/main" noGrp="1"/>
          </p:cNvSpPr>
          <p:nvPr/>
        </p:nvSpPr>
        <p:spPr>
          <a:xfrm xmlns:a="http://schemas.openxmlformats.org/drawingml/2006/main">
            <a:off x="685800" y="65436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defRPr sz="900" b="0">
                <a:solidFill>
                  <a:srgbClr val="6E6E73"/>
                </a:solidFill>
                <a:latin typeface="Inter"/>
                <a:ea typeface="Inter"/>
                <a:cs typeface="Inter"/>
              </a:defRPr>
            </a:pPr>
            <a:r>
              <a:rPr sz="900" b="0">
                <a:solidFill>
                  <a:srgbClr val="6E6E73"/>
                </a:solidFill>
                <a:latin typeface="Inter"/>
                <a:ea typeface="Inter"/>
                <a:cs typeface="Inter"/>
              </a:rPr>
              <a:t>RADIOLARIA OS  /  LANDSLIDE SENTINEL v0.1  /  SOURCE 2f328be</a:t>
            </a:r>
          </a:p>
        </p:txBody>
      </p:sp>
      <p:sp>
        <p:nvSpPr>
          <p:cNvPr id="8" name="text-36-387">
            <a:extLst xmlns:a="http://schemas.openxmlformats.org/drawingml/2006/main">
              <a:ext uri="{FF2B5EF4-FFF2-40B4-BE49-F238E27FC236}">
                <a16:creationId xmlns:a16="http://schemas.microsoft.com/office/drawing/2014/main" id="{26DD25B7-A9ED-44AC-AAAC-3DF77EA0BFF5}"/>
              </a:ext>
            </a:extLst>
          </p:cNvPr>
          <p:cNvSpPr>
            <a:spLocks xmlns:a="http://schemas.openxmlformats.org/drawingml/2006/main" noGrp="1"/>
          </p:cNvSpPr>
          <p:nvPr/>
        </p:nvSpPr>
        <p:spPr>
          <a:xfrm xmlns:a="http://schemas.openxmlformats.org/drawingml/2006/main">
            <a:off x="11049000" y="6505575"/>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r">
              <a:defRPr sz="1200" b="0">
                <a:solidFill>
                  <a:srgbClr val="6E6E73"/>
                </a:solidFill>
                <a:latin typeface="Inter"/>
                <a:ea typeface="Inter"/>
                <a:cs typeface="Inter"/>
              </a:defRPr>
            </a:pPr>
            <a:r>
              <a:rPr sz="1200" b="0">
                <a:solidFill>
                  <a:srgbClr val="6E6E73"/>
                </a:solidFill>
                <a:latin typeface="Inter"/>
                <a:ea typeface="Inter"/>
                <a:cs typeface="Inter"/>
              </a:rPr>
              <a:t>36</a:t>
            </a:r>
          </a:p>
        </p:txBody>
      </p:sp>
    </p:spTree>
    <p:extLst>
      <p:ext uri="{BB962C8B-B14F-4D97-AF65-F5344CB8AC3E}">
        <p14:creationId xmlns:p14="http://schemas.microsoft.com/office/powerpoint/2010/main" val="716882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2026-09-21T07:45:06.0130000Z</dcterms:created>
  <dcterms:modified xsi:type="dcterms:W3CDTF">2026-09-21T07:45:06.0130000Z</dcterms:modified>
</coreProperties>
</file>