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4d35c90990413f" /><Relationship Type="http://schemas.openxmlformats.org/officeDocument/2006/relationships/extended-properties" Target="/docProps/app.xml" Id="Rb4720f12557c4984" /><Relationship Type="http://schemas.openxmlformats.org/officeDocument/2006/relationships/officeDocument" Target="/ppt/presentation.xml" Id="R6d28ec72ab6f4f72" /></Relationships>
</file>

<file path=ppt/presentation.xml><?xml version="1.0" encoding="utf-8"?>
<p:presentation xmlns:p="http://schemas.openxmlformats.org/presentationml/2006/main">
  <p:sldMasterIdLst>
    <p:sldMasterId xmlns:r="http://schemas.openxmlformats.org/officeDocument/2006/relationships" id="2147483648" r:id="R69ce9c1b6bd74b63"/>
  </p:sldMasterIdLst>
  <p:notesMasterIdLst>
    <p:notesMasterId xmlns:r="http://schemas.openxmlformats.org/officeDocument/2006/relationships" r:id="R2c0ed4942b644d0e"/>
  </p:notesMasterIdLst>
  <p:sldIdLst>
    <p:sldId xmlns:r="http://schemas.openxmlformats.org/officeDocument/2006/relationships" id="256" r:id="Re6bfc65f9d0046b2"/>
    <p:sldId xmlns:r="http://schemas.openxmlformats.org/officeDocument/2006/relationships" id="257" r:id="Ra251704091134f2e"/>
    <p:sldId xmlns:r="http://schemas.openxmlformats.org/officeDocument/2006/relationships" id="258" r:id="Rb5274d2715bd47ed"/>
    <p:sldId xmlns:r="http://schemas.openxmlformats.org/officeDocument/2006/relationships" id="259" r:id="Re913d4b28cdf403a"/>
    <p:sldId xmlns:r="http://schemas.openxmlformats.org/officeDocument/2006/relationships" id="260" r:id="R6fc756f72e0d4f93"/>
    <p:sldId xmlns:r="http://schemas.openxmlformats.org/officeDocument/2006/relationships" id="261" r:id="R3912507da3c74874"/>
    <p:sldId xmlns:r="http://schemas.openxmlformats.org/officeDocument/2006/relationships" id="262" r:id="R1247aff163034005"/>
    <p:sldId xmlns:r="http://schemas.openxmlformats.org/officeDocument/2006/relationships" id="263" r:id="Rab33b0b947e24fce"/>
    <p:sldId xmlns:r="http://schemas.openxmlformats.org/officeDocument/2006/relationships" id="264" r:id="Rc494753a66524fca"/>
    <p:sldId xmlns:r="http://schemas.openxmlformats.org/officeDocument/2006/relationships" id="265" r:id="R023b231c74a04ff0"/>
    <p:sldId xmlns:r="http://schemas.openxmlformats.org/officeDocument/2006/relationships" id="266" r:id="Rce22a91a11fb4806"/>
    <p:sldId xmlns:r="http://schemas.openxmlformats.org/officeDocument/2006/relationships" id="267" r:id="Rd854b8f50f3b49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938681082d48b7" /><Relationship Type="http://schemas.openxmlformats.org/officeDocument/2006/relationships/slideMaster" Target="/ppt/slideMasters/slideMaster1.xml" Id="R69ce9c1b6bd74b63" /><Relationship Type="http://schemas.openxmlformats.org/officeDocument/2006/relationships/notesMaster" Target="/ppt/notesMasters/notesMaster1.xml" Id="R2c0ed4942b644d0e" /><Relationship Type="http://schemas.openxmlformats.org/officeDocument/2006/relationships/presProps" Target="/ppt/presProps.xml" Id="Rbbb9eacc811544ac" /><Relationship Type="http://schemas.openxmlformats.org/officeDocument/2006/relationships/tableStyles" Target="/ppt/tableStyles.xml" Id="Re93abd7c4fb5447f" /><Relationship Type="http://schemas.openxmlformats.org/officeDocument/2006/relationships/slide" Target="/ppt/slides/slide1.xml" Id="Re6bfc65f9d0046b2" /><Relationship Type="http://schemas.openxmlformats.org/officeDocument/2006/relationships/slide" Target="/ppt/slides/slide2.xml" Id="Ra251704091134f2e" /><Relationship Type="http://schemas.openxmlformats.org/officeDocument/2006/relationships/slide" Target="/ppt/slides/slide3.xml" Id="Rb5274d2715bd47ed" /><Relationship Type="http://schemas.openxmlformats.org/officeDocument/2006/relationships/slide" Target="/ppt/slides/slide4.xml" Id="Re913d4b28cdf403a" /><Relationship Type="http://schemas.openxmlformats.org/officeDocument/2006/relationships/slide" Target="/ppt/slides/slide5.xml" Id="R6fc756f72e0d4f93" /><Relationship Type="http://schemas.openxmlformats.org/officeDocument/2006/relationships/slide" Target="/ppt/slides/slide6.xml" Id="R3912507da3c74874" /><Relationship Type="http://schemas.openxmlformats.org/officeDocument/2006/relationships/slide" Target="/ppt/slides/slide7.xml" Id="R1247aff163034005" /><Relationship Type="http://schemas.openxmlformats.org/officeDocument/2006/relationships/slide" Target="/ppt/slides/slide8.xml" Id="Rab33b0b947e24fce" /><Relationship Type="http://schemas.openxmlformats.org/officeDocument/2006/relationships/slide" Target="/ppt/slides/slide9.xml" Id="Rc494753a66524fca" /><Relationship Type="http://schemas.openxmlformats.org/officeDocument/2006/relationships/slide" Target="/ppt/slides/slide10.xml" Id="R023b231c74a04ff0" /><Relationship Type="http://schemas.openxmlformats.org/officeDocument/2006/relationships/slide" Target="/ppt/slides/slide11.xml" Id="Rce22a91a11fb4806" /><Relationship Type="http://schemas.openxmlformats.org/officeDocument/2006/relationships/slide" Target="/ppt/slides/slide12.xml" Id="Rd854b8f50f3b49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4e06e59ecb46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da890832e04e14" /><Relationship Type="http://schemas.openxmlformats.org/officeDocument/2006/relationships/notesMaster" Target="/ppt/notesMasters/notesMaster1.xml" Id="R9a1d9a34089642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94b597c8e443d1" /><Relationship Type="http://schemas.openxmlformats.org/officeDocument/2006/relationships/notesMaster" Target="/ppt/notesMasters/notesMaster1.xml" Id="R1efe10e799b04c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253d2a2e5b4e34" /><Relationship Type="http://schemas.openxmlformats.org/officeDocument/2006/relationships/notesMaster" Target="/ppt/notesMasters/notesMaster1.xml" Id="Rcbecf661526649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7b9ecb90ae4404" /><Relationship Type="http://schemas.openxmlformats.org/officeDocument/2006/relationships/notesMaster" Target="/ppt/notesMasters/notesMaster1.xml" Id="Rafaaa8ec4dab4b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284101cc3a40f1" /><Relationship Type="http://schemas.openxmlformats.org/officeDocument/2006/relationships/notesMaster" Target="/ppt/notesMasters/notesMaster1.xml" Id="R8efde6c8a70e4d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e7e50b06224f9a" /><Relationship Type="http://schemas.openxmlformats.org/officeDocument/2006/relationships/notesMaster" Target="/ppt/notesMasters/notesMaster1.xml" Id="R58fb21cbabb341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3d3ebe77384ac2" /><Relationship Type="http://schemas.openxmlformats.org/officeDocument/2006/relationships/notesMaster" Target="/ppt/notesMasters/notesMaster1.xml" Id="R762d979a1edb43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08f5f6789e4329" /><Relationship Type="http://schemas.openxmlformats.org/officeDocument/2006/relationships/notesMaster" Target="/ppt/notesMasters/notesMaster1.xml" Id="R48b3828ea28e4f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e5d09d6e3845f0" /><Relationship Type="http://schemas.openxmlformats.org/officeDocument/2006/relationships/notesMaster" Target="/ppt/notesMasters/notesMaster1.xml" Id="R156fe5d5140741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949037ac24493a" /><Relationship Type="http://schemas.openxmlformats.org/officeDocument/2006/relationships/notesMaster" Target="/ppt/notesMasters/notesMaster1.xml" Id="R27cd1298151e4a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962e08e5d24ee6" /><Relationship Type="http://schemas.openxmlformats.org/officeDocument/2006/relationships/notesMaster" Target="/ppt/notesMasters/notesMaster1.xml" Id="R56011870cf604f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5e156fbc8d4c35" /><Relationship Type="http://schemas.openxmlformats.org/officeDocument/2006/relationships/notesMaster" Target="/ppt/notesMasters/notesMaster1.xml" Id="Rd22d7b19fe8940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"Owner-approved reduced mathematical scope. Implementation commit 5b259441994ba41ed3467e8ffcb9ae6ee8d371f0. Conceptual AI-generated Radiolaria artwork is not an evidence graph or cryptographic seal.",</a:t>
            </a:r>
          </a:p>
          <a:p xmlns:a="http://schemas.openxmlformats.org/drawingml/2006/main">
            <a:r>
              <a:t>  "sources": [</a:t>
            </a:r>
          </a:p>
          <a:p xmlns:a="http://schemas.openxmlformats.org/drawingml/2006/main">
            <a:r>
              <a:t>    {</a:t>
            </a:r>
          </a:p>
          <a:p xmlns:a="http://schemas.openxmlformats.org/drawingml/2006/main">
            <a:r>
              <a:t>      "path": "evidence/g44/portable_publication_final/story/comparisons.json",</a:t>
            </a:r>
          </a:p>
          <a:p xmlns:a="http://schemas.openxmlformats.org/drawingml/2006/main">
            <a:r>
              <a:t>      "sha256": "dc273a2127eb0b5116b14a48cc1c5bd2789af5fe900a2a575d5b636b9459e26e"</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"C01",</a:t>
            </a:r>
          </a:p>
          <a:p xmlns:a="http://schemas.openxmlformats.org/drawingml/2006/main">
            <a:r>
              <a:t>      "title": "Strategic comparison and actual bounded work",</a:t>
            </a:r>
          </a:p>
          <a:p xmlns:a="http://schemas.openxmlformats.org/drawingml/2006/main">
            <a:r>
              <a:t>      "claim": "Gate 4 Reference adds finite multi-Root strategy comparison and bounded allocation of useful native work.",</a:t>
            </a:r>
          </a:p>
          <a:p xmlns:a="http://schemas.openxmlformats.org/drawingml/2006/main">
            <a:r>
              <a:t>      "argument": "The strategy and allocation mechanisms enter actual Work results and local Root reviews, within the reduced contract.",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a:t>
            </a:r>
          </a:p>
          <a:p xmlns:a="http://schemas.openxmlformats.org/drawingml/2006/main">
            <a:r>
              <a:t>          2,</a:t>
            </a:r>
          </a:p>
          <a:p xmlns:a="http://schemas.openxmlformats.org/drawingml/2006/main">
            <a:r>
              <a:t>          12</a:t>
            </a:r>
          </a:p>
          <a:p xmlns:a="http://schemas.openxmlformats.org/drawingml/2006/main">
            <a:r>
              <a:t>        ],</a:t>
            </a:r>
          </a:p>
          <a:p xmlns:a="http://schemas.openxmlformats.org/drawingml/2006/main">
            <a:r>
              <a:t>        "appendix": "a-result-scope-status",</a:t>
            </a:r>
          </a:p>
          <a:p xmlns:a="http://schemas.openxmlformats.org/drawingml/2006/main">
            <a:r>
              <a:t>        "reader": "C01"</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"source_snapshot/installed/docs/gate4_reference_contract_v01.md",</a:t>
            </a:r>
          </a:p>
          <a:p xmlns:a="http://schemas.openxmlformats.org/drawingml/2006/main">
            <a:r>
              <a:t>          "symbol": null,</a:t>
            </a:r>
          </a:p>
          <a:p xmlns:a="http://schemas.openxmlformats.org/drawingml/2006/main">
            <a:r>
              <a:t>          "sha256": "2de0e065adcea5df395fe8a5b62088b9c9d13ff3f91275ad993cf51b53b205ec",</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"Full H-I-J mathematics and LGT remain deferred; no new model weights or authority."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"C16",</a:t>
            </a:r>
          </a:p>
          <a:p xmlns:a="http://schemas.openxmlformats.org/drawingml/2006/main">
            <a:r>
              <a:t>      "title": "Installation and presentation are separate",</a:t>
            </a:r>
          </a:p>
          <a:p xmlns:a="http://schemas.openxmlformats.org/drawingml/2006/main">
            <a:r>
              <a:t>      "claim": "G45 landed the reviewed implementation at the pinned commit; presentation publication has a separate identity and review.",</a:t>
            </a:r>
          </a:p>
          <a:p xmlns:a="http://schemas.openxmlformats.org/drawingml/2006/main">
            <a:r>
              <a:t>      "argument": "The installation report and result retain actual commit/parent/tree; historical NOT_CLOSED and TEST_SUPPLIED_PIN labels remain unchanged.",</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a:t>
            </a:r>
          </a:p>
          <a:p xmlns:a="http://schemas.openxmlformats.org/drawingml/2006/main">
            <a:r>
              <a:t>          12</a:t>
            </a:r>
          </a:p>
          <a:p xmlns:a="http://schemas.openxmlformats.org/drawingml/2006/main">
            <a:r>
              <a:t>        ],</a:t>
            </a:r>
          </a:p>
          <a:p xmlns:a="http://schemas.openxmlformats.org/drawingml/2006/main">
            <a:r>
              <a:t>        "appendix": "a-result-scope-status",</a:t>
            </a:r>
          </a:p>
          <a:p xmlns:a="http://schemas.openxmlformats.org/drawingml/2006/main">
            <a:r>
              <a:t>        "reader": "C16"</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"source_snapshot/installed/docs/gate4_reference_release_checkpoint_v01.md",</a:t>
            </a:r>
          </a:p>
          <a:p xmlns:a="http://schemas.openxmlformats.org/drawingml/2006/main">
            <a:r>
              <a:t>          "symbol": null,</a:t>
            </a:r>
          </a:p>
          <a:p xmlns:a="http://schemas.openxmlformats.org/drawingml/2006/main">
            <a:r>
              <a:t>          "sha256": "5e835bceda254ea2626274cc1fe7dc26b437af89f22e33a1abdd61550785942d",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"evidence/g45/RESULT.json",</a:t>
            </a:r>
          </a:p>
          <a:p xmlns:a="http://schemas.openxmlformats.org/drawingml/2006/main">
            <a:r>
              <a:t>          "json_pointer": "",</a:t>
            </a:r>
          </a:p>
          <a:p xmlns:a="http://schemas.openxmlformats.org/drawingml/2006/main">
            <a:r>
              <a:t>          "sha256": "8786f2e76ba34b7650304d244ca26acfebfadbd05e03b19c5c3349c0d4037c5b",</a:t>
            </a:r>
          </a:p>
          <a:p xmlns:a="http://schemas.openxmlformats.org/drawingml/2006/main">
            <a:r>
              <a:t>          "evidence_class": "RECORDED_OWNER_LANDING"</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"positive_refs": [],</a:t>
            </a:r>
          </a:p>
          <a:p xmlns:a="http://schemas.openxmlformats.org/drawingml/2006/main">
            <a:r>
              <a:t>      "negative_refs": [],</a:t>
            </a:r>
          </a:p>
          <a:p xmlns:a="http://schemas.openxmlformats.org/drawingml/2006/main">
            <a:r>
              <a:t>      "consumer_refs": [],</a:t>
            </a:r>
          </a:p>
          <a:p xmlns:a="http://schemas.openxmlformats.org/drawingml/2006/main">
            <a:r>
              <a:t>      "limits": [</a:t>
            </a:r>
          </a:p>
          <a:p xmlns:a="http://schemas.openxmlformats.org/drawingml/2006/main">
            <a:r>
              <a:t>        "Unsigned Git commit is not an external audit signature. No future publication hash is invented."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RADIOLARIA OS</a:t>
            </a:r>
          </a:p>
          <a:p xmlns:a="http://schemas.openxmlformats.org/drawingml/2006/main">
            <a:r>
              <a:t>Gate 4</a:t>
            </a:r>
          </a:p>
          <a:p xmlns:a="http://schemas.openxmlformats.org/drawingml/2006/main">
            <a:r>
              <a:t>Reference</a:t>
            </a:r>
          </a:p>
          <a:p xmlns:a="http://schemas.openxmlformats.org/drawingml/2006/main">
            <a:r>
              <a:t>Explicit trade-offs</a:t>
            </a:r>
          </a:p>
          <a:p xmlns:a="http://schemas.openxmlformats.org/drawingml/2006/main">
            <a:r>
              <a:t>Bounded work</a:t>
            </a:r>
          </a:p>
          <a:p xmlns:a="http://schemas.openxmlformats.org/drawingml/2006/main">
            <a:r>
              <a:t>Independent owners</a:t>
            </a:r>
          </a:p>
          <a:p xmlns:a="http://schemas.openxmlformats.org/drawingml/2006/main">
            <a:r>
              <a:t>Owner-approved reduced scope</a:t>
            </a:r>
          </a:p>
          <a:p xmlns:a="http://schemas.openxmlformats.org/drawingml/2006/main">
            <a:r>
              <a:t>23 September 2026  /  Implementation 5b25944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"Conceptual architecture view. G3 contributes accepted outcome, local-memory and calibration mechanisms. Runtime owns finite enrolled Work. This native profile has max_children=0, max_model_calls=0. Three in-process sovereign Root reviews do not prove internet federation or legal agreement.",</a:t>
            </a:r>
          </a:p>
          <a:p xmlns:a="http://schemas.openxmlformats.org/drawingml/2006/main">
            <a:r>
              <a:t>  "sources": [</a:t>
            </a:r>
          </a:p>
          <a:p xmlns:a="http://schemas.openxmlformats.org/drawingml/2006/main">
            <a:r>
              <a:t>    {</a:t>
            </a:r>
          </a:p>
          <a:p xmlns:a="http://schemas.openxmlformats.org/drawingml/2006/main">
            <a:r>
              <a:t>      "path": "evidence/g44/portable_publication_final/story/comparisons.json",</a:t>
            </a:r>
          </a:p>
          <a:p xmlns:a="http://schemas.openxmlformats.org/drawingml/2006/main">
            <a:r>
              <a:t>      "sha256": "dc273a2127eb0b5116b14a48cc1c5bd2789af5fe900a2a575d5b636b9459e26e"</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"C01",</a:t>
            </a:r>
          </a:p>
          <a:p xmlns:a="http://schemas.openxmlformats.org/drawingml/2006/main">
            <a:r>
              <a:t>      "title": "Strategic comparison and actual bounded work",</a:t>
            </a:r>
          </a:p>
          <a:p xmlns:a="http://schemas.openxmlformats.org/drawingml/2006/main">
            <a:r>
              <a:t>      "claim": "Gate 4 Reference adds finite multi-Root strategy comparison and bounded allocation of useful native work.",</a:t>
            </a:r>
          </a:p>
          <a:p xmlns:a="http://schemas.openxmlformats.org/drawingml/2006/main">
            <a:r>
              <a:t>      "argument": "The strategy and allocation mechanisms enter actual Work results and local Root reviews, within the reduced contract.",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a:t>
            </a:r>
          </a:p>
          <a:p xmlns:a="http://schemas.openxmlformats.org/drawingml/2006/main">
            <a:r>
              <a:t>          2,</a:t>
            </a:r>
          </a:p>
          <a:p xmlns:a="http://schemas.openxmlformats.org/drawingml/2006/main">
            <a:r>
              <a:t>          12</a:t>
            </a:r>
          </a:p>
          <a:p xmlns:a="http://schemas.openxmlformats.org/drawingml/2006/main">
            <a:r>
              <a:t>        ],</a:t>
            </a:r>
          </a:p>
          <a:p xmlns:a="http://schemas.openxmlformats.org/drawingml/2006/main">
            <a:r>
              <a:t>        "appendix": "a-result-scope-status",</a:t>
            </a:r>
          </a:p>
          <a:p xmlns:a="http://schemas.openxmlformats.org/drawingml/2006/main">
            <a:r>
              <a:t>        "reader": "C01"</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"source_snapshot/installed/docs/gate4_reference_contract_v01.md",</a:t>
            </a:r>
          </a:p>
          <a:p xmlns:a="http://schemas.openxmlformats.org/drawingml/2006/main">
            <a:r>
              <a:t>          "symbol": null,</a:t>
            </a:r>
          </a:p>
          <a:p xmlns:a="http://schemas.openxmlformats.org/drawingml/2006/main">
            <a:r>
              <a:t>          "sha256": "2de0e065adcea5df395fe8a5b62088b9c9d13ff3f91275ad993cf51b53b205ec",</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"Full H-I-J mathematics and LGT remain deferred; no new model weights or authority."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"C03",</a:t>
            </a:r>
          </a:p>
          <a:p xmlns:a="http://schemas.openxmlformats.org/drawingml/2006/main">
            <a:r>
              <a:t>      "title": "Each owner makes a current decision",</a:t>
            </a:r>
          </a:p>
          <a:p xmlns:a="http://schemas.openxmlformats.org/drawingml/2006/main">
            <a:r>
              <a:t>      "claim": "Removing Bank consent leaves the recommendation but produces Bank NEEDS_USER and overall MIXED without hold continuation.",</a:t>
            </a:r>
          </a:p>
          <a:p xmlns:a="http://schemas.openxmlformats.org/drawingml/2006/main">
            <a:r>
              <a:t>      "argument": "A valid arithmetic recommendation does not provide the missing local permission; Client and Airline remain separately ACCEPT.",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5</a:t>
            </a:r>
          </a:p>
          <a:p xmlns:a="http://schemas.openxmlformats.org/drawingml/2006/main">
            <a:r>
              <a:t>        ],</a:t>
            </a:r>
          </a:p>
          <a:p xmlns:a="http://schemas.openxmlformats.org/drawingml/2006/main">
            <a:r>
              <a:t>        "appendix": "g-cp-strategy",</a:t>
            </a:r>
          </a:p>
          <a:p xmlns:a="http://schemas.openxmlformats.org/drawingml/2006/main">
            <a:r>
              <a:t>        "reader": "C03"</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"strategy_reviews_v42",</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"/missing_consent",</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"/mixed/outcome",</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"test_native_independent_consent_and_cross_root",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"/positive",</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"/mixed/reviews/root:mock_bank_a/2",</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"/other_valid_offer",</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"/current_reviews",</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"Genuine in-process Root reviews and cross-root references; not proof of internet federation or legal agreement."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Mathematics participates in the operating architecture</a:t>
            </a:r>
          </a:p>
          <a:p xmlns:a="http://schemas.openxmlformats.org/drawingml/2006/main">
            <a:r>
              <a:t>G4 compares interests and allocates finite local Work. Each Root retains its decision.</a:t>
            </a:r>
          </a:p>
          <a:p xmlns:a="http://schemas.openxmlformats.org/drawingml/2006/main">
            <a:r>
              <a:t>Intent + bounded</a:t>
            </a:r>
          </a:p>
          <a:p xmlns:a="http://schemas.openxmlformats.org/drawingml/2006/main">
            <a:r>
              <a:t>semantic inputs</a:t>
            </a:r>
          </a:p>
          <a:p xmlns:a="http://schemas.openxmlformats.org/drawingml/2006/main">
            <a:r>
              <a:t>Runtime-owned Work</a:t>
            </a:r>
          </a:p>
          <a:p xmlns:a="http://schemas.openxmlformats.org/drawingml/2006/main">
            <a:r>
              <a:t>One local task budget</a:t>
            </a:r>
          </a:p>
          <a:p xmlns:a="http://schemas.openxmlformats.org/drawingml/2006/main">
            <a:r>
              <a:t>G4</a:t>
            </a:r>
          </a:p>
          <a:p xmlns:a="http://schemas.openxmlformats.org/drawingml/2006/main">
            <a:r>
              <a:t>Finite strategy comparison</a:t>
            </a:r>
          </a:p>
          <a:p xmlns:a="http://schemas.openxmlformats.org/drawingml/2006/main">
            <a:r>
              <a:t>Explainable work allocation</a:t>
            </a:r>
          </a:p>
          <a:p xmlns:a="http://schemas.openxmlformats.org/drawingml/2006/main">
            <a:r>
              <a:t>Client Root</a:t>
            </a:r>
          </a:p>
          <a:p xmlns:a="http://schemas.openxmlformats.org/drawingml/2006/main">
            <a:r>
              <a:t>Airline Root</a:t>
            </a:r>
          </a:p>
          <a:p xmlns:a="http://schemas.openxmlformats.org/drawingml/2006/main">
            <a:r>
              <a:t>Bank Root</a:t>
            </a:r>
          </a:p>
          <a:p xmlns:a="http://schemas.openxmlformats.org/drawingml/2006/main">
            <a:r>
              <a:t>G3 local experience</a:t>
            </a:r>
          </a:p>
          <a:p xmlns:a="http://schemas.openxmlformats.org/drawingml/2006/main">
            <a:r>
              <a:t>DRS and time qualify</a:t>
            </a:r>
          </a:p>
          <a:p xmlns:a="http://schemas.openxmlformats.org/drawingml/2006/main">
            <a:r>
              <a:t>current use</a:t>
            </a:r>
          </a:p>
          <a:p xmlns:a="http://schemas.openxmlformats.org/drawingml/2006/main">
            <a:r>
              <a:t>Conceptual architecture view. Dashed: advisory input. Solid: evidence for independent review.</a:t>
            </a:r>
          </a:p>
          <a:p xmlns:a="http://schemas.openxmlformats.org/drawingml/2006/main">
            <a:r>
              <a:t>C01 / C03   Technical evidence</a:t>
            </a:r>
          </a:p>
          <a:p xmlns:a="http://schemas.openxmlformats.org/drawingml/2006/main">
            <a:r>
              <a:t>GATE 4 REFERENCE  /  23 SEPTEMBER 2026</a:t>
            </a:r>
          </a:p>
          <a:p xmlns:a="http://schemas.openxmlformats.org/drawingml/2006/main">
            <a:r>
              <a:t>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"Controlled records, not a live airline catalogue. Legacy departure and return dates remain in originals. Utility disclosures are configured reference normalizations for client price margin and seat preference, airline revenue and bank budget margin. They are not EUR, probabilities or empirical happiness.",</a:t>
            </a:r>
          </a:p>
          <a:p xmlns:a="http://schemas.openxmlformats.org/drawingml/2006/main">
            <a:r>
              <a:t>  "sources": [</a:t>
            </a:r>
          </a:p>
          <a:p xmlns:a="http://schemas.openxmlformats.org/drawingml/2006/main">
            <a:r>
              <a:t>    {</a:t>
            </a:r>
          </a:p>
          <a:p xmlns:a="http://schemas.openxmlformats.org/drawingml/2006/main">
            <a:r>
              <a:t>      "path": "evidence/g44/portable_publication_final/story/comparisons.json",</a:t>
            </a:r>
          </a:p>
          <a:p xmlns:a="http://schemas.openxmlformats.org/drawingml/2006/main">
            <a:r>
              <a:t>      "sha256": "dc273a2127eb0b5116b14a48cc1c5bd2789af5fe900a2a575d5b636b9459e26e"</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"C02",</a:t>
            </a:r>
          </a:p>
          <a:p xmlns:a="http://schemas.openxmlformats.org/drawingml/2006/main">
            <a:r>
              <a:t>      "title": "Preference changes the prepared offer",</a:t>
            </a:r>
          </a:p>
          <a:p xmlns:a="http://schemas.openxmlformats.org/drawingml/2006/main">
            <a:r>
              <a:t>      "claim": "PRICE_FIRST prepares offer0; COMFORT_FIRST prepares offer1.",</a:t>
            </a:r>
          </a:p>
          <a:p xmlns:a="http://schemas.openxmlformats.org/drawingml/2006/main">
            <a:r>
              <a:t>      "argument": "Both reports rank the same two valid offers, then each selection is consumed by current reviews, resolution and a prepared hold.",</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"appendix": "g-cp-strategy",</a:t>
            </a:r>
          </a:p>
          <a:p xmlns:a="http://schemas.openxmlformats.org/drawingml/2006/main">
            <a:r>
              <a:t>        "reader": "C02"</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"prepare_hold_v42",</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"/cp_strategy",</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"/strategy_inputs",</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"evidence/g44/portable_publication_final/story/contrast/allocation_before_install.json",</a:t>
            </a:r>
          </a:p>
          <a:p xmlns:a="http://schemas.openxmlformats.org/drawingml/2006/main">
            <a:r>
              <a:t>          "json_pointer": "/strategy_inputs",</a:t>
            </a:r>
          </a:p>
          <a:p xmlns:a="http://schemas.openxmlformats.org/drawingml/2006/main">
            <a:r>
              <a:t>          "sha256": "0dfdb1ebee2a5a8986b2fb0418ac5b9daf9eddae29068bb079825feb8120ff0c",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"/binding",</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"evidence/g44/portable_publication_final/story/contrast/domain_consumption.json",</a:t>
            </a:r>
          </a:p>
          <a:p xmlns:a="http://schemas.openxmlformats.org/drawingml/2006/main">
            <a:r>
              <a:t>          "json_pointer": "/binding",</a:t>
            </a:r>
          </a:p>
          <a:p xmlns:a="http://schemas.openxmlformats.org/drawingml/2006/main">
            <a:r>
              <a:t>          "sha256": "b110242235108154f7fb2ba4002f174388b9e0d00ef88b99170ddf29db7c79ff",</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"evidence/g44/portable_publication_final/story/native_supplied_controls.json",</a:t>
            </a:r>
          </a:p>
          <a:p xmlns:a="http://schemas.openxmlformats.org/drawingml/2006/main">
            <a:r>
              <a:t>          "json_pointer": "/coherent_changed_price",</a:t>
            </a:r>
          </a:p>
          <a:p xmlns:a="http://schemas.openxmlformats.org/drawingml/2006/main">
            <a:r>
              <a:t>          "sha256": "e632aad1ce0aeb9fcdf4c2a74bb912e609aecc92e741769ed2df63b3b8703e6a",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"/hold",</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"evidence/g44/portable_publication_final/story/contrast/domain_consumption.json",</a:t>
            </a:r>
          </a:p>
          <a:p xmlns:a="http://schemas.openxmlformats.org/drawingml/2006/main">
            <a:r>
              <a:t>          "json_pointer": "/hold",</a:t>
            </a:r>
          </a:p>
          <a:p xmlns:a="http://schemas.openxmlformats.org/drawingml/2006/main">
            <a:r>
              <a:t>          "sha256": "b110242235108154f7fb2ba4002f174388b9e0d00ef88b99170ddf29db7c79ff",</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"PREPARATION_ONLY_NOT_EXECUTED; no booking, payment or seat reservation."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"C04",</a:t>
            </a:r>
          </a:p>
          <a:p xmlns:a="http://schemas.openxmlformats.org/drawingml/2006/main">
            <a:r>
              <a:t>      "title": "Exact finite ranking",</a:t>
            </a:r>
          </a:p>
          <a:p xmlns:a="http://schemas.openxmlformats.org/drawingml/2006/main">
            <a:r>
              <a:t>      "claim": "Feasibility, IR, strict Pareto and equal-exponent integer products give an explainable finite recommendation.",</a:t>
            </a:r>
          </a:p>
          <a:p xmlns:a="http://schemas.openxmlformats.org/drawingml/2006/main">
            <a:r>
              <a:t>      "argument": "Original integer utilities and products are retained; both native offers are feasible, IR and Pareto.",</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4</a:t>
            </a:r>
          </a:p>
          <a:p xmlns:a="http://schemas.openxmlformats.org/drawingml/2006/main">
            <a:r>
              <a:t>        ],</a:t>
            </a:r>
          </a:p>
          <a:p xmlns:a="http://schemas.openxmlformats.org/drawingml/2006/main">
            <a:r>
              <a:t>        "appendix": "e-strategy-mathematics",</a:t>
            </a:r>
          </a:p>
          <a:p xmlns:a="http://schemas.openxmlformats.org/drawingml/2006/main">
            <a:r>
              <a:t>        "reader": "C04"</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"validate_reference_strategy_report_v01",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"evidence/g44/portable_publication_final/story/contrast/domain_consumption.json",</a:t>
            </a:r>
          </a:p>
          <a:p xmlns:a="http://schemas.openxmlformats.org/drawingml/2006/main">
            <a:r>
              <a:t>          "json_pointer": "/bridge/strategy",</a:t>
            </a:r>
          </a:p>
          <a:p xmlns:a="http://schemas.openxmlformats.org/drawingml/2006/main">
            <a:r>
              <a:t>          "sha256": "b110242235108154f7fb2ba4002f174388b9e0d00ef88b99170ddf29db7c79ff",</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"test_strategy_fixed_sets_products_and_witness",</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"test_epsilon_pareto_equal_vectors_and_single_final_round",</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"/bridge/strategy/scores",</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"/output/strategy_report",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"Configured utility units; not a probability, Nash equilibrium, incentive compatibility or universal fairness."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"C05",</a:t>
            </a:r>
          </a:p>
          <a:p xmlns:a="http://schemas.openxmlformats.org/drawingml/2006/main">
            <a:r>
              <a:t>      "title": "Suitability precedes ranking",</a:t>
            </a:r>
          </a:p>
          <a:p xmlns:a="http://schemas.openxmlformats.org/drawingml/2006/main">
            <a:r>
              <a:t>      "claim": "Known hard-false cases are excluded before score allocation; missing required evidence does not become zero.",</a:t>
            </a:r>
          </a:p>
          <a:p xmlns:a="http://schemas.openxmlformats.org/drawingml/2006/main">
            <a:r>
              <a:t>      "argument": "Strict contracts, explicit missing sets and report recomputation separate malformed, unknown and genuine no-deal outcomes.",</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3,</a:t>
            </a:r>
          </a:p>
          <a:p xmlns:a="http://schemas.openxmlformats.org/drawingml/2006/main">
            <a:r>
              <a:t>          10</a:t>
            </a:r>
          </a:p>
          <a:p xmlns:a="http://schemas.openxmlformats.org/drawingml/2006/main">
            <a:r>
              <a:t>        ],</a:t>
            </a:r>
          </a:p>
          <a:p xmlns:a="http://schemas.openxmlformats.org/drawingml/2006/main">
            <a:r>
              <a:t>        "appendix": "e-strategy-mathematics",</a:t>
            </a:r>
          </a:p>
          <a:p xmlns:a="http://schemas.openxmlformats.org/drawingml/2006/main">
            <a:r>
              <a:t>        "reader": "C05"</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"evaluate_reference_pressure_v01",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"/bridge/strategy/exclusions",</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"test_strategy_dispositions",</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"test_mask_before_softmax_negative_score_and_history_once",</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"/bridge/strategy/feasible",</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"evidence/g44/portable_publication_final/story/native_supplied_controls.json",</a:t>
            </a:r>
          </a:p>
          <a:p xmlns:a="http://schemas.openxmlformats.org/drawingml/2006/main">
            <a:r>
              <a:t>          "json_pointer": "/evaluation_time",</a:t>
            </a:r>
          </a:p>
          <a:p xmlns:a="http://schemas.openxmlformats.org/drawingml/2006/main">
            <a:r>
              <a:t>          "sha256": "e632aad1ce0aeb9fcdf4c2a74bb912e609aecc92e741769ed2df63b3b8703e6a",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"limits": [</a:t>
            </a:r>
          </a:p>
          <a:p xmlns:a="http://schemas.openxmlformats.org/drawingml/2006/main">
            <a:r>
              <a:t>        "Schema shape, arithmetic, contextual suitability and local permission remain separate checks."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Two valid offers express different interests</a:t>
            </a:r>
          </a:p>
          <a:p xmlns:a="http://schemas.openxmlformats.org/drawingml/2006/main">
            <a:r>
              <a:t>Controlled Airline records share a EUR 840 ceiling, required baggage and no overnight layover.</a:t>
            </a:r>
          </a:p>
          <a:p xmlns:a="http://schemas.openxmlformats.org/drawingml/2006/main">
            <a:r>
              <a:t>offer:0</a:t>
            </a:r>
          </a:p>
          <a:p xmlns:a="http://schemas.openxmlformats.org/drawingml/2006/main">
            <a:r>
              <a:t>EUR 790</a:t>
            </a:r>
          </a:p>
          <a:p xmlns:a="http://schemas.openxmlformats.org/drawingml/2006/main">
            <a:r>
              <a:t>Standard seat</a:t>
            </a:r>
          </a:p>
          <a:p xmlns:a="http://schemas.openxmlformats.org/drawingml/2006/main">
            <a:r>
              <a:t>Window</a:t>
            </a:r>
          </a:p>
          <a:p xmlns:a="http://schemas.openxmlformats.org/drawingml/2006/main">
            <a:r>
              <a:t>offer:1</a:t>
            </a:r>
          </a:p>
          <a:p xmlns:a="http://schemas.openxmlformats.org/drawingml/2006/main">
            <a:r>
              <a:t>EUR 815</a:t>
            </a:r>
          </a:p>
          <a:p xmlns:a="http://schemas.openxmlformats.org/drawingml/2006/main">
            <a:r>
              <a:t>Extra legroom</a:t>
            </a:r>
          </a:p>
          <a:p xmlns:a="http://schemas.openxmlformats.org/drawingml/2006/main">
            <a:r>
              <a:t>Aisle</a:t>
            </a:r>
          </a:p>
          <a:p xmlns:a="http://schemas.openxmlformats.org/drawingml/2006/main">
            <a:r>
              <a:t>Client: price + seat preference     Airline: revenue     Bank: budget margin</a:t>
            </a:r>
          </a:p>
          <a:p xmlns:a="http://schemas.openxmlformats.org/drawingml/2006/main">
            <a:r>
              <a:t>C02 / C04   Technical evidence</a:t>
            </a:r>
          </a:p>
          <a:p xmlns:a="http://schemas.openxmlformats.org/drawingml/2006/main">
            <a:r>
              <a:t>GATE 4 REFERENCE  /  23 SEPTEMBER 2026</a:t>
            </a:r>
          </a:p>
          <a:p xmlns:a="http://schemas.openxmlformats.org/drawingml/2006/main">
            <a:r>
              <a:t>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"Both native candidates satisfy known hard predicates, individual rationality and Pareto filtering. D_i=0 and all alpha_i=1. Source fixed-point utility Q=10^9 and score denominator Q^3. Native integer reports determine ranking. This is finite reference bargaining, not Nash equilibrium or a fairness guarantee. No new live LLM calls.",</a:t>
            </a:r>
          </a:p>
          <a:p xmlns:a="http://schemas.openxmlformats.org/drawingml/2006/main">
            <a:r>
              <a:t>  "sources": [</a:t>
            </a:r>
          </a:p>
          <a:p xmlns:a="http://schemas.openxmlformats.org/drawingml/2006/main">
            <a:r>
              <a:t>    {</a:t>
            </a:r>
          </a:p>
          <a:p xmlns:a="http://schemas.openxmlformats.org/drawingml/2006/main">
            <a:r>
              <a:t>      "path": "evidence/g44/portable_publication_final/story/comparisons.json",</a:t>
            </a:r>
          </a:p>
          <a:p xmlns:a="http://schemas.openxmlformats.org/drawingml/2006/main">
            <a:r>
              <a:t>      "sha256": "dc273a2127eb0b5116b14a48cc1c5bd2789af5fe900a2a575d5b636b9459e26e"</a:t>
            </a:r>
          </a:p>
          <a:p xmlns:a="http://schemas.openxmlformats.org/drawingml/2006/main">
            <a:r>
              <a:t>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"sha256": "7118fe39ef0ffc18e0c724955a10b2a861ff887b22ed5fbddfda2a1c934cf628"</a:t>
            </a:r>
          </a:p>
          <a:p xmlns:a="http://schemas.openxmlformats.org/drawingml/2006/main">
            <a:r>
              <a:t>    },</a:t>
            </a:r>
          </a:p>
          <a:p xmlns:a="http://schemas.openxmlformats.org/drawingml/2006/main">
            <a:r>
              <a:t>    {</a:t>
            </a:r>
          </a:p>
          <a:p xmlns:a="http://schemas.openxmlformats.org/drawingml/2006/main">
            <a:r>
              <a:t>      "path": "evidence/g44/portable_publication_final/story/contrast/domain_consumption.json",</a:t>
            </a:r>
          </a:p>
          <a:p xmlns:a="http://schemas.openxmlformats.org/drawingml/2006/main">
            <a:r>
              <a:t>      "sha256": "b110242235108154f7fb2ba4002f174388b9e0d00ef88b99170ddf29db7c79ff"</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"sha256": "189320e2e447e4c199c233b42ae9ec9ed6e07a7ba82e191342b075ff87aead98"</a:t>
            </a:r>
          </a:p>
          <a:p xmlns:a="http://schemas.openxmlformats.org/drawingml/2006/main">
            <a:r>
              <a:t>    },</a:t>
            </a:r>
          </a:p>
          <a:p xmlns:a="http://schemas.openxmlformats.org/drawingml/2006/main">
            <a:r>
              <a:t>    {</a:t>
            </a:r>
          </a:p>
          <a:p xmlns:a="http://schemas.openxmlformats.org/drawingml/2006/main">
            <a:r>
              <a:t>      "path": "evidence/g44/portable_publication_final/story/contrast/allocation_before_install.json",</a:t>
            </a:r>
          </a:p>
          <a:p xmlns:a="http://schemas.openxmlformats.org/drawingml/2006/main">
            <a:r>
              <a:t>      "sha256": "0dfdb1ebee2a5a8986b2fb0418ac5b9daf9eddae29068bb079825feb8120ff0c"</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"C02",</a:t>
            </a:r>
          </a:p>
          <a:p xmlns:a="http://schemas.openxmlformats.org/drawingml/2006/main">
            <a:r>
              <a:t>      "title": "Preference changes the prepared offer",</a:t>
            </a:r>
          </a:p>
          <a:p xmlns:a="http://schemas.openxmlformats.org/drawingml/2006/main">
            <a:r>
              <a:t>      "claim": "PRICE_FIRST prepares offer0; COMFORT_FIRST prepares offer1.",</a:t>
            </a:r>
          </a:p>
          <a:p xmlns:a="http://schemas.openxmlformats.org/drawingml/2006/main">
            <a:r>
              <a:t>      "argument": "Both reports rank the same two valid offers, then each selection is consumed by current reviews, resolution and a prepared hold.",</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3,</a:t>
            </a:r>
          </a:p>
          <a:p xmlns:a="http://schemas.openxmlformats.org/drawingml/2006/main">
            <a:r>
              <a:t>          4</a:t>
            </a:r>
          </a:p>
          <a:p xmlns:a="http://schemas.openxmlformats.org/drawingml/2006/main">
            <a:r>
              <a:t>        ],</a:t>
            </a:r>
          </a:p>
          <a:p xmlns:a="http://schemas.openxmlformats.org/drawingml/2006/main">
            <a:r>
              <a:t>        "appendix": "g-cp-strategy",</a:t>
            </a:r>
          </a:p>
          <a:p xmlns:a="http://schemas.openxmlformats.org/drawingml/2006/main">
            <a:r>
              <a:t>        "reader": "C02"</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"prepare_hold_v42",</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"/cp_strategy",</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"/strategy_inputs",</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"evidence/g44/portable_publication_final/story/contrast/allocation_before_install.json",</a:t>
            </a:r>
          </a:p>
          <a:p xmlns:a="http://schemas.openxmlformats.org/drawingml/2006/main">
            <a:r>
              <a:t>          "json_pointer": "/strategy_inputs",</a:t>
            </a:r>
          </a:p>
          <a:p xmlns:a="http://schemas.openxmlformats.org/drawingml/2006/main">
            <a:r>
              <a:t>          "sha256": "0dfdb1ebee2a5a8986b2fb0418ac5b9daf9eddae29068bb079825feb8120ff0c",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"/binding",</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"evidence/g44/portable_publication_final/story/contrast/domain_consumption.json",</a:t>
            </a:r>
          </a:p>
          <a:p xmlns:a="http://schemas.openxmlformats.org/drawingml/2006/main">
            <a:r>
              <a:t>          "json_pointer": "/binding",</a:t>
            </a:r>
          </a:p>
          <a:p xmlns:a="http://schemas.openxmlformats.org/drawingml/2006/main">
            <a:r>
              <a:t>          "sha256": "b110242235108154f7fb2ba4002f174388b9e0d00ef88b99170ddf29db7c79ff",</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"evidence/g44/portable_publication_final/story/native_supplied_controls.json",</a:t>
            </a:r>
          </a:p>
          <a:p xmlns:a="http://schemas.openxmlformats.org/drawingml/2006/main">
            <a:r>
              <a:t>          "json_pointer": "/coherent_changed_price",</a:t>
            </a:r>
          </a:p>
          <a:p xmlns:a="http://schemas.openxmlformats.org/drawingml/2006/main">
            <a:r>
              <a:t>          "sha256": "e632aad1ce0aeb9fcdf4c2a74bb912e609aecc92e741769ed2df63b3b8703e6a",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"/hold",</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"evidence/g44/portable_publication_final/story/contrast/domain_consumption.json",</a:t>
            </a:r>
          </a:p>
          <a:p xmlns:a="http://schemas.openxmlformats.org/drawingml/2006/main">
            <a:r>
              <a:t>          "json_pointer": "/hold",</a:t>
            </a:r>
          </a:p>
          <a:p xmlns:a="http://schemas.openxmlformats.org/drawingml/2006/main">
            <a:r>
              <a:t>          "sha256": "b110242235108154f7fb2ba4002f174388b9e0d00ef88b99170ddf29db7c79ff",</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"PREPARATION_ONLY_NOT_EXECUTED; no booking, payment or seat reservation."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"C04",</a:t>
            </a:r>
          </a:p>
          <a:p xmlns:a="http://schemas.openxmlformats.org/drawingml/2006/main">
            <a:r>
              <a:t>      "title": "Exact finite ranking",</a:t>
            </a:r>
          </a:p>
          <a:p xmlns:a="http://schemas.openxmlformats.org/drawingml/2006/main">
            <a:r>
              <a:t>      "claim": "Feasibility, IR, strict Pareto and equal-exponent integer products give an explainable finite recommendation.",</a:t>
            </a:r>
          </a:p>
          <a:p xmlns:a="http://schemas.openxmlformats.org/drawingml/2006/main">
            <a:r>
              <a:t>      "argument": "Original integer utilities and products are retained; both native offers are feasible, IR and Pareto.",</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4</a:t>
            </a:r>
          </a:p>
          <a:p xmlns:a="http://schemas.openxmlformats.org/drawingml/2006/main">
            <a:r>
              <a:t>        ],</a:t>
            </a:r>
          </a:p>
          <a:p xmlns:a="http://schemas.openxmlformats.org/drawingml/2006/main">
            <a:r>
              <a:t>        "appendix": "e-strategy-mathematics",</a:t>
            </a:r>
          </a:p>
          <a:p xmlns:a="http://schemas.openxmlformats.org/drawingml/2006/main">
            <a:r>
              <a:t>        "reader": "C04"</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"validate_reference_strategy_report_v01",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"evidence/g44/portable_publication_final/story/contrast/domain_consumption.json",</a:t>
            </a:r>
          </a:p>
          <a:p xmlns:a="http://schemas.openxmlformats.org/drawingml/2006/main">
            <a:r>
              <a:t>          "json_pointer": "/bridge/strategy",</a:t>
            </a:r>
          </a:p>
          <a:p xmlns:a="http://schemas.openxmlformats.org/drawingml/2006/main">
            <a:r>
              <a:t>          "sha256": "b110242235108154f7fb2ba4002f174388b9e0d00ef88b99170ddf29db7c79ff",</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"test_strategy_fixed_sets_products_and_witness",</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"test_epsilon_pareto_equal_vectors_and_single_final_round",</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"/bridge/strategy/scores",</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"/output/strategy_report",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"Configured utility units; not a probability, Nash equilibrium, incentive compatibility or universal fairness."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The declared preference changes the prepared offer</a:t>
            </a:r>
          </a:p>
          <a:p xmlns:a="http://schemas.openxmlformats.org/drawingml/2006/main">
            <a:r>
              <a:t>Configured utility units and the finite Nash-product criterion yield different winners.</a:t>
            </a:r>
          </a:p>
          <a:p xmlns:a="http://schemas.openxmlformats.org/drawingml/2006/main">
            <a:r>
              <a:t>Profile</a:t>
            </a:r>
          </a:p>
          <a:p xmlns:a="http://schemas.openxmlformats.org/drawingml/2006/main">
            <a:r>
              <a:t>Offer</a:t>
            </a:r>
          </a:p>
          <a:p xmlns:a="http://schemas.openxmlformats.org/drawingml/2006/main">
            <a:r>
              <a:t>Client U</a:t>
            </a:r>
          </a:p>
          <a:p xmlns:a="http://schemas.openxmlformats.org/drawingml/2006/main">
            <a:r>
              <a:t>Airline U</a:t>
            </a:r>
          </a:p>
          <a:p xmlns:a="http://schemas.openxmlformats.org/drawingml/2006/main">
            <a:r>
              <a:t>Bank U</a:t>
            </a:r>
          </a:p>
          <a:p xmlns:a="http://schemas.openxmlformats.org/drawingml/2006/main">
            <a:r>
              <a:t>Product</a:t>
            </a:r>
          </a:p>
          <a:p xmlns:a="http://schemas.openxmlformats.org/drawingml/2006/main">
            <a:r>
              <a:t>PRICE_FIRST</a:t>
            </a:r>
          </a:p>
          <a:p xmlns:a="http://schemas.openxmlformats.org/drawingml/2006/main">
            <a:r>
              <a:t>offer:0</a:t>
            </a:r>
          </a:p>
          <a:p xmlns:a="http://schemas.openxmlformats.org/drawingml/2006/main">
            <a:r>
              <a:t>0.500</a:t>
            </a:r>
          </a:p>
          <a:p xmlns:a="http://schemas.openxmlformats.org/drawingml/2006/main">
            <a:r>
              <a:t>0.790</a:t>
            </a:r>
          </a:p>
          <a:p xmlns:a="http://schemas.openxmlformats.org/drawingml/2006/main">
            <a:r>
              <a:t>0.050</a:t>
            </a:r>
          </a:p>
          <a:p xmlns:a="http://schemas.openxmlformats.org/drawingml/2006/main">
            <a:r>
              <a:t>0.01975</a:t>
            </a:r>
          </a:p>
          <a:p xmlns:a="http://schemas.openxmlformats.org/drawingml/2006/main">
            <a:r>
              <a:t>PRICE_FIRST</a:t>
            </a:r>
          </a:p>
          <a:p xmlns:a="http://schemas.openxmlformats.org/drawingml/2006/main">
            <a:r>
              <a:t>offer:1</a:t>
            </a:r>
          </a:p>
          <a:p xmlns:a="http://schemas.openxmlformats.org/drawingml/2006/main">
            <a:r>
              <a:t>0.250</a:t>
            </a:r>
          </a:p>
          <a:p xmlns:a="http://schemas.openxmlformats.org/drawingml/2006/main">
            <a:r>
              <a:t>0.815</a:t>
            </a:r>
          </a:p>
          <a:p xmlns:a="http://schemas.openxmlformats.org/drawingml/2006/main">
            <a:r>
              <a:t>0.025</a:t>
            </a:r>
          </a:p>
          <a:p xmlns:a="http://schemas.openxmlformats.org/drawingml/2006/main">
            <a:r>
              <a:t>0.00509375</a:t>
            </a:r>
          </a:p>
          <a:p xmlns:a="http://schemas.openxmlformats.org/drawingml/2006/main">
            <a:r>
              <a:t>COMFORT_FIRST</a:t>
            </a:r>
          </a:p>
          <a:p xmlns:a="http://schemas.openxmlformats.org/drawingml/2006/main">
            <a:r>
              <a:t>offer:0</a:t>
            </a:r>
          </a:p>
          <a:p xmlns:a="http://schemas.openxmlformats.org/drawingml/2006/main">
            <a:r>
              <a:t>0.050</a:t>
            </a:r>
          </a:p>
          <a:p xmlns:a="http://schemas.openxmlformats.org/drawingml/2006/main">
            <a:r>
              <a:t>0.790</a:t>
            </a:r>
          </a:p>
          <a:p xmlns:a="http://schemas.openxmlformats.org/drawingml/2006/main">
            <a:r>
              <a:t>0.050</a:t>
            </a:r>
          </a:p>
          <a:p xmlns:a="http://schemas.openxmlformats.org/drawingml/2006/main">
            <a:r>
              <a:t>0.001975</a:t>
            </a:r>
          </a:p>
          <a:p xmlns:a="http://schemas.openxmlformats.org/drawingml/2006/main">
            <a:r>
              <a:t>COMFORT_FIRST</a:t>
            </a:r>
          </a:p>
          <a:p xmlns:a="http://schemas.openxmlformats.org/drawingml/2006/main">
            <a:r>
              <a:t>offer:1</a:t>
            </a:r>
          </a:p>
          <a:p xmlns:a="http://schemas.openxmlformats.org/drawingml/2006/main">
            <a:r>
              <a:t>0.925</a:t>
            </a:r>
          </a:p>
          <a:p xmlns:a="http://schemas.openxmlformats.org/drawingml/2006/main">
            <a:r>
              <a:t>0.815</a:t>
            </a:r>
          </a:p>
          <a:p xmlns:a="http://schemas.openxmlformats.org/drawingml/2006/main">
            <a:r>
              <a:t>0.025</a:t>
            </a:r>
          </a:p>
          <a:p xmlns:a="http://schemas.openxmlformats.org/drawingml/2006/main">
            <a:r>
              <a:t>0.018846875</a:t>
            </a:r>
          </a:p>
          <a:p xmlns:a="http://schemas.openxmlformats.org/drawingml/2006/main">
            <a:r>
              <a:t>PRICE_FIRST selects offer:0</a:t>
            </a:r>
          </a:p>
          <a:p xmlns:a="http://schemas.openxmlformats.org/drawingml/2006/main">
            <a:r>
              <a:t>COMFORT_FIRST selects offer:1</a:t>
            </a:r>
          </a:p>
          <a:p xmlns:a="http://schemas.openxmlformats.org/drawingml/2006/main">
            <a:r>
              <a:t>Current Root reviews and offer resolution create a prepared hold record</a:t>
            </a:r>
          </a:p>
          <a:p xmlns:a="http://schemas.openxmlformats.org/drawingml/2006/main">
            <a:r>
              <a:t>PREPARATION_ONLY_NOT_EXECUTED. No payment or external booking.</a:t>
            </a:r>
          </a:p>
          <a:p xmlns:a="http://schemas.openxmlformats.org/drawingml/2006/main">
            <a:r>
              <a:t>C02 / C04   Technical evidence</a:t>
            </a:r>
          </a:p>
          <a:p xmlns:a="http://schemas.openxmlformats.org/drawingml/2006/main">
            <a:r>
              <a:t>GATE 4 REFERENCE  /  23 SEPTEMBER 2026</a:t>
            </a:r>
          </a:p>
          <a:p xmlns:a="http://schemas.openxmlformats.org/drawingml/2006/main">
            <a:r>
              <a:t>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"Positive outcome PASS: Client, Airline and Bank ACCEPT. Removing the needed Bank consent produces Bank NEEDS_USER, overall MIXED and no domain continuation. Airline consent field is None in both lanes because its local admission requirements differ. Cross-root records carry evidence without transferred authority.",</a:t>
            </a:r>
          </a:p>
          <a:p xmlns:a="http://schemas.openxmlformats.org/drawingml/2006/main">
            <a:r>
              <a:t>  "sources":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"sha256": "30ccd442bcd11890239f0faeb663d3d60e31c0fcb8c94c1e9bc58a72b9daf9d6"</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"C03",</a:t>
            </a:r>
          </a:p>
          <a:p xmlns:a="http://schemas.openxmlformats.org/drawingml/2006/main">
            <a:r>
              <a:t>      "title": "Each owner makes a current decision",</a:t>
            </a:r>
          </a:p>
          <a:p xmlns:a="http://schemas.openxmlformats.org/drawingml/2006/main">
            <a:r>
              <a:t>      "claim": "Removing Bank consent leaves the recommendation but produces Bank NEEDS_USER and overall MIXED without hold continuation.",</a:t>
            </a:r>
          </a:p>
          <a:p xmlns:a="http://schemas.openxmlformats.org/drawingml/2006/main">
            <a:r>
              <a:t>      "argument": "A valid arithmetic recommendation does not provide the missing local permission; Client and Airline remain separately ACCEPT.",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5</a:t>
            </a:r>
          </a:p>
          <a:p xmlns:a="http://schemas.openxmlformats.org/drawingml/2006/main">
            <a:r>
              <a:t>        ],</a:t>
            </a:r>
          </a:p>
          <a:p xmlns:a="http://schemas.openxmlformats.org/drawingml/2006/main">
            <a:r>
              <a:t>        "appendix": "g-cp-strategy",</a:t>
            </a:r>
          </a:p>
          <a:p xmlns:a="http://schemas.openxmlformats.org/drawingml/2006/main">
            <a:r>
              <a:t>        "reader": "C03"</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"strategy_reviews_v42",</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"/missing_consent",</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"/mixed/outcome",</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"test_native_independent_consent_and_cross_root",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"/positive",</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"/mixed/reviews/root:mock_bank_a/2",</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"evidence/g44/portable_publication_final/story/consent_cross_root_controls.json",</a:t>
            </a:r>
          </a:p>
          <a:p xmlns:a="http://schemas.openxmlformats.org/drawingml/2006/main">
            <a:r>
              <a:t>          "json_pointer": "/other_valid_offer",</a:t>
            </a:r>
          </a:p>
          <a:p xmlns:a="http://schemas.openxmlformats.org/drawingml/2006/main">
            <a:r>
              <a:t>          "sha256": "30ccd442bcd11890239f0faeb663d3d60e31c0fcb8c94c1e9bc58a72b9daf9d6",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"/current_reviews",</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"Genuine in-process Root reviews and cross-root references; not proof of internet federation or legal agreement."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Each owner makes a current decision</a:t>
            </a:r>
          </a:p>
          <a:p xmlns:a="http://schemas.openxmlformats.org/drawingml/2006/main">
            <a:r>
              <a:t>The recommendation remains offer:0 when Bank consent is missing.</a:t>
            </a:r>
          </a:p>
          <a:p xmlns:a="http://schemas.openxmlformats.org/drawingml/2006/main">
            <a:r>
              <a:t>Independent owner</a:t>
            </a:r>
          </a:p>
          <a:p xmlns:a="http://schemas.openxmlformats.org/drawingml/2006/main">
            <a:r>
              <a:t>With required consent</a:t>
            </a:r>
          </a:p>
          <a:p xmlns:a="http://schemas.openxmlformats.org/drawingml/2006/main">
            <a:r>
              <a:t>Missing Bank consent</a:t>
            </a:r>
          </a:p>
          <a:p xmlns:a="http://schemas.openxmlformats.org/drawingml/2006/main">
            <a:r>
              <a:t>Client Root</a:t>
            </a:r>
          </a:p>
          <a:p xmlns:a="http://schemas.openxmlformats.org/drawingml/2006/main">
            <a:r>
              <a:t>ACCEPT</a:t>
            </a:r>
          </a:p>
          <a:p xmlns:a="http://schemas.openxmlformats.org/drawingml/2006/main">
            <a:r>
              <a:t>ACCEPT</a:t>
            </a:r>
          </a:p>
          <a:p xmlns:a="http://schemas.openxmlformats.org/drawingml/2006/main">
            <a:r>
              <a:t>Airline Root</a:t>
            </a:r>
          </a:p>
          <a:p xmlns:a="http://schemas.openxmlformats.org/drawingml/2006/main">
            <a:r>
              <a:t>ACCEPT</a:t>
            </a:r>
          </a:p>
          <a:p xmlns:a="http://schemas.openxmlformats.org/drawingml/2006/main">
            <a:r>
              <a:t>ACCEPT</a:t>
            </a:r>
          </a:p>
          <a:p xmlns:a="http://schemas.openxmlformats.org/drawingml/2006/main">
            <a:r>
              <a:t>Bank Root</a:t>
            </a:r>
          </a:p>
          <a:p xmlns:a="http://schemas.openxmlformats.org/drawingml/2006/main">
            <a:r>
              <a:t>ACCEPT</a:t>
            </a:r>
          </a:p>
          <a:p xmlns:a="http://schemas.openxmlformats.org/drawingml/2006/main">
            <a:r>
              <a:t>NEEDS_USER</a:t>
            </a:r>
          </a:p>
          <a:p xmlns:a="http://schemas.openxmlformats.org/drawingml/2006/main">
            <a:r>
              <a:t>Prepared offer:0</a:t>
            </a:r>
          </a:p>
          <a:p xmlns:a="http://schemas.openxmlformats.org/drawingml/2006/main">
            <a:r>
              <a:t>MIXED</a:t>
            </a:r>
          </a:p>
          <a:p xmlns:a="http://schemas.openxmlformats.org/drawingml/2006/main">
            <a:r>
              <a:t>No domain continuation</a:t>
            </a:r>
          </a:p>
          <a:p xmlns:a="http://schemas.openxmlformats.org/drawingml/2006/main">
            <a:r>
              <a:t>C03   Technical evidence</a:t>
            </a:r>
          </a:p>
          <a:p xmlns:a="http://schemas.openxmlformats.org/drawingml/2006/main">
            <a:r>
              <a:t>GATE 4 REFERENCE  /  23 SEPTEMBER 2026</a:t>
            </a:r>
          </a:p>
          <a:p xmlns:a="http://schemas.openxmlformats.org/drawingml/2006/main">
            <a:r>
              <a:t>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"One unit is ONE_NATIVE_WORK_DISPATCH_UNIT. The local original cap is 9, spent=1, reserved mandatory final consumer=1 and available optional=7. Branch lower=2 upper=6. Catalogue has 12 possible optional quanta, seven execute. CPU time, money and token savings were not measured.",</a:t>
            </a:r>
          </a:p>
          <a:p xmlns:a="http://schemas.openxmlformats.org/drawingml/2006/main">
            <a:r>
              <a:t>  "sources": [</a:t>
            </a:r>
          </a:p>
          <a:p xmlns:a="http://schemas.openxmlformats.org/drawingml/2006/main">
            <a:r>
              <a:t>    {</a:t>
            </a:r>
          </a:p>
          <a:p xmlns:a="http://schemas.openxmlformats.org/drawingml/2006/main">
            <a:r>
              <a:t>      "path": "evidence/g44/portable_publication_final/story/comparisons.json",</a:t>
            </a:r>
          </a:p>
          <a:p xmlns:a="http://schemas.openxmlformats.org/drawingml/2006/main">
            <a:r>
              <a:t>      "sha256": "dc273a2127eb0b5116b14a48cc1c5bd2789af5fe900a2a575d5b636b9459e26e"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"sha256": "189320e2e447e4c199c233b42ae9ec9ed6e07a7ba82e191342b075ff87aead98"</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"C07",</a:t>
            </a:r>
          </a:p>
          <a:p xmlns:a="http://schemas.openxmlformats.org/drawingml/2006/main">
            <a:r>
              <a:t>      "title": "History changes actual checks",</a:t>
            </a:r>
          </a:p>
          <a:p xmlns:a="http://schemas.openxmlformats.org/drawingml/2006/main">
            <a:r>
              <a:t>      "claim": "Under the same PRICE_FIRST profile, allocations and performed optional checks change from 4/3 to 3/4.",</a:t>
            </a:r>
          </a:p>
          <a:p xmlns:a="http://schemas.openxmlformats.org/drawingml/2006/main">
            <a:r>
              <a:t>      "argument": "The fourth price check moves from offer0 to offer1 and the final output lists the actual consumed quanta; offer0 remains selected.",</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"appendix": "h-cp-budget",</a:t>
            </a:r>
          </a:p>
          <a:p xmlns:a="http://schemas.openxmlformats.org/drawingml/2006/main">
            <a:r>
              <a:t>        "reader": "C07"</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"source_snapshot/installed/hedgehog/gate4_reference_runtime_v01.py",</a:t>
            </a:r>
          </a:p>
          <a:p xmlns:a="http://schemas.openxmlformats.org/drawingml/2006/main">
            <a:r>
              <a:t>          "symbol": "NativeAllocationConsumerV01",</a:t>
            </a:r>
          </a:p>
          <a:p xmlns:a="http://schemas.openxmlformats.org/drawingml/2006/main">
            <a:r>
              <a:t>          "sha256": "aefba35aa68209e7a2891bcc5daef3c921d4ca49c018b94b0434ff1ba7c6a02a",</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"/cp_budget",</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"/allocation/rows",</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"evidence/g44/portable_publication_final/story/warm/allocation_before_install.json",</a:t>
            </a:r>
          </a:p>
          <a:p xmlns:a="http://schemas.openxmlformats.org/drawingml/2006/main">
            <a:r>
              <a:t>          "json_pointer": "/allocation/rows",</a:t>
            </a:r>
          </a:p>
          <a:p xmlns:a="http://schemas.openxmlformats.org/drawingml/2006/main">
            <a:r>
              <a:t>          "sha256": "21aa9271f419897ef046816d3a28e2a320635611c58388775a78ae5d0499ba95",</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"/output/consumed_quanta",</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"json_pointer": "/output/consumed_quanta",</a:t>
            </a:r>
          </a:p>
          <a:p xmlns:a="http://schemas.openxmlformats.org/drawingml/2006/main">
            <a:r>
              <a:t>          "sha256": "adea2bf51520806197c844133914554094c35bf4ef9ba78f3f498c430b022ab6",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"/final/program/ordered_work_ids",</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"json_pointer": "/final/program/ordered_work_ids",</a:t>
            </a:r>
          </a:p>
          <a:p xmlns:a="http://schemas.openxmlformats.org/drawingml/2006/main">
            <a:r>
              <a:t>          "sha256": "adea2bf51520806197c844133914554094c35bf4ef9ba78f3f498c430b022ab6",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"Seven optional checks of a 12-check catalogue; no measured CPU, price or outcome-quality improvement."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"C08",</a:t>
            </a:r>
          </a:p>
          <a:p xmlns:a="http://schemas.openxmlformats.org/drawingml/2006/main">
            <a:r>
              <a:t>      "title": "Original spending is conserved",</a:t>
            </a:r>
          </a:p>
          <a:p xmlns:a="http://schemas.openxmlformats.org/drawingml/2006/main">
            <a:r>
              <a:t>      "claim": "The 9-unit cap contains one already-spent initial check, seven optional checks and one reserved final consumer.",</a:t>
            </a:r>
          </a:p>
          <a:p xmlns:a="http://schemas.openxmlformats.org/drawingml/2006/main">
            <a:r>
              <a:t>      "argument": "Budget reconstruction uses original policy and actual ledger usage; subsequent reports cannot reset cumulative spending.",</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6,</a:t>
            </a:r>
          </a:p>
          <a:p xmlns:a="http://schemas.openxmlformats.org/drawingml/2006/main">
            <a:r>
              <a:t>          9</a:t>
            </a:r>
          </a:p>
          <a:p xmlns:a="http://schemas.openxmlformats.org/drawingml/2006/main">
            <a:r>
              <a:t>        ],</a:t>
            </a:r>
          </a:p>
          <a:p xmlns:a="http://schemas.openxmlformats.org/drawingml/2006/main">
            <a:r>
              <a:t>        "appendix": "f-pressure-allocation",</a:t>
            </a:r>
          </a:p>
          <a:p xmlns:a="http://schemas.openxmlformats.org/drawingml/2006/main">
            <a:r>
              <a:t>        "reader": "C08"</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"reconstruct_allocation_basis_v43",</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"evidence/g44/portable_publication_final/story/cold/enrolled.json",</a:t>
            </a:r>
          </a:p>
          <a:p xmlns:a="http://schemas.openxmlformats.org/drawingml/2006/main">
            <a:r>
              <a:t>          "json_pointer": "",</a:t>
            </a:r>
          </a:p>
          <a:p xmlns:a="http://schemas.openxmlformats.org/drawingml/2006/main">
            <a:r>
              <a:t>          "sha256": "bf1e438bc028ffcb49bb0af103026446d2ea0177c288cbedec762e5b7dd24b11",</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"/budget",</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"/after/usage",</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"test_g43_new_consumer_original_budget_and_actual_proof",</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"test_native_quota_refusals_and_real_exhaustion",</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"/after/usage",</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"/controls/stale_spending_revision",</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"evidence/g44/portable_publication_final/story/current_exhausted_budgets.json",</a:t>
            </a:r>
          </a:p>
          <a:p xmlns:a="http://schemas.openxmlformats.org/drawingml/2006/main">
            <a:r>
              <a:t>          "json_pointer": "",</a:t>
            </a:r>
          </a:p>
          <a:p xmlns:a="http://schemas.openxmlformats.org/drawingml/2006/main">
            <a:r>
              <a:t>          "sha256": "bb82e7b130da0ab1fbae80148a0443aa8933a39a9e5adefe56a73105f1e95353",</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"/controls/terminal_retry",</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"ONE_NATIVE_WORK_DISPATCH_UNIT measures admitted dispatches, not time, tokens, money or FLOPs."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Nine work units remain nine work units</a:t>
            </a:r>
          </a:p>
          <a:p xmlns:a="http://schemas.openxmlformats.org/drawingml/2006/main">
            <a:r>
              <a:t>One local task has a fixed cap of nine native Work dispatch units.</a:t>
            </a:r>
          </a:p>
          <a:p xmlns:a="http://schemas.openxmlformats.org/drawingml/2006/main">
            <a:r>
              <a:t>1</a:t>
            </a:r>
          </a:p>
          <a:p xmlns:a="http://schemas.openxmlformats.org/drawingml/2006/main">
            <a:r>
              <a:t>2</a:t>
            </a:r>
          </a:p>
          <a:p xmlns:a="http://schemas.openxmlformats.org/drawingml/2006/main">
            <a:r>
              <a:t>3</a:t>
            </a:r>
          </a:p>
          <a:p xmlns:a="http://schemas.openxmlformats.org/drawingml/2006/main">
            <a:r>
              <a:t>4</a:t>
            </a:r>
          </a:p>
          <a:p xmlns:a="http://schemas.openxmlformats.org/drawingml/2006/main">
            <a:r>
              <a:t>5</a:t>
            </a:r>
          </a:p>
          <a:p xmlns:a="http://schemas.openxmlformats.org/drawingml/2006/main">
            <a:r>
              <a:t>6</a:t>
            </a:r>
          </a:p>
          <a:p xmlns:a="http://schemas.openxmlformats.org/drawingml/2006/main">
            <a:r>
              <a:t>7</a:t>
            </a:r>
          </a:p>
          <a:p xmlns:a="http://schemas.openxmlformats.org/drawingml/2006/main">
            <a:r>
              <a:t>8</a:t>
            </a:r>
          </a:p>
          <a:p xmlns:a="http://schemas.openxmlformats.org/drawingml/2006/main">
            <a:r>
              <a:t>9</a:t>
            </a:r>
          </a:p>
          <a:p xmlns:a="http://schemas.openxmlformats.org/drawingml/2006/main">
            <a:r>
              <a:t>1 spent</a:t>
            </a:r>
          </a:p>
          <a:p xmlns:a="http://schemas.openxmlformats.org/drawingml/2006/main">
            <a:r>
              <a:t>7 discretionary checks</a:t>
            </a:r>
          </a:p>
          <a:p xmlns:a="http://schemas.openxmlformats.org/drawingml/2006/main">
            <a:r>
              <a:t>1 reserved</a:t>
            </a:r>
          </a:p>
          <a:p xmlns:a="http://schemas.openxmlformats.org/drawingml/2006/main">
            <a:r>
              <a:t>initial_constraint</a:t>
            </a:r>
          </a:p>
          <a:p xmlns:a="http://schemas.openxmlformats.org/drawingml/2006/main">
            <a:r>
              <a:t>Branch limits: 2 minimum, 6 maximum</a:t>
            </a:r>
          </a:p>
          <a:p xmlns:a="http://schemas.openxmlformats.org/drawingml/2006/main">
            <a:r>
              <a:t>final_strategy_</a:t>
            </a:r>
          </a:p>
          <a:p xmlns:a="http://schemas.openxmlformats.org/drawingml/2006/main">
            <a:r>
              <a:t>consumer</a:t>
            </a:r>
          </a:p>
          <a:p xmlns:a="http://schemas.openxmlformats.org/drawingml/2006/main">
            <a:r>
              <a:t>9 - 1 - 1 = 7</a:t>
            </a:r>
          </a:p>
          <a:p xmlns:a="http://schemas.openxmlformats.org/drawingml/2006/main">
            <a:r>
              <a:t>ONE_NATIVE_WORK_DISPATCH_UNIT</a:t>
            </a:r>
          </a:p>
          <a:p xmlns:a="http://schemas.openxmlformats.org/drawingml/2006/main">
            <a:r>
              <a:t>C07 / C08   Technical evidence</a:t>
            </a:r>
          </a:p>
          <a:p xmlns:a="http://schemas.openxmlformats.org/drawingml/2006/main">
            <a:r>
              <a:t>GATE 4 REFERENCE  /  23 SEPTEMBER 2026</a:t>
            </a:r>
          </a:p>
          <a:p xmlns:a="http://schemas.openxmlformats.org/drawingml/2006/main">
            <a:r>
              <a:t>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"proposal_assessment=INCORRECT, enforcement_outcome=ALLOWED_AS_REQUIRED, execution_status=COMPLETED, task_outcome=COMPLETED. One native source-bound history sample, prior_fp=-62500000, effective_count=1, SPARSE. Warm names the presence of this sample, not a statistically robust population. No model retraining.",</a:t>
            </a:r>
          </a:p>
          <a:p xmlns:a="http://schemas.openxmlformats.org/drawingml/2006/main">
            <a:r>
              <a:t>  "sources": [</a:t>
            </a:r>
          </a:p>
          <a:p xmlns:a="http://schemas.openxmlformats.org/drawingml/2006/main">
            <a:r>
              <a:t>    {</a:t>
            </a:r>
          </a:p>
          <a:p xmlns:a="http://schemas.openxmlformats.org/drawingml/2006/main">
            <a:r>
              <a:t>      "path": "evidence/g44/portable_publication_final/story/observed_g3.json",</a:t>
            </a:r>
          </a:p>
          <a:p xmlns:a="http://schemas.openxmlformats.org/drawingml/2006/main">
            <a:r>
              <a:t>      "sha256": "5ea9bd0d5ac6da63a904191b80be8ac696c5242e7e71794ce9e10febe0f87c41"</a:t>
            </a:r>
          </a:p>
          <a:p xmlns:a="http://schemas.openxmlformats.org/drawingml/2006/main">
            <a:r>
              <a:t>    },</a:t>
            </a:r>
          </a:p>
          <a:p xmlns:a="http://schemas.openxmlformats.org/drawingml/2006/main">
            <a:r>
              <a:t>    {</a:t>
            </a:r>
          </a:p>
          <a:p xmlns:a="http://schemas.openxmlformats.org/drawingml/2006/main">
            <a:r>
              <a:t>      "path": "evidence/g44/portable_publication_final/story/history_recorded.json",</a:t>
            </a:r>
          </a:p>
          <a:p xmlns:a="http://schemas.openxmlformats.org/drawingml/2006/main">
            <a:r>
              <a:t>      "sha256": "511a30e8ec1bfcdafe7433feba34cbabdb8ba8cf033ef4980f364578e88a1bfe"</a:t>
            </a:r>
          </a:p>
          <a:p xmlns:a="http://schemas.openxmlformats.org/drawingml/2006/main">
            <a:r>
              <a:t>    },</a:t>
            </a:r>
          </a:p>
          <a:p xmlns:a="http://schemas.openxmlformats.org/drawingml/2006/main">
            <a:r>
              <a:t>    {</a:t>
            </a:r>
          </a:p>
          <a:p xmlns:a="http://schemas.openxmlformats.org/drawingml/2006/main">
            <a:r>
              <a:t>      "path": "evidence/g44/portable_publication_final/story/warm/history_discovery.json",</a:t>
            </a:r>
          </a:p>
          <a:p xmlns:a="http://schemas.openxmlformats.org/drawingml/2006/main">
            <a:r>
              <a:t>      "sha256": "f6eb290683d12a62e37262a5bd001a67749897f9a63c3d2ae616111a1dcb669a"</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"C06",</a:t>
            </a:r>
          </a:p>
          <a:p xmlns:a="http://schemas.openxmlformats.org/drawingml/2006/main">
            <a:r>
              <a:t>      "title": "Attributable experience changes one raw prior",</a:t>
            </a:r>
          </a:p>
          <a:p xmlns:a="http://schemas.openxmlformats.org/drawingml/2006/main">
            <a:r>
              <a:t>      "claim": "One source-bound incorrect prediction yields prior -62500000, effective_count 1, SPARSE; the warm lane consumes it once.",</a:t>
            </a:r>
          </a:p>
          <a:p xmlns:a="http://schemas.openxmlformats.org/drawingml/2006/main">
            <a:r>
              <a:t>      "argument": "The saved prospective claim, actual Work original, G3 feedback, independent recording review and current history descent bind the sample to the consumer.",</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7,</a:t>
            </a:r>
          </a:p>
          <a:p xmlns:a="http://schemas.openxmlformats.org/drawingml/2006/main">
            <a:r>
              <a:t>          8</a:t>
            </a:r>
          </a:p>
          <a:p xmlns:a="http://schemas.openxmlformats.org/drawingml/2006/main">
            <a:r>
              <a:t>        ],</a:t>
            </a:r>
          </a:p>
          <a:p xmlns:a="http://schemas.openxmlformats.org/drawingml/2006/main">
            <a:r>
              <a:t>        "appendix": "h-cp-budget",</a:t>
            </a:r>
          </a:p>
          <a:p xmlns:a="http://schemas.openxmlformats.org/drawingml/2006/main">
            <a:r>
              <a:t>        "reader": "C06"</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"source_snapshot/installed/hedgehog/domains/airline/gate4_reference_history_v01.py",</a:t>
            </a:r>
          </a:p>
          <a:p xmlns:a="http://schemas.openxmlformats.org/drawingml/2006/main">
            <a:r>
              <a:t>          "symbol": null,</a:t>
            </a:r>
          </a:p>
          <a:p xmlns:a="http://schemas.openxmlformats.org/drawingml/2006/main">
            <a:r>
              <a:t>          "sha256": "8cbd64a4e0d316a79b0648d40be31856d2d1370bb44dc7055073d2ef1512a870",</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"validate_observation_copies_v44",</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"validate_history_subject_v44",</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"evidence/g44/portable_publication_final/story/observed_g3.json",</a:t>
            </a:r>
          </a:p>
          <a:p xmlns:a="http://schemas.openxmlformats.org/drawingml/2006/main">
            <a:r>
              <a:t>          "json_pointer": "/claim/payload",</a:t>
            </a:r>
          </a:p>
          <a:p xmlns:a="http://schemas.openxmlformats.org/drawingml/2006/main">
            <a:r>
              <a:t>          "sha256": "5ea9bd0d5ac6da63a904191b80be8ac696c5242e7e71794ce9e10febe0f87c41",</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"evidence/g44/portable_publication_final/story/observed_g3.json",</a:t>
            </a:r>
          </a:p>
          <a:p xmlns:a="http://schemas.openxmlformats.org/drawingml/2006/main">
            <a:r>
              <a:t>          "json_pointer": "/feedback",</a:t>
            </a:r>
          </a:p>
          <a:p xmlns:a="http://schemas.openxmlformats.org/drawingml/2006/main">
            <a:r>
              <a:t>          "sha256": "5ea9bd0d5ac6da63a904191b80be8ac696c5242e7e71794ce9e10febe0f87c41",</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"evidence/g44/portable_publication_final/story/history_recorded.json",</a:t>
            </a:r>
          </a:p>
          <a:p xmlns:a="http://schemas.openxmlformats.org/drawingml/2006/main">
            <a:r>
              <a:t>          "json_pointer": "/snapshot/prior",</a:t>
            </a:r>
          </a:p>
          <a:p xmlns:a="http://schemas.openxmlformats.org/drawingml/2006/main">
            <a:r>
              <a:t>          "sha256": "511a30e8ec1bfcdafe7433feba34cbabdb8ba8cf033ef4980f364578e88a1bfe",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"evidence/g44/portable_publication_final/story/warm/history_discovery.json",</a:t>
            </a:r>
          </a:p>
          <a:p xmlns:a="http://schemas.openxmlformats.org/drawingml/2006/main">
            <a:r>
              <a:t>          "json_pointer": "",</a:t>
            </a:r>
          </a:p>
          <a:p xmlns:a="http://schemas.openxmlformats.org/drawingml/2006/main">
            <a:r>
              <a:t>          "sha256": "f6eb290683d12a62e37262a5bd001a67749897f9a63c3d2ae616111a1dcb669a",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"source_snapshot/installed/tests/test_gate4_reference_history_v01.py",</a:t>
            </a:r>
          </a:p>
          <a:p xmlns:a="http://schemas.openxmlformats.org/drawingml/2006/main">
            <a:r>
              <a:t>          "symbol": "test_history_actual_native_proof_and_recording",</a:t>
            </a:r>
          </a:p>
          <a:p xmlns:a="http://schemas.openxmlformats.org/drawingml/2006/main">
            <a:r>
              <a:t>          "sha256": "efd85a28409a8d82cb6e214df2cb2043af476c85f6dbc0d259a337e1e32c137b",</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"evidence/g44/portable_publication_final/story/history_recorded.json",</a:t>
            </a:r>
          </a:p>
          <a:p xmlns:a="http://schemas.openxmlformats.org/drawingml/2006/main">
            <a:r>
              <a:t>          "json_pointer": "/review",</a:t>
            </a:r>
          </a:p>
          <a:p xmlns:a="http://schemas.openxmlformats.org/drawingml/2006/main">
            <a:r>
              <a:t>          "sha256": "511a30e8ec1bfcdafe7433feba34cbabdb8ba8cf033ef4980f364578e88a1bfe",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"evidence/g44/portable_publication_final/story/cold/constructor_controls.json",</a:t>
            </a:r>
          </a:p>
          <a:p xmlns:a="http://schemas.openxmlformats.org/drawingml/2006/main">
            <a:r>
              <a:t>          "json_pointer": "/controls/coherent_cold_prior/reason",</a:t>
            </a:r>
          </a:p>
          <a:p xmlns:a="http://schemas.openxmlformats.org/drawingml/2006/main">
            <a:r>
              <a:t>          "sha256": "6c0796c7715e00f9656f739bbef7056d37819fc905e09e5b7d9675728a15336a",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"evidence/g44/portable_publication_final/story/warm/allocation_before_install.json",</a:t>
            </a:r>
          </a:p>
          <a:p xmlns:a="http://schemas.openxmlformats.org/drawingml/2006/main">
            <a:r>
              <a:t>          "json_pointer": "/budget/pressure_inputs",</a:t>
            </a:r>
          </a:p>
          <a:p xmlns:a="http://schemas.openxmlformats.org/drawingml/2006/main">
            <a:r>
              <a:t>          "sha256": "21aa9271f419897ef046816d3a28e2a320635611c58388775a78ae5d0499ba95",</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"Warm names an available-history lane; its statistical sample state remains SPARSE. No model was called or trained."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An incorrect prediction becomes attributable experience</a:t>
            </a:r>
          </a:p>
          <a:p xmlns:a="http://schemas.openxmlformats.org/drawingml/2006/main">
            <a:r>
              <a:t>A controlled prediction is FALSE. The mandatory constraint check returns TRUE.</a:t>
            </a:r>
          </a:p>
          <a:p xmlns:a="http://schemas.openxmlformats.org/drawingml/2006/main">
            <a:r>
              <a:t>FALSE</a:t>
            </a:r>
          </a:p>
          <a:p xmlns:a="http://schemas.openxmlformats.org/drawingml/2006/main">
            <a:r>
              <a:t>Configured prediction</a:t>
            </a:r>
          </a:p>
          <a:p xmlns:a="http://schemas.openxmlformats.org/drawingml/2006/main">
            <a:r>
              <a:t>TRUE</a:t>
            </a:r>
          </a:p>
          <a:p xmlns:a="http://schemas.openxmlformats.org/drawingml/2006/main">
            <a:r>
              <a:t>Completed mandatory check</a:t>
            </a:r>
          </a:p>
          <a:p xmlns:a="http://schemas.openxmlformats.org/drawingml/2006/main">
            <a:r>
              <a:t>Assessment</a:t>
            </a:r>
          </a:p>
          <a:p xmlns:a="http://schemas.openxmlformats.org/drawingml/2006/main">
            <a:r>
              <a:t>Recorded result</a:t>
            </a:r>
          </a:p>
          <a:p xmlns:a="http://schemas.openxmlformats.org/drawingml/2006/main">
            <a:r>
              <a:t>Proposal</a:t>
            </a:r>
          </a:p>
          <a:p xmlns:a="http://schemas.openxmlformats.org/drawingml/2006/main">
            <a:r>
              <a:t>INCORRECT</a:t>
            </a:r>
          </a:p>
          <a:p xmlns:a="http://schemas.openxmlformats.org/drawingml/2006/main">
            <a:r>
              <a:t>Enforcement</a:t>
            </a:r>
          </a:p>
          <a:p xmlns:a="http://schemas.openxmlformats.org/drawingml/2006/main">
            <a:r>
              <a:t>ALLOWED_AS_REQUIRED</a:t>
            </a:r>
          </a:p>
          <a:p xmlns:a="http://schemas.openxmlformats.org/drawingml/2006/main">
            <a:r>
              <a:t>Execution / task</a:t>
            </a:r>
          </a:p>
          <a:p xmlns:a="http://schemas.openxmlformats.org/drawingml/2006/main">
            <a:r>
              <a:t>COMPLETED / COMPLETED</a:t>
            </a:r>
          </a:p>
          <a:p xmlns:a="http://schemas.openxmlformats.org/drawingml/2006/main">
            <a:r>
              <a:t>One SPARSE sample through Root-reviewed recording and LocalDRS. No new LLM call.</a:t>
            </a:r>
          </a:p>
          <a:p xmlns:a="http://schemas.openxmlformats.org/drawingml/2006/main">
            <a:r>
              <a:t>C06   Technical evidence</a:t>
            </a:r>
          </a:p>
          <a:p xmlns:a="http://schemas.openxmlformats.org/drawingml/2006/main">
            <a:r>
              <a:t>GATE 4 REFERENCE  /  23 SEPTEMBER 2026</a:t>
            </a:r>
          </a:p>
          <a:p xmlns:a="http://schemas.openxmlformats.org/drawingml/2006/main">
            <a:r>
              <a:t>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"CP-BUDGET fixes domain records, hard constraints, branch features, quota limits, policy values, mandatory checks and PRICE_FIRST. Context IDs, current native time, Host revision, history descent and properly scoped consents may differ. Six checks remain common. The seventh is offer_0_4 in cold and offer_1_4 in warm, field price. Both lanes prepare offer0. Raw prior applies once. z_fp cold offer0=425000000 offer1=421250000, warm offer0=417187500 offer1=421250000.",</a:t>
            </a:r>
          </a:p>
          <a:p xmlns:a="http://schemas.openxmlformats.org/drawingml/2006/main">
            <a:r>
              <a:t>  "sources": [</a:t>
            </a:r>
          </a:p>
          <a:p xmlns:a="http://schemas.openxmlformats.org/drawingml/2006/main">
            <a:r>
              <a:t>    {</a:t>
            </a:r>
          </a:p>
          <a:p xmlns:a="http://schemas.openxmlformats.org/drawingml/2006/main">
            <a:r>
              <a:t>      "path": "evidence/g44/portable_publication_final/story/comparisons.json",</a:t>
            </a:r>
          </a:p>
          <a:p xmlns:a="http://schemas.openxmlformats.org/drawingml/2006/main">
            <a:r>
              <a:t>      "sha256": "dc273a2127eb0b5116b14a48cc1c5bd2789af5fe900a2a575d5b636b9459e26e"</a:t>
            </a:r>
          </a:p>
          <a:p xmlns:a="http://schemas.openxmlformats.org/drawingml/2006/main">
            <a:r>
              <a:t>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"sha256": "2e0195eafb44fa9ea585ca8cda19e2ca35ee43a4ae7759cd4c7c0e1f6b10bbb8"</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"sha256": "adea2bf51520806197c844133914554094c35bf4ef9ba78f3f498c430b022ab6"</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"sha256": "189320e2e447e4c199c233b42ae9ec9ed6e07a7ba82e191342b075ff87aead98"</a:t>
            </a:r>
          </a:p>
          <a:p xmlns:a="http://schemas.openxmlformats.org/drawingml/2006/main">
            <a:r>
              <a:t>    },</a:t>
            </a:r>
          </a:p>
          <a:p xmlns:a="http://schemas.openxmlformats.org/drawingml/2006/main">
            <a:r>
              <a:t>    {</a:t>
            </a:r>
          </a:p>
          <a:p xmlns:a="http://schemas.openxmlformats.org/drawingml/2006/main">
            <a:r>
              <a:t>      "path": "evidence/g44/portable_publication_final/story/warm/allocation_before_install.json",</a:t>
            </a:r>
          </a:p>
          <a:p xmlns:a="http://schemas.openxmlformats.org/drawingml/2006/main">
            <a:r>
              <a:t>      "sha256": "21aa9271f419897ef046816d3a28e2a320635611c58388775a78ae5d0499ba95"</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"C06",</a:t>
            </a:r>
          </a:p>
          <a:p xmlns:a="http://schemas.openxmlformats.org/drawingml/2006/main">
            <a:r>
              <a:t>      "title": "Attributable experience changes one raw prior",</a:t>
            </a:r>
          </a:p>
          <a:p xmlns:a="http://schemas.openxmlformats.org/drawingml/2006/main">
            <a:r>
              <a:t>      "claim": "One source-bound incorrect prediction yields prior -62500000, effective_count 1, SPARSE; the warm lane consumes it once.",</a:t>
            </a:r>
          </a:p>
          <a:p xmlns:a="http://schemas.openxmlformats.org/drawingml/2006/main">
            <a:r>
              <a:t>      "argument": "The saved prospective claim, actual Work original, G3 feedback, independent recording review and current history descent bind the sample to the consumer.",</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7,</a:t>
            </a:r>
          </a:p>
          <a:p xmlns:a="http://schemas.openxmlformats.org/drawingml/2006/main">
            <a:r>
              <a:t>          8</a:t>
            </a:r>
          </a:p>
          <a:p xmlns:a="http://schemas.openxmlformats.org/drawingml/2006/main">
            <a:r>
              <a:t>        ],</a:t>
            </a:r>
          </a:p>
          <a:p xmlns:a="http://schemas.openxmlformats.org/drawingml/2006/main">
            <a:r>
              <a:t>        "appendix": "h-cp-budget",</a:t>
            </a:r>
          </a:p>
          <a:p xmlns:a="http://schemas.openxmlformats.org/drawingml/2006/main">
            <a:r>
              <a:t>        "reader": "C06"</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"source_snapshot/installed/hedgehog/domains/airline/gate4_reference_history_v01.py",</a:t>
            </a:r>
          </a:p>
          <a:p xmlns:a="http://schemas.openxmlformats.org/drawingml/2006/main">
            <a:r>
              <a:t>          "symbol": null,</a:t>
            </a:r>
          </a:p>
          <a:p xmlns:a="http://schemas.openxmlformats.org/drawingml/2006/main">
            <a:r>
              <a:t>          "sha256": "8cbd64a4e0d316a79b0648d40be31856d2d1370bb44dc7055073d2ef1512a870",</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"validate_observation_copies_v44",</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"validate_history_subject_v44",</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"evidence/g44/portable_publication_final/story/observed_g3.json",</a:t>
            </a:r>
          </a:p>
          <a:p xmlns:a="http://schemas.openxmlformats.org/drawingml/2006/main">
            <a:r>
              <a:t>          "json_pointer": "/claim/payload",</a:t>
            </a:r>
          </a:p>
          <a:p xmlns:a="http://schemas.openxmlformats.org/drawingml/2006/main">
            <a:r>
              <a:t>          "sha256": "5ea9bd0d5ac6da63a904191b80be8ac696c5242e7e71794ce9e10febe0f87c41",</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"evidence/g44/portable_publication_final/story/observed_g3.json",</a:t>
            </a:r>
          </a:p>
          <a:p xmlns:a="http://schemas.openxmlformats.org/drawingml/2006/main">
            <a:r>
              <a:t>          "json_pointer": "/feedback",</a:t>
            </a:r>
          </a:p>
          <a:p xmlns:a="http://schemas.openxmlformats.org/drawingml/2006/main">
            <a:r>
              <a:t>          "sha256": "5ea9bd0d5ac6da63a904191b80be8ac696c5242e7e71794ce9e10febe0f87c41",</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"evidence/g44/portable_publication_final/story/history_recorded.json",</a:t>
            </a:r>
          </a:p>
          <a:p xmlns:a="http://schemas.openxmlformats.org/drawingml/2006/main">
            <a:r>
              <a:t>          "json_pointer": "/snapshot/prior",</a:t>
            </a:r>
          </a:p>
          <a:p xmlns:a="http://schemas.openxmlformats.org/drawingml/2006/main">
            <a:r>
              <a:t>          "sha256": "511a30e8ec1bfcdafe7433feba34cbabdb8ba8cf033ef4980f364578e88a1bfe",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"evidence/g44/portable_publication_final/story/warm/history_discovery.json",</a:t>
            </a:r>
          </a:p>
          <a:p xmlns:a="http://schemas.openxmlformats.org/drawingml/2006/main">
            <a:r>
              <a:t>          "json_pointer": "",</a:t>
            </a:r>
          </a:p>
          <a:p xmlns:a="http://schemas.openxmlformats.org/drawingml/2006/main">
            <a:r>
              <a:t>          "sha256": "f6eb290683d12a62e37262a5bd001a67749897f9a63c3d2ae616111a1dcb669a",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"source_snapshot/installed/tests/test_gate4_reference_history_v01.py",</a:t>
            </a:r>
          </a:p>
          <a:p xmlns:a="http://schemas.openxmlformats.org/drawingml/2006/main">
            <a:r>
              <a:t>          "symbol": "test_history_actual_native_proof_and_recording",</a:t>
            </a:r>
          </a:p>
          <a:p xmlns:a="http://schemas.openxmlformats.org/drawingml/2006/main">
            <a:r>
              <a:t>          "sha256": "efd85a28409a8d82cb6e214df2cb2043af476c85f6dbc0d259a337e1e32c137b",</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"evidence/g44/portable_publication_final/story/history_recorded.json",</a:t>
            </a:r>
          </a:p>
          <a:p xmlns:a="http://schemas.openxmlformats.org/drawingml/2006/main">
            <a:r>
              <a:t>          "json_pointer": "/review",</a:t>
            </a:r>
          </a:p>
          <a:p xmlns:a="http://schemas.openxmlformats.org/drawingml/2006/main">
            <a:r>
              <a:t>          "sha256": "511a30e8ec1bfcdafe7433feba34cbabdb8ba8cf033ef4980f364578e88a1bfe",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"evidence/g44/portable_publication_final/story/cold/constructor_controls.json",</a:t>
            </a:r>
          </a:p>
          <a:p xmlns:a="http://schemas.openxmlformats.org/drawingml/2006/main">
            <a:r>
              <a:t>          "json_pointer": "/controls/coherent_cold_prior/reason",</a:t>
            </a:r>
          </a:p>
          <a:p xmlns:a="http://schemas.openxmlformats.org/drawingml/2006/main">
            <a:r>
              <a:t>          "sha256": "6c0796c7715e00f9656f739bbef7056d37819fc905e09e5b7d9675728a15336a",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"evidence/g44/portable_publication_final/story/warm/allocation_before_install.json",</a:t>
            </a:r>
          </a:p>
          <a:p xmlns:a="http://schemas.openxmlformats.org/drawingml/2006/main">
            <a:r>
              <a:t>          "json_pointer": "/budget/pressure_inputs",</a:t>
            </a:r>
          </a:p>
          <a:p xmlns:a="http://schemas.openxmlformats.org/drawingml/2006/main">
            <a:r>
              <a:t>          "sha256": "21aa9271f419897ef046816d3a28e2a320635611c58388775a78ae5d0499ba95",</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"Warm names an available-history lane; its statistical sample state remains SPARSE. No model was called or trained."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"C07",</a:t>
            </a:r>
          </a:p>
          <a:p xmlns:a="http://schemas.openxmlformats.org/drawingml/2006/main">
            <a:r>
              <a:t>      "title": "History changes actual checks",</a:t>
            </a:r>
          </a:p>
          <a:p xmlns:a="http://schemas.openxmlformats.org/drawingml/2006/main">
            <a:r>
              <a:t>      "claim": "Under the same PRICE_FIRST profile, allocations and performed optional checks change from 4/3 to 3/4.",</a:t>
            </a:r>
          </a:p>
          <a:p xmlns:a="http://schemas.openxmlformats.org/drawingml/2006/main">
            <a:r>
              <a:t>      "argument": "The fourth price check moves from offer0 to offer1 and the final output lists the actual consumed quanta; offer0 remains selected.",</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"appendix": "h-cp-budget",</a:t>
            </a:r>
          </a:p>
          <a:p xmlns:a="http://schemas.openxmlformats.org/drawingml/2006/main">
            <a:r>
              <a:t>        "reader": "C07"</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"source_snapshot/installed/hedgehog/gate4_reference_runtime_v01.py",</a:t>
            </a:r>
          </a:p>
          <a:p xmlns:a="http://schemas.openxmlformats.org/drawingml/2006/main">
            <a:r>
              <a:t>          "symbol": "NativeAllocationConsumerV01",</a:t>
            </a:r>
          </a:p>
          <a:p xmlns:a="http://schemas.openxmlformats.org/drawingml/2006/main">
            <a:r>
              <a:t>          "sha256": "aefba35aa68209e7a2891bcc5daef3c921d4ca49c018b94b0434ff1ba7c6a02a",</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"/cp_budget",</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"/allocation/rows",</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"evidence/g44/portable_publication_final/story/warm/allocation_before_install.json",</a:t>
            </a:r>
          </a:p>
          <a:p xmlns:a="http://schemas.openxmlformats.org/drawingml/2006/main">
            <a:r>
              <a:t>          "json_pointer": "/allocation/rows",</a:t>
            </a:r>
          </a:p>
          <a:p xmlns:a="http://schemas.openxmlformats.org/drawingml/2006/main">
            <a:r>
              <a:t>          "sha256": "21aa9271f419897ef046816d3a28e2a320635611c58388775a78ae5d0499ba95",</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"/output/consumed_quanta",</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"json_pointer": "/output/consumed_quanta",</a:t>
            </a:r>
          </a:p>
          <a:p xmlns:a="http://schemas.openxmlformats.org/drawingml/2006/main">
            <a:r>
              <a:t>          "sha256": "adea2bf51520806197c844133914554094c35bf4ef9ba78f3f498c430b022ab6",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"/final/program/ordered_work_ids",</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"json_pointer": "/final/program/ordered_work_ids",</a:t>
            </a:r>
          </a:p>
          <a:p xmlns:a="http://schemas.openxmlformats.org/drawingml/2006/main">
            <a:r>
              <a:t>          "sha256": "adea2bf51520806197c844133914554094c35bf4ef9ba78f3f498c430b022ab6",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"Seven optional checks of a 12-check catalogue; no measured CPU, price or outcome-quality improvement."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Experience changes which checks actually run</a:t>
            </a:r>
          </a:p>
          <a:p xmlns:a="http://schemas.openxmlformats.org/drawingml/2006/main">
            <a:r>
              <a:t>One source-bound sample changes the seven discretionary checks under PRICE_FIRST.</a:t>
            </a:r>
          </a:p>
          <a:p xmlns:a="http://schemas.openxmlformats.org/drawingml/2006/main">
            <a:r>
              <a:t>Common six checks</a:t>
            </a:r>
          </a:p>
          <a:p xmlns:a="http://schemas.openxmlformats.org/drawingml/2006/main">
            <a:r>
              <a:t>Changed check</a:t>
            </a:r>
          </a:p>
          <a:p xmlns:a="http://schemas.openxmlformats.org/drawingml/2006/main">
            <a:r>
              <a:t>Cold</a:t>
            </a:r>
          </a:p>
          <a:p xmlns:a="http://schemas.openxmlformats.org/drawingml/2006/main">
            <a:r>
              <a:t>4 / 3</a:t>
            </a:r>
          </a:p>
          <a:p xmlns:a="http://schemas.openxmlformats.org/drawingml/2006/main">
            <a:r>
              <a:t>0_1</a:t>
            </a:r>
          </a:p>
          <a:p xmlns:a="http://schemas.openxmlformats.org/drawingml/2006/main">
            <a:r>
              <a:t>Route</a:t>
            </a:r>
          </a:p>
          <a:p xmlns:a="http://schemas.openxmlformats.org/drawingml/2006/main">
            <a:r>
              <a:t>0_2</a:t>
            </a:r>
          </a:p>
          <a:p xmlns:a="http://schemas.openxmlformats.org/drawingml/2006/main">
            <a:r>
              <a:t>Baggage</a:t>
            </a:r>
          </a:p>
          <a:p xmlns:a="http://schemas.openxmlformats.org/drawingml/2006/main">
            <a:r>
              <a:t>0_3</a:t>
            </a:r>
          </a:p>
          <a:p xmlns:a="http://schemas.openxmlformats.org/drawingml/2006/main">
            <a:r>
              <a:t>Seat</a:t>
            </a:r>
          </a:p>
          <a:p xmlns:a="http://schemas.openxmlformats.org/drawingml/2006/main">
            <a:r>
              <a:t>1_1</a:t>
            </a:r>
          </a:p>
          <a:p xmlns:a="http://schemas.openxmlformats.org/drawingml/2006/main">
            <a:r>
              <a:t>Route</a:t>
            </a:r>
          </a:p>
          <a:p xmlns:a="http://schemas.openxmlformats.org/drawingml/2006/main">
            <a:r>
              <a:t>1_2</a:t>
            </a:r>
          </a:p>
          <a:p xmlns:a="http://schemas.openxmlformats.org/drawingml/2006/main">
            <a:r>
              <a:t>Baggage</a:t>
            </a:r>
          </a:p>
          <a:p xmlns:a="http://schemas.openxmlformats.org/drawingml/2006/main">
            <a:r>
              <a:t>1_3</a:t>
            </a:r>
          </a:p>
          <a:p xmlns:a="http://schemas.openxmlformats.org/drawingml/2006/main">
            <a:r>
              <a:t>Seat</a:t>
            </a:r>
          </a:p>
          <a:p xmlns:a="http://schemas.openxmlformats.org/drawingml/2006/main">
            <a:r>
              <a:t>0_4</a:t>
            </a:r>
          </a:p>
          <a:p xmlns:a="http://schemas.openxmlformats.org/drawingml/2006/main">
            <a:r>
              <a:t>Price</a:t>
            </a:r>
          </a:p>
          <a:p xmlns:a="http://schemas.openxmlformats.org/drawingml/2006/main">
            <a:r>
              <a:t>History-informed</a:t>
            </a:r>
          </a:p>
          <a:p xmlns:a="http://schemas.openxmlformats.org/drawingml/2006/main">
            <a:r>
              <a:t>3 / 4</a:t>
            </a:r>
          </a:p>
          <a:p xmlns:a="http://schemas.openxmlformats.org/drawingml/2006/main">
            <a:r>
              <a:t>0_1</a:t>
            </a:r>
          </a:p>
          <a:p xmlns:a="http://schemas.openxmlformats.org/drawingml/2006/main">
            <a:r>
              <a:t>Route</a:t>
            </a:r>
          </a:p>
          <a:p xmlns:a="http://schemas.openxmlformats.org/drawingml/2006/main">
            <a:r>
              <a:t>0_2</a:t>
            </a:r>
          </a:p>
          <a:p xmlns:a="http://schemas.openxmlformats.org/drawingml/2006/main">
            <a:r>
              <a:t>Baggage</a:t>
            </a:r>
          </a:p>
          <a:p xmlns:a="http://schemas.openxmlformats.org/drawingml/2006/main">
            <a:r>
              <a:t>0_3</a:t>
            </a:r>
          </a:p>
          <a:p xmlns:a="http://schemas.openxmlformats.org/drawingml/2006/main">
            <a:r>
              <a:t>Seat</a:t>
            </a:r>
          </a:p>
          <a:p xmlns:a="http://schemas.openxmlformats.org/drawingml/2006/main">
            <a:r>
              <a:t>1_1</a:t>
            </a:r>
          </a:p>
          <a:p xmlns:a="http://schemas.openxmlformats.org/drawingml/2006/main">
            <a:r>
              <a:t>Route</a:t>
            </a:r>
          </a:p>
          <a:p xmlns:a="http://schemas.openxmlformats.org/drawingml/2006/main">
            <a:r>
              <a:t>1_2</a:t>
            </a:r>
          </a:p>
          <a:p xmlns:a="http://schemas.openxmlformats.org/drawingml/2006/main">
            <a:r>
              <a:t>Baggage</a:t>
            </a:r>
          </a:p>
          <a:p xmlns:a="http://schemas.openxmlformats.org/drawingml/2006/main">
            <a:r>
              <a:t>1_3</a:t>
            </a:r>
          </a:p>
          <a:p xmlns:a="http://schemas.openxmlformats.org/drawingml/2006/main">
            <a:r>
              <a:t>Seat</a:t>
            </a:r>
          </a:p>
          <a:p xmlns:a="http://schemas.openxmlformats.org/drawingml/2006/main">
            <a:r>
              <a:t>1_4</a:t>
            </a:r>
          </a:p>
          <a:p xmlns:a="http://schemas.openxmlformats.org/drawingml/2006/main">
            <a:r>
              <a:t>Price</a:t>
            </a:r>
          </a:p>
          <a:p xmlns:a="http://schemas.openxmlformats.org/drawingml/2006/main">
            <a:r>
              <a:t>Work IDs use the prefix offer_   (for example offer_0_4)</a:t>
            </a:r>
          </a:p>
          <a:p xmlns:a="http://schemas.openxmlformats.org/drawingml/2006/main">
            <a:r>
              <a:t>z offer0: 0.425 to 0.4171875</a:t>
            </a:r>
          </a:p>
          <a:p xmlns:a="http://schemas.openxmlformats.org/drawingml/2006/main">
            <a:r>
              <a:t>z offer1: 0.42125</a:t>
            </a:r>
          </a:p>
          <a:p xmlns:a="http://schemas.openxmlformats.org/drawingml/2006/main">
            <a:r>
              <a:t>Raw prior applies once. Both lanes prepare offer:0.</a:t>
            </a:r>
          </a:p>
          <a:p xmlns:a="http://schemas.openxmlformats.org/drawingml/2006/main">
            <a:r>
              <a:t>C06 / C07   Technical evidence</a:t>
            </a:r>
          </a:p>
          <a:p xmlns:a="http://schemas.openxmlformats.org/drawingml/2006/main">
            <a:r>
              <a:t>GATE 4 REFERENCE  /  23 SEPTEMBER 2026</a:t>
            </a:r>
          </a:p>
          <a:p xmlns:a="http://schemas.openxmlformats.org/drawingml/2006/main">
            <a:r>
              <a:t>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"Independently reconstructed original basis binds accepted allocation, revised Work literal, enrolled Host dispatch, completed output and final PURE consumer allocation-proof input. Its output binds allocation_identity, allocation_proof_sha256 and original basis. coherent_6_1 refuses with g4_reference:native_source_derived_budget before a changed executor. Original accepted allocation is its positive neighbour.",</a:t>
            </a:r>
          </a:p>
          <a:p xmlns:a="http://schemas.openxmlformats.org/drawingml/2006/main">
            <a:r>
              <a:t>  "sources":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"sha256": "2e0195eafb44fa9ea585ca8cda19e2ca35ee43a4ae7759cd4c7c0e1f6b10bbb8"</a:t>
            </a:r>
          </a:p>
          <a:p xmlns:a="http://schemas.openxmlformats.org/drawingml/2006/main">
            <a:r>
              <a:t>    },</a:t>
            </a:r>
          </a:p>
          <a:p xmlns:a="http://schemas.openxmlformats.org/drawingml/2006/main">
            <a:r>
              <a:t>    {</a:t>
            </a:r>
          </a:p>
          <a:p xmlns:a="http://schemas.openxmlformats.org/drawingml/2006/main">
            <a:r>
              <a:t>      "path": "evidence/g44/portable_publication_final/story/cold/portable_records.json",</a:t>
            </a:r>
          </a:p>
          <a:p xmlns:a="http://schemas.openxmlformats.org/drawingml/2006/main">
            <a:r>
              <a:t>      "sha256": "d2a428126edad928630cc61645c625cbb06143d5522dee07553281b4ddfb4498"</a:t>
            </a:r>
          </a:p>
          <a:p xmlns:a="http://schemas.openxmlformats.org/drawingml/2006/main">
            <a:r>
              <a:t>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"sha256": "7118fe39ef0ffc18e0c724955a10b2a861ff887b22ed5fbddfda2a1c934cf628"</a:t>
            </a:r>
          </a:p>
          <a:p xmlns:a="http://schemas.openxmlformats.org/drawingml/2006/main">
            <a:r>
              <a:t>    },</a:t>
            </a:r>
          </a:p>
          <a:p xmlns:a="http://schemas.openxmlformats.org/drawingml/2006/main">
            <a:r>
              <a:t>    {</a:t>
            </a:r>
          </a:p>
          <a:p xmlns:a="http://schemas.openxmlformats.org/drawingml/2006/main">
            <a:r>
              <a:t>      "path": "evidence/g44/portable_publication_final/story/cold/constructor_controls.json",</a:t>
            </a:r>
          </a:p>
          <a:p xmlns:a="http://schemas.openxmlformats.org/drawingml/2006/main">
            <a:r>
              <a:t>      "sha256": "6c0796c7715e00f9656f739bbef7056d37819fc905e09e5b7d9675728a15336a"</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"C09",</a:t>
            </a:r>
          </a:p>
          <a:p xmlns:a="http://schemas.openxmlformats.org/drawingml/2006/main">
            <a:r>
              <a:t>      "title": "Allocated results reach the final consumer",</a:t>
            </a:r>
          </a:p>
          <a:p xmlns:a="http://schemas.openxmlformats.org/drawingml/2006/main">
            <a:r>
              <a:t>      "claim": "The actual final PURE consumer receives allocation proof and produces an output bound to allocation identity, proof digest and original basis.",</a:t>
            </a:r>
          </a:p>
          <a:p xmlns:a="http://schemas.openxmlformats.org/drawingml/2006/main">
            <a:r>
              <a:t>      "argument": "Explicit Work literals and completed results connect the allocation to downstream strategy and hold preparation.",</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9</a:t>
            </a:r>
          </a:p>
          <a:p xmlns:a="http://schemas.openxmlformats.org/drawingml/2006/main">
            <a:r>
              <a:t>        ],</a:t>
            </a:r>
          </a:p>
          <a:p xmlns:a="http://schemas.openxmlformats.org/drawingml/2006/main">
            <a:r>
              <a:t>        "appendix": "h-cp-budget",</a:t>
            </a:r>
          </a:p>
          <a:p xmlns:a="http://schemas.openxmlformats.org/drawingml/2006/main">
            <a:r>
              <a:t>        "reader": "C09"</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"validate_allocation_proof_v43",</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"strategy_work_result_v42",</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"json_pointer": "/output",</a:t>
            </a:r>
          </a:p>
          <a:p xmlns:a="http://schemas.openxmlformats.org/drawingml/2006/main">
            <a:r>
              <a:t>          "sha256": "adea2bf51520806197c844133914554094c35bf4ef9ba78f3f498c430b022ab6",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"evidence/g44/portable_publication_final/story/cold/portable_records.json",</a:t>
            </a:r>
          </a:p>
          <a:p xmlns:a="http://schemas.openxmlformats.org/drawingml/2006/main">
            <a:r>
              <a:t>          "json_pointer": "/final_program",</a:t>
            </a:r>
          </a:p>
          <a:p xmlns:a="http://schemas.openxmlformats.org/drawingml/2006/main">
            <a:r>
              <a:t>          "sha256": "d2a428126edad928630cc61645c625cbb06143d5522dee07553281b4ddfb4498",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"test_g43_new_consumer_original_budget_and_actual_proof",</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"/output/allocation_proof_sha256",</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"evidence/g44/commands/0017_final_focused/proof_controls/negative_result.json",</a:t>
            </a:r>
          </a:p>
          <a:p xmlns:a="http://schemas.openxmlformats.org/drawingml/2006/main">
            <a:r>
              <a:t>          "json_pointer": "/reason",</a:t>
            </a:r>
          </a:p>
          <a:p xmlns:a="http://schemas.openxmlformats.org/drawingml/2006/main">
            <a:r>
              <a:t>          "sha256": "cdb85b8d5c09e16cf0092f36dafbabbc578ef0f77dd4e242d9090f65ff7cb64d",</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"/bridge/work_artifact",</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"Acyclic proof/material dependency; no independent authority is created by the output."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"C12",</a:t>
            </a:r>
          </a:p>
          <a:p xmlns:a="http://schemas.openxmlformats.org/drawingml/2006/main">
            <a:r>
              <a:t>      "title": "Coherent false relations are rejected",</a:t>
            </a:r>
          </a:p>
          <a:p xmlns:a="http://schemas.openxmlformats.org/drawingml/2006/main">
            <a:r>
              <a:t>      "claim": "Resealing a wrong quota, prior, result, root or offer relation does not make it admissible.",</a:t>
            </a:r>
          </a:p>
          <a:p xmlns:a="http://schemas.openxmlformats.org/drawingml/2006/main">
            <a:r>
              <a:t>      "argument": "The verifier compares against independent original basis and source relations after outer integrity has been rebuilt.",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"appendix": "i-boundary-controls",</a:t>
            </a:r>
          </a:p>
          <a:p xmlns:a="http://schemas.openxmlformats.org/drawingml/2006/main">
            <a:r>
              <a:t>        "reader": "C12"</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"reconstruct_allocation_basis_v43",</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"validate_saved_story_v01",</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"evidence/g44/portable_publication_final/story/cold/constructor_controls.json",</a:t>
            </a:r>
          </a:p>
          <a:p xmlns:a="http://schemas.openxmlformats.org/drawingml/2006/main">
            <a:r>
              <a:t>          "json_pointer": "/controls",</a:t>
            </a:r>
          </a:p>
          <a:p xmlns:a="http://schemas.openxmlformats.org/drawingml/2006/main">
            <a:r>
              <a:t>          "sha256": "6c0796c7715e00f9656f739bbef7056d37819fc905e09e5b7d9675728a15336a",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"evidence/g44/commands/0018_final_parent_controls/controls.json",</a:t>
            </a:r>
          </a:p>
          <a:p xmlns:a="http://schemas.openxmlformats.org/drawingml/2006/main">
            <a:r>
              <a:t>          "json_pointer": "",</a:t>
            </a:r>
          </a:p>
          <a:p xmlns:a="http://schemas.openxmlformats.org/drawingml/2006/main">
            <a:r>
              <a:t>          "sha256": "63a5195975c7ae9c9fbb8e16e3df79c578ec712ffe82ef93e35a0a2afa9c76e7",</a:t>
            </a:r>
          </a:p>
          <a:p xmlns:a="http://schemas.openxmlformats.org/drawingml/2006/main">
            <a:r>
              <a:t>          "evidence_class": "RECORDED_PARENT_CONTROL"</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"source_snapshot/installed/tests/test_gate4_reference_evidence_v01.py",</a:t>
            </a:r>
          </a:p>
          <a:p xmlns:a="http://schemas.openxmlformats.org/drawingml/2006/main">
            <a:r>
              <a:t>          "symbol": "test_g43_semantic_controls_with_resealed_test_pin",</a:t>
            </a:r>
          </a:p>
          <a:p xmlns:a="http://schemas.openxmlformats.org/drawingml/2006/main">
            <a:r>
              <a:t>          "sha256": "3d983892182d9d012d733f8a19a5bd3dc5e0efeb8962371645accbf73735e5e8",</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"test_native_source_and_coherent_supplied_controls",</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"/allocation/rows",</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"evidence/g44/commands/0017_final_focused/proof_controls/supported_result.json",</a:t>
            </a:r>
          </a:p>
          <a:p xmlns:a="http://schemas.openxmlformats.org/drawingml/2006/main">
            <a:r>
              <a:t>          "json_pointer": "",</a:t>
            </a:r>
          </a:p>
          <a:p xmlns:a="http://schemas.openxmlformats.org/drawingml/2006/main">
            <a:r>
              <a:t>          "sha256": "40844eb6c44c6cb261fe2b32230947221d7585452e7c8c9c6ca0f73bcc9cc338",</a:t>
            </a:r>
          </a:p>
          <a:p xmlns:a="http://schemas.openxmlformats.org/drawingml/2006/main">
            <a:r>
              <a:t>          "evidence_class": "RECORDED_SAVED_PROOF"</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"evidence/g44/commands/0017_final_focused/proof_controls/negative_quota.json",</a:t>
            </a:r>
          </a:p>
          <a:p xmlns:a="http://schemas.openxmlformats.org/drawingml/2006/main">
            <a:r>
              <a:t>          "json_pointer": "/reason",</a:t>
            </a:r>
          </a:p>
          <a:p xmlns:a="http://schemas.openxmlformats.org/drawingml/2006/main">
            <a:r>
              <a:t>          "sha256": "da5446dc5370341df3f87b4b7573e9a4b7b66e1e11ba20373a2ecae8aaf29be6",</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"evidence/g44/commands/0017_final_focused/proof_controls/negative_prior.json",</a:t>
            </a:r>
          </a:p>
          <a:p xmlns:a="http://schemas.openxmlformats.org/drawingml/2006/main">
            <a:r>
              <a:t>          "json_pointer": "/reason",</a:t>
            </a:r>
          </a:p>
          <a:p xmlns:a="http://schemas.openxmlformats.org/drawingml/2006/main">
            <a:r>
              <a:t>          "sha256": "50578e4030f46da3f287eccf609b628c8bb38be98f47a15949c9ed42da3a907d",</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"evidence/g44/commands/0017_final_focused/proof_controls/negative_result.json",</a:t>
            </a:r>
          </a:p>
          <a:p xmlns:a="http://schemas.openxmlformats.org/drawingml/2006/main">
            <a:r>
              <a:t>          "json_pointer": "/reason",</a:t>
            </a:r>
          </a:p>
          <a:p xmlns:a="http://schemas.openxmlformats.org/drawingml/2006/main">
            <a:r>
              <a:t>          "sha256": "cdb85b8d5c09e16cf0092f36dafbabbc578ef0f77dd4e242d9090f65ff7cb64d",</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"evidence/g44/commands/0017_final_focused/proof_controls/negative_root.json",</a:t>
            </a:r>
          </a:p>
          <a:p xmlns:a="http://schemas.openxmlformats.org/drawingml/2006/main">
            <a:r>
              <a:t>          "json_pointer": "/reason",</a:t>
            </a:r>
          </a:p>
          <a:p xmlns:a="http://schemas.openxmlformats.org/drawingml/2006/main">
            <a:r>
              <a:t>          "sha256": "a998a1da12b978cea3bee365212d8cec6c3cd3db9d64cc3efc1e75b969a85527",</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"evidence/g44/commands/0017_final_focused/proof_controls/negative_offer.json",</a:t>
            </a:r>
          </a:p>
          <a:p xmlns:a="http://schemas.openxmlformats.org/drawingml/2006/main">
            <a:r>
              <a:t>          "json_pointer": "/reason",</a:t>
            </a:r>
          </a:p>
          <a:p xmlns:a="http://schemas.openxmlformats.org/drawingml/2006/main">
            <a:r>
              <a:t>          "sha256": "7516e2ac15240a94135d85e022021e0eb9fe8fc71c5838188bb21500df76d27a",</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"Refusals occur at named constructor/currentness/saved-relation boundaries; they are not all Firewall blocks."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"C07",</a:t>
            </a:r>
          </a:p>
          <a:p xmlns:a="http://schemas.openxmlformats.org/drawingml/2006/main">
            <a:r>
              <a:t>      "title": "History changes actual checks",</a:t>
            </a:r>
          </a:p>
          <a:p xmlns:a="http://schemas.openxmlformats.org/drawingml/2006/main">
            <a:r>
              <a:t>      "claim": "Under the same PRICE_FIRST profile, allocations and performed optional checks change from 4/3 to 3/4.",</a:t>
            </a:r>
          </a:p>
          <a:p xmlns:a="http://schemas.openxmlformats.org/drawingml/2006/main">
            <a:r>
              <a:t>      "argument": "The fourth price check moves from offer0 to offer1 and the final output lists the actual consumed quanta; offer0 remains selected.",</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8,</a:t>
            </a:r>
          </a:p>
          <a:p xmlns:a="http://schemas.openxmlformats.org/drawingml/2006/main">
            <a:r>
              <a:t>          9</a:t>
            </a:r>
          </a:p>
          <a:p xmlns:a="http://schemas.openxmlformats.org/drawingml/2006/main">
            <a:r>
              <a:t>        ],</a:t>
            </a:r>
          </a:p>
          <a:p xmlns:a="http://schemas.openxmlformats.org/drawingml/2006/main">
            <a:r>
              <a:t>        "appendix": "h-cp-budget",</a:t>
            </a:r>
          </a:p>
          <a:p xmlns:a="http://schemas.openxmlformats.org/drawingml/2006/main">
            <a:r>
              <a:t>        "reader": "C07"</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"source_snapshot/installed/hedgehog/gate4_reference_runtime_v01.py",</a:t>
            </a:r>
          </a:p>
          <a:p xmlns:a="http://schemas.openxmlformats.org/drawingml/2006/main">
            <a:r>
              <a:t>          "symbol": "NativeAllocationConsumerV01",</a:t>
            </a:r>
          </a:p>
          <a:p xmlns:a="http://schemas.openxmlformats.org/drawingml/2006/main">
            <a:r>
              <a:t>          "sha256": "aefba35aa68209e7a2891bcc5daef3c921d4ca49c018b94b0434ff1ba7c6a02a",</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"/cp_budget",</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"/allocation/rows",</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"evidence/g44/portable_publication_final/story/warm/allocation_before_install.json",</a:t>
            </a:r>
          </a:p>
          <a:p xmlns:a="http://schemas.openxmlformats.org/drawingml/2006/main">
            <a:r>
              <a:t>          "json_pointer": "/allocation/rows",</a:t>
            </a:r>
          </a:p>
          <a:p xmlns:a="http://schemas.openxmlformats.org/drawingml/2006/main">
            <a:r>
              <a:t>          "sha256": "21aa9271f419897ef046816d3a28e2a320635611c58388775a78ae5d0499ba95",</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"/output/consumed_quanta",</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"json_pointer": "/output/consumed_quanta",</a:t>
            </a:r>
          </a:p>
          <a:p xmlns:a="http://schemas.openxmlformats.org/drawingml/2006/main">
            <a:r>
              <a:t>          "sha256": "adea2bf51520806197c844133914554094c35bf4ef9ba78f3f498c430b022ab6",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"/final/program/ordered_work_ids",</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"evidence/g44/portable_publication_final/story/warm/completed_work.json",</a:t>
            </a:r>
          </a:p>
          <a:p xmlns:a="http://schemas.openxmlformats.org/drawingml/2006/main">
            <a:r>
              <a:t>          "json_pointer": "/final/program/ordered_work_ids",</a:t>
            </a:r>
          </a:p>
          <a:p xmlns:a="http://schemas.openxmlformats.org/drawingml/2006/main">
            <a:r>
              <a:t>          "sha256": "adea2bf51520806197c844133914554094c35bf4ef9ba78f3f498c430b022ab6",</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"Seven optional checks of a 12-check catalogue; no measured CPU, price or outcome-quality improvement."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"C08",</a:t>
            </a:r>
          </a:p>
          <a:p xmlns:a="http://schemas.openxmlformats.org/drawingml/2006/main">
            <a:r>
              <a:t>      "title": "Original spending is conserved",</a:t>
            </a:r>
          </a:p>
          <a:p xmlns:a="http://schemas.openxmlformats.org/drawingml/2006/main">
            <a:r>
              <a:t>      "claim": "The 9-unit cap contains one already-spent initial check, seven optional checks and one reserved final consumer.",</a:t>
            </a:r>
          </a:p>
          <a:p xmlns:a="http://schemas.openxmlformats.org/drawingml/2006/main">
            <a:r>
              <a:t>      "argument": "Budget reconstruction uses original policy and actual ledger usage; subsequent reports cannot reset cumulative spending.",</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6,</a:t>
            </a:r>
          </a:p>
          <a:p xmlns:a="http://schemas.openxmlformats.org/drawingml/2006/main">
            <a:r>
              <a:t>          9</a:t>
            </a:r>
          </a:p>
          <a:p xmlns:a="http://schemas.openxmlformats.org/drawingml/2006/main">
            <a:r>
              <a:t>        ],</a:t>
            </a:r>
          </a:p>
          <a:p xmlns:a="http://schemas.openxmlformats.org/drawingml/2006/main">
            <a:r>
              <a:t>        "appendix": "f-pressure-allocation",</a:t>
            </a:r>
          </a:p>
          <a:p xmlns:a="http://schemas.openxmlformats.org/drawingml/2006/main">
            <a:r>
              <a:t>        "reader": "C08"</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"reconstruct_allocation_basis_v43",</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"evidence/g44/portable_publication_final/story/cold/enrolled.json",</a:t>
            </a:r>
          </a:p>
          <a:p xmlns:a="http://schemas.openxmlformats.org/drawingml/2006/main">
            <a:r>
              <a:t>          "json_pointer": "",</a:t>
            </a:r>
          </a:p>
          <a:p xmlns:a="http://schemas.openxmlformats.org/drawingml/2006/main">
            <a:r>
              <a:t>          "sha256": "bf1e438bc028ffcb49bb0af103026446d2ea0177c288cbedec762e5b7dd24b11",</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"/budget",</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"/after/usage",</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"test_g43_new_consumer_original_budget_and_actual_proof",</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"test_native_quota_refusals_and_real_exhaustion",</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"/after/usage",</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"/controls/stale_spending_revision",</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"evidence/g44/portable_publication_final/story/current_exhausted_budgets.json",</a:t>
            </a:r>
          </a:p>
          <a:p xmlns:a="http://schemas.openxmlformats.org/drawingml/2006/main">
            <a:r>
              <a:t>          "json_pointer": "",</a:t>
            </a:r>
          </a:p>
          <a:p xmlns:a="http://schemas.openxmlformats.org/drawingml/2006/main">
            <a:r>
              <a:t>          "sha256": "bb82e7b130da0ab1fbae80148a0443aa8933a39a9e5adefe56a73105f1e95353",</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"/controls/terminal_retry",</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"ONE_NATIVE_WORK_DISPATCH_UNIT measures admitted dispatches, not time, tokens, money or FLOPs."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Allocated work reaches the final consumer</a:t>
            </a:r>
          </a:p>
          <a:p xmlns:a="http://schemas.openxmlformats.org/drawingml/2006/main">
            <a:r>
              <a:t>The native Work input carries the allocation proof. Its output binds the same allocation.</a:t>
            </a:r>
          </a:p>
          <a:p xmlns:a="http://schemas.openxmlformats.org/drawingml/2006/main">
            <a:r>
              <a:t>Accepted allocation</a:t>
            </a:r>
          </a:p>
          <a:p xmlns:a="http://schemas.openxmlformats.org/drawingml/2006/main">
            <a:r>
              <a:t>Cold [4, 3]</a:t>
            </a:r>
          </a:p>
          <a:p xmlns:a="http://schemas.openxmlformats.org/drawingml/2006/main">
            <a:r>
              <a:t>Actual Work literal</a:t>
            </a:r>
          </a:p>
          <a:p xmlns:a="http://schemas.openxmlformats.org/drawingml/2006/main">
            <a:r>
              <a:t>offer_0_4</a:t>
            </a:r>
          </a:p>
          <a:p xmlns:a="http://schemas.openxmlformats.org/drawingml/2006/main">
            <a:r>
              <a:t>field: price</a:t>
            </a:r>
          </a:p>
          <a:p xmlns:a="http://schemas.openxmlformats.org/drawingml/2006/main">
            <a:r>
              <a:t>Completed output</a:t>
            </a:r>
          </a:p>
          <a:p xmlns:a="http://schemas.openxmlformats.org/drawingml/2006/main">
            <a:r>
              <a:t>EUR 790</a:t>
            </a:r>
          </a:p>
          <a:p xmlns:a="http://schemas.openxmlformats.org/drawingml/2006/main">
            <a:r>
              <a:t>COMPLETED</a:t>
            </a:r>
          </a:p>
          <a:p xmlns:a="http://schemas.openxmlformats.org/drawingml/2006/main">
            <a:r>
              <a:t>Final consumer</a:t>
            </a:r>
          </a:p>
          <a:p xmlns:a="http://schemas.openxmlformats.org/drawingml/2006/main">
            <a:r>
              <a:t>allocation_proof</a:t>
            </a:r>
          </a:p>
          <a:p xmlns:a="http://schemas.openxmlformats.org/drawingml/2006/main">
            <a:r>
              <a:t>input + bound output</a:t>
            </a:r>
          </a:p>
          <a:p xmlns:a="http://schemas.openxmlformats.org/drawingml/2006/main">
            <a:r>
              <a:t>Coherent 6 / 1 substitution</a:t>
            </a:r>
          </a:p>
          <a:p xmlns:a="http://schemas.openxmlformats.org/drawingml/2006/main">
            <a:r>
              <a:t>REFUSED before changed execution</a:t>
            </a:r>
          </a:p>
          <a:p xmlns:a="http://schemas.openxmlformats.org/drawingml/2006/main">
            <a:r>
              <a:t>Original source basis disagrees. The intact allocation is the passing neighbour.</a:t>
            </a:r>
          </a:p>
          <a:p xmlns:a="http://schemas.openxmlformats.org/drawingml/2006/main">
            <a:r>
              <a:t>C09 / C12   Technical evidence</a:t>
            </a:r>
          </a:p>
          <a:p xmlns:a="http://schemas.openxmlformats.org/drawingml/2006/main">
            <a:r>
              <a:t>GATE 4 REFERENCE  /  23 SEPTEMBER 2026</a:t>
            </a:r>
          </a:p>
          <a:p xmlns:a="http://schemas.openxmlformats.org/drawingml/2006/main">
            <a:r>
              <a:t>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"Current expiry just-before control prepares a result, at-boundary/after/future/rollback controls refuse. Retained history current descent has genuine accepted neighbours and refuses at/after the boundary. Current exhaustion retains original spending. Pure replay checks event-time relationships and does not renew authority today.",</a:t>
            </a:r>
          </a:p>
          <a:p xmlns:a="http://schemas.openxmlformats.org/drawingml/2006/main">
            <a:r>
              <a:t>  "sources": [</a:t>
            </a:r>
          </a:p>
          <a:p xmlns:a="http://schemas.openxmlformats.org/drawingml/2006/main">
            <a:r>
              <a:t>    {</a:t>
            </a:r>
          </a:p>
          <a:p xmlns:a="http://schemas.openxmlformats.org/drawingml/2006/main">
            <a:r>
              <a:t>      "path": "evidence/g44/portable_publication_final/story/current_expiry_controls.json",</a:t>
            </a:r>
          </a:p>
          <a:p xmlns:a="http://schemas.openxmlformats.org/drawingml/2006/main">
            <a:r>
              <a:t>      "sha256": "9b9416cf0bb8dd11c1d44627b3ce4a767d87248069907e4aab539b06e7251a2c"</a:t>
            </a:r>
          </a:p>
          <a:p xmlns:a="http://schemas.openxmlformats.org/drawingml/2006/main">
            <a:r>
              <a:t>    },</a:t>
            </a:r>
          </a:p>
          <a:p xmlns:a="http://schemas.openxmlformats.org/drawingml/2006/main">
            <a:r>
              <a:t>    {</a:t>
            </a:r>
          </a:p>
          <a:p xmlns:a="http://schemas.openxmlformats.org/drawingml/2006/main">
            <a:r>
              <a:t>      "path": "evidence/g44/portable_publication_final/story/retained_history_current_controls.json",</a:t>
            </a:r>
          </a:p>
          <a:p xmlns:a="http://schemas.openxmlformats.org/drawingml/2006/main">
            <a:r>
              <a:t>      "sha256": "c95bdfa4788505e7807e7cbeb450673e596144c2e538434591e5ef4ee81f5d1c"</a:t>
            </a:r>
          </a:p>
          <a:p xmlns:a="http://schemas.openxmlformats.org/drawingml/2006/main">
            <a:r>
              <a:t>    },</a:t>
            </a:r>
          </a:p>
          <a:p xmlns:a="http://schemas.openxmlformats.org/drawingml/2006/main">
            <a:r>
              <a:t>    {</a:t>
            </a:r>
          </a:p>
          <a:p xmlns:a="http://schemas.openxmlformats.org/drawingml/2006/main">
            <a:r>
              <a:t>      "path": "evidence/g44/portable_publication_final/story/current_exhausted_budgets.json",</a:t>
            </a:r>
          </a:p>
          <a:p xmlns:a="http://schemas.openxmlformats.org/drawingml/2006/main">
            <a:r>
              <a:t>      "sha256": "bb82e7b130da0ab1fbae80148a0443aa8933a39a9e5adefe56a73105f1e95353"</a:t>
            </a:r>
          </a:p>
          <a:p xmlns:a="http://schemas.openxmlformats.org/drawingml/2006/main">
            <a:r>
              <a:t>    }</a:t>
            </a:r>
          </a:p>
          <a:p xmlns:a="http://schemas.openxmlformats.org/drawingml/2006/main">
            <a:r>
              <a:t>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"C08",</a:t>
            </a:r>
          </a:p>
          <a:p xmlns:a="http://schemas.openxmlformats.org/drawingml/2006/main">
            <a:r>
              <a:t>      "title": "Original spending is conserved",</a:t>
            </a:r>
          </a:p>
          <a:p xmlns:a="http://schemas.openxmlformats.org/drawingml/2006/main">
            <a:r>
              <a:t>      "claim": "The 9-unit cap contains one already-spent initial check, seven optional checks and one reserved final consumer.",</a:t>
            </a:r>
          </a:p>
          <a:p xmlns:a="http://schemas.openxmlformats.org/drawingml/2006/main">
            <a:r>
              <a:t>      "argument": "Budget reconstruction uses original policy and actual ledger usage; subsequent reports cannot reset cumulative spending.",</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6,</a:t>
            </a:r>
          </a:p>
          <a:p xmlns:a="http://schemas.openxmlformats.org/drawingml/2006/main">
            <a:r>
              <a:t>          9</a:t>
            </a:r>
          </a:p>
          <a:p xmlns:a="http://schemas.openxmlformats.org/drawingml/2006/main">
            <a:r>
              <a:t>        ],</a:t>
            </a:r>
          </a:p>
          <a:p xmlns:a="http://schemas.openxmlformats.org/drawingml/2006/main">
            <a:r>
              <a:t>        "appendix": "f-pressure-allocation",</a:t>
            </a:r>
          </a:p>
          <a:p xmlns:a="http://schemas.openxmlformats.org/drawingml/2006/main">
            <a:r>
              <a:t>        "reader": "C08"</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"reconstruct_allocation_basis_v43",</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"evidence/g44/portable_publication_final/story/cold/enrolled.json",</a:t>
            </a:r>
          </a:p>
          <a:p xmlns:a="http://schemas.openxmlformats.org/drawingml/2006/main">
            <a:r>
              <a:t>          "json_pointer": "",</a:t>
            </a:r>
          </a:p>
          <a:p xmlns:a="http://schemas.openxmlformats.org/drawingml/2006/main">
            <a:r>
              <a:t>          "sha256": "bf1e438bc028ffcb49bb0af103026446d2ea0177c288cbedec762e5b7dd24b11",</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"/budget",</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"/after/usage",</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"test_g43_new_consumer_original_budget_and_actual_proof",</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"test_native_quota_refusals_and_real_exhaustion",</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"/after/usage",</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"/controls/stale_spending_revision",</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"evidence/g44/portable_publication_final/story/current_exhausted_budgets.json",</a:t>
            </a:r>
          </a:p>
          <a:p xmlns:a="http://schemas.openxmlformats.org/drawingml/2006/main">
            <a:r>
              <a:t>          "json_pointer": "",</a:t>
            </a:r>
          </a:p>
          <a:p xmlns:a="http://schemas.openxmlformats.org/drawingml/2006/main">
            <a:r>
              <a:t>          "sha256": "bb82e7b130da0ab1fbae80148a0443aa8933a39a9e5adefe56a73105f1e95353",</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"/controls/terminal_retry",</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"ONE_NATIVE_WORK_DISPATCH_UNIT measures admitted dispatches, not time, tokens, money or FLOPs."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"C10",</a:t>
            </a:r>
          </a:p>
          <a:p xmlns:a="http://schemas.openxmlformats.org/drawingml/2006/main">
            <a:r>
              <a:t>      "title": "Original validity is not renewed",</a:t>
            </a:r>
          </a:p>
          <a:p xmlns:a="http://schemas.openxmlformats.org/drawingml/2006/main">
            <a:r>
              <a:t>      "claim": "Current consumers check original source expiry even when reviews or wrappers are fresh.",</a:t>
            </a:r>
          </a:p>
          <a:p xmlns:a="http://schemas.openxmlformats.org/drawingml/2006/main">
            <a:r>
              <a:t>      "argument": "Just-before-expiry preparation is retained alongside boundary/after/future/rollback refusals and a separate shorter-offer task.",</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10</a:t>
            </a:r>
          </a:p>
          <a:p xmlns:a="http://schemas.openxmlformats.org/drawingml/2006/main">
            <a:r>
              <a:t>        ],</a:t>
            </a:r>
          </a:p>
          <a:p xmlns:a="http://schemas.openxmlformats.org/drawingml/2006/main">
            <a:r>
              <a:t>        "appendix": "j-currentness-replay",</a:t>
            </a:r>
          </a:p>
          <a:p xmlns:a="http://schemas.openxmlformats.org/drawingml/2006/main">
            <a:r>
              <a:t>        "reader": "C10"</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"current_use_v43",</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"evidence/g44/portable_publication_final/story/current_expiry_controls.json",</a:t>
            </a:r>
          </a:p>
          <a:p xmlns:a="http://schemas.openxmlformats.org/drawingml/2006/main">
            <a:r>
              <a:t>          "json_pointer": "",</a:t>
            </a:r>
          </a:p>
          <a:p xmlns:a="http://schemas.openxmlformats.org/drawingml/2006/main">
            <a:r>
              <a:t>          "sha256": "9b9416cf0bb8dd11c1d44627b3ce4a767d87248069907e4aab539b06e7251a2c",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"evidence/g44/portable_publication_final/story/short_offer/shorter_offer_control.json",</a:t>
            </a:r>
          </a:p>
          <a:p xmlns:a="http://schemas.openxmlformats.org/drawingml/2006/main">
            <a:r>
              <a:t>          "json_pointer": "",</a:t>
            </a:r>
          </a:p>
          <a:p xmlns:a="http://schemas.openxmlformats.org/drawingml/2006/main">
            <a:r>
              <a:t>          "sha256": "8982cd84531bbc482848ae0737a3062f8015fa1d75c68fe324039b7288b840be",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"test_g43_current_expiry_actual_consumers",</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"test_g43_shorter_offer_ttl",</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"evidence/g44/portable_publication_final/story/current_expiry_controls.json",</a:t>
            </a:r>
          </a:p>
          <a:p xmlns:a="http://schemas.openxmlformats.org/drawingml/2006/main">
            <a:r>
              <a:t>          "json_pointer": "/just_before/status",</a:t>
            </a:r>
          </a:p>
          <a:p xmlns:a="http://schemas.openxmlformats.org/drawingml/2006/main">
            <a:r>
              <a:t>          "sha256": "9b9416cf0bb8dd11c1d44627b3ce4a767d87248069907e4aab539b06e7251a2c",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"evidence/g44/portable_publication_final/story/current_expiry_controls.json",</a:t>
            </a:r>
          </a:p>
          <a:p xmlns:a="http://schemas.openxmlformats.org/drawingml/2006/main">
            <a:r>
              <a:t>          "json_pointer": "/at_boundary",</a:t>
            </a:r>
          </a:p>
          <a:p xmlns:a="http://schemas.openxmlformats.org/drawingml/2006/main">
            <a:r>
              <a:t>          "sha256": "9b9416cf0bb8dd11c1d44627b3ce4a767d87248069907e4aab539b06e7251a2c",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"evidence/g44/portable_publication_final/story/current_expiry_controls.json",</a:t>
            </a:r>
          </a:p>
          <a:p xmlns:a="http://schemas.openxmlformats.org/drawingml/2006/main">
            <a:r>
              <a:t>          "json_pointer": "/rollback",</a:t>
            </a:r>
          </a:p>
          <a:p xmlns:a="http://schemas.openxmlformats.org/drawingml/2006/main">
            <a:r>
              <a:t>          "sha256": "9b9416cf0bb8dd11c1d44627b3ce4a767d87248069907e4aab539b06e7251a2c",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"evidence/g44/portable_publication_final/story/cold/current_use.json",</a:t>
            </a:r>
          </a:p>
          <a:p xmlns:a="http://schemas.openxmlformats.org/drawingml/2006/main">
            <a:r>
              <a:t>          "json_pointer": "",</a:t>
            </a:r>
          </a:p>
          <a:p xmlns:a="http://schemas.openxmlformats.org/drawingml/2006/main">
            <a:r>
              <a:t>          "sha256": "4fa53a48e8c7e4ce925bab8976c59776b78c6c963d0f3b1161d4ddf22dc3e893",</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"Saved current-at-event-time suitability does not restore current permission today."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"C11",</a:t>
            </a:r>
          </a:p>
          <a:p xmlns:a="http://schemas.openxmlformats.org/drawingml/2006/main">
            <a:r>
              <a:t>      "title": "Retained history must qualify again",</a:t>
            </a:r>
          </a:p>
          <a:p xmlns:a="http://schemas.openxmlformats.org/drawingml/2006/main">
            <a:r>
              <a:t>      "claim": "A previously valid history opening is not blindly reusable after time advances.",</a:t>
            </a:r>
          </a:p>
          <a:p xmlns:a="http://schemas.openxmlformats.org/drawingml/2006/main">
            <a:r>
              <a:t>      "argument": "The warm lane performs current Root-approved descent and rejects invalid current history while preserving the enrolled basis and usage.",</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10</a:t>
            </a:r>
          </a:p>
          <a:p xmlns:a="http://schemas.openxmlformats.org/drawingml/2006/main">
            <a:r>
              <a:t>        ],</a:t>
            </a:r>
          </a:p>
          <a:p xmlns:a="http://schemas.openxmlformats.org/drawingml/2006/main">
            <a:r>
              <a:t>        "appendix": "j-currentness-replay",</a:t>
            </a:r>
          </a:p>
          <a:p xmlns:a="http://schemas.openxmlformats.org/drawingml/2006/main">
            <a:r>
              <a:t>        "reader": "C11"</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"source_snapshot/installed/hedgehog/domains/airline/gate4_reference_history_v01.py",</a:t>
            </a:r>
          </a:p>
          <a:p xmlns:a="http://schemas.openxmlformats.org/drawingml/2006/main">
            <a:r>
              <a:t>          "symbol": null,</a:t>
            </a:r>
          </a:p>
          <a:p xmlns:a="http://schemas.openxmlformats.org/drawingml/2006/main">
            <a:r>
              <a:t>          "sha256": "8cbd64a4e0d316a79b0648d40be31856d2d1370bb44dc7055073d2ef1512a870",</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"evidence/g44/portable_publication_final/story/retained_history_current_controls.json",</a:t>
            </a:r>
          </a:p>
          <a:p xmlns:a="http://schemas.openxmlformats.org/drawingml/2006/main">
            <a:r>
              <a:t>          "json_pointer": "",</a:t>
            </a:r>
          </a:p>
          <a:p xmlns:a="http://schemas.openxmlformats.org/drawingml/2006/main">
            <a:r>
              <a:t>          "sha256": "c95bdfa4788505e7807e7cbeb450673e596144c2e538434591e5ef4ee81f5d1c",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"source_snapshot/installed/tests/test_gate4_reference_history_v01.py",</a:t>
            </a:r>
          </a:p>
          <a:p xmlns:a="http://schemas.openxmlformats.org/drawingml/2006/main">
            <a:r>
              <a:t>          "symbol": "test_g43_retained_history_current_requalification",</a:t>
            </a:r>
          </a:p>
          <a:p xmlns:a="http://schemas.openxmlformats.org/drawingml/2006/main">
            <a:r>
              <a:t>          "sha256": "efd85a28409a8d82cb6e214df2cb2043af476c85f6dbc0d259a337e1e32c137b",</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"evidence/g44/portable_publication_final/story/retained_history_current_controls.json",</a:t>
            </a:r>
          </a:p>
          <a:p xmlns:a="http://schemas.openxmlformats.org/drawingml/2006/main">
            <a:r>
              <a:t>          "json_pointer": "/current_descent",</a:t>
            </a:r>
          </a:p>
          <a:p xmlns:a="http://schemas.openxmlformats.org/drawingml/2006/main">
            <a:r>
              <a:t>          "sha256": "c95bdfa4788505e7807e7cbeb450673e596144c2e538434591e5ef4ee81f5d1c",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"evidence/g44/portable_publication_final/story/retained_history_current_controls.json",</a:t>
            </a:r>
          </a:p>
          <a:p xmlns:a="http://schemas.openxmlformats.org/drawingml/2006/main">
            <a:r>
              <a:t>          "json_pointer": "/at_boundary",</a:t>
            </a:r>
          </a:p>
          <a:p xmlns:a="http://schemas.openxmlformats.org/drawingml/2006/main">
            <a:r>
              <a:t>          "sha256": "c95bdfa4788505e7807e7cbeb450673e596144c2e538434591e5ef4ee81f5d1c",</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"evidence/g44/portable_publication_final/story/warm/current_history.json",</a:t>
            </a:r>
          </a:p>
          <a:p xmlns:a="http://schemas.openxmlformats.org/drawingml/2006/main">
            <a:r>
              <a:t>          "json_pointer": "",</a:t>
            </a:r>
          </a:p>
          <a:p xmlns:a="http://schemas.openxmlformats.org/drawingml/2006/main">
            <a:r>
              <a:t>          "sha256": "4f53cda18c2baa0c0354bb5f9a3ecbe5ed12ab4d8e11ba873c2f11161202b945",</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"History eligibility is narrower than physical truth; the trusted local memory boundary is explicit."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"C05",</a:t>
            </a:r>
          </a:p>
          <a:p xmlns:a="http://schemas.openxmlformats.org/drawingml/2006/main">
            <a:r>
              <a:t>      "title": "Suitability precedes ranking",</a:t>
            </a:r>
          </a:p>
          <a:p xmlns:a="http://schemas.openxmlformats.org/drawingml/2006/main">
            <a:r>
              <a:t>      "claim": "Known hard-false cases are excluded before score allocation; missing required evidence does not become zero.",</a:t>
            </a:r>
          </a:p>
          <a:p xmlns:a="http://schemas.openxmlformats.org/drawingml/2006/main">
            <a:r>
              <a:t>      "argument": "Strict contracts, explicit missing sets and report recomputation separate malformed, unknown and genuine no-deal outcomes.",</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3,</a:t>
            </a:r>
          </a:p>
          <a:p xmlns:a="http://schemas.openxmlformats.org/drawingml/2006/main">
            <a:r>
              <a:t>          10</a:t>
            </a:r>
          </a:p>
          <a:p xmlns:a="http://schemas.openxmlformats.org/drawingml/2006/main">
            <a:r>
              <a:t>        ],</a:t>
            </a:r>
          </a:p>
          <a:p xmlns:a="http://schemas.openxmlformats.org/drawingml/2006/main">
            <a:r>
              <a:t>        "appendix": "e-strategy-mathematics",</a:t>
            </a:r>
          </a:p>
          <a:p xmlns:a="http://schemas.openxmlformats.org/drawingml/2006/main">
            <a:r>
              <a:t>        "reader": "C05"</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"evaluate_reference_pressure_v01",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"/bridge/strategy/exclusions",</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"test_strategy_dispositions",</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"source_snapshot/installed/tests/test_gate4_reference_math_v01.py",</a:t>
            </a:r>
          </a:p>
          <a:p xmlns:a="http://schemas.openxmlformats.org/drawingml/2006/main">
            <a:r>
              <a:t>          "symbol": "test_mask_before_softmax_negative_score_and_history_once",</a:t>
            </a:r>
          </a:p>
          <a:p xmlns:a="http://schemas.openxmlformats.org/drawingml/2006/main">
            <a:r>
              <a:t>          "sha256": "857bf0574b5e105211dc07569e5390db076ca6739eccb6d61d33d80717f0e744",</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"evidence/g44/portable_publication_final/story/cold/domain_consumption.json",</a:t>
            </a:r>
          </a:p>
          <a:p xmlns:a="http://schemas.openxmlformats.org/drawingml/2006/main">
            <a:r>
              <a:t>          "json_pointer": "/bridge/strategy/feasible",</a:t>
            </a:r>
          </a:p>
          <a:p xmlns:a="http://schemas.openxmlformats.org/drawingml/2006/main">
            <a:r>
              <a:t>          "sha256": "7118fe39ef0ffc18e0c724955a10b2a861ff887b22ed5fbddfda2a1c934cf628",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"evidence/g44/portable_publication_final/story/native_supplied_controls.json",</a:t>
            </a:r>
          </a:p>
          <a:p xmlns:a="http://schemas.openxmlformats.org/drawingml/2006/main">
            <a:r>
              <a:t>          "json_pointer": "/evaluation_time",</a:t>
            </a:r>
          </a:p>
          <a:p xmlns:a="http://schemas.openxmlformats.org/drawingml/2006/main">
            <a:r>
              <a:t>          "sha256": "e632aad1ce0aeb9fcdf4c2a74bb912e609aecc92e741769ed2df63b3b8703e6a",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"limits": [</a:t>
            </a:r>
          </a:p>
          <a:p xmlns:a="http://schemas.openxmlformats.org/drawingml/2006/main">
            <a:r>
              <a:t>        "Schema shape, arithmetic, contextual suitability and local permission remain separate checks."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"C12",</a:t>
            </a:r>
          </a:p>
          <a:p xmlns:a="http://schemas.openxmlformats.org/drawingml/2006/main">
            <a:r>
              <a:t>      "title": "Coherent false relations are rejected",</a:t>
            </a:r>
          </a:p>
          <a:p xmlns:a="http://schemas.openxmlformats.org/drawingml/2006/main">
            <a:r>
              <a:t>      "claim": "Resealing a wrong quota, prior, result, root or offer relation does not make it admissible.",</a:t>
            </a:r>
          </a:p>
          <a:p xmlns:a="http://schemas.openxmlformats.org/drawingml/2006/main">
            <a:r>
              <a:t>      "argument": "The verifier compares against independent original basis and source relations after outer integrity has been rebuilt.",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9,</a:t>
            </a:r>
          </a:p>
          <a:p xmlns:a="http://schemas.openxmlformats.org/drawingml/2006/main">
            <a:r>
              <a:t>          10</a:t>
            </a:r>
          </a:p>
          <a:p xmlns:a="http://schemas.openxmlformats.org/drawingml/2006/main">
            <a:r>
              <a:t>        ],</a:t>
            </a:r>
          </a:p>
          <a:p xmlns:a="http://schemas.openxmlformats.org/drawingml/2006/main">
            <a:r>
              <a:t>        "appendix": "i-boundary-controls",</a:t>
            </a:r>
          </a:p>
          <a:p xmlns:a="http://schemas.openxmlformats.org/drawingml/2006/main">
            <a:r>
              <a:t>        "reader": "C12"</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"source_snapshot/installed/hedgehog/domains/airline/gate4_reference_adapter_v01.py",</a:t>
            </a:r>
          </a:p>
          <a:p xmlns:a="http://schemas.openxmlformats.org/drawingml/2006/main">
            <a:r>
              <a:t>          "symbol": "reconstruct_allocation_basis_v43",</a:t>
            </a:r>
          </a:p>
          <a:p xmlns:a="http://schemas.openxmlformats.org/drawingml/2006/main">
            <a:r>
              <a:t>          "sha256": "78cae2c1fdb326f4a0c0a5b3c854d055634011ccce697c02f126d3e87df85df4",</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"validate_saved_story_v01",</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"evidence/g44/portable_publication_final/story/cold/constructor_controls.json",</a:t>
            </a:r>
          </a:p>
          <a:p xmlns:a="http://schemas.openxmlformats.org/drawingml/2006/main">
            <a:r>
              <a:t>          "json_pointer": "/controls",</a:t>
            </a:r>
          </a:p>
          <a:p xmlns:a="http://schemas.openxmlformats.org/drawingml/2006/main">
            <a:r>
              <a:t>          "sha256": "6c0796c7715e00f9656f739bbef7056d37819fc905e09e5b7d9675728a15336a",</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"evidence/g44/commands/0018_final_parent_controls/controls.json",</a:t>
            </a:r>
          </a:p>
          <a:p xmlns:a="http://schemas.openxmlformats.org/drawingml/2006/main">
            <a:r>
              <a:t>          "json_pointer": "",</a:t>
            </a:r>
          </a:p>
          <a:p xmlns:a="http://schemas.openxmlformats.org/drawingml/2006/main">
            <a:r>
              <a:t>          "sha256": "63a5195975c7ae9c9fbb8e16e3df79c578ec712ffe82ef93e35a0a2afa9c76e7",</a:t>
            </a:r>
          </a:p>
          <a:p xmlns:a="http://schemas.openxmlformats.org/drawingml/2006/main">
            <a:r>
              <a:t>          "evidence_class": "RECORDED_PARENT_CONTROL"</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"source_snapshot/installed/tests/test_gate4_reference_evidence_v01.py",</a:t>
            </a:r>
          </a:p>
          <a:p xmlns:a="http://schemas.openxmlformats.org/drawingml/2006/main">
            <a:r>
              <a:t>          "symbol": "test_g43_semantic_controls_with_resealed_test_pin",</a:t>
            </a:r>
          </a:p>
          <a:p xmlns:a="http://schemas.openxmlformats.org/drawingml/2006/main">
            <a:r>
              <a:t>          "sha256": "3d983892182d9d012d733f8a19a5bd3dc5e0efeb8962371645accbf73735e5e8",</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"test_native_source_and_coherent_supplied_controls",</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"evidence/g44/portable_publication_final/story/cold/allocation_before_install.json",</a:t>
            </a:r>
          </a:p>
          <a:p xmlns:a="http://schemas.openxmlformats.org/drawingml/2006/main">
            <a:r>
              <a:t>          "json_pointer": "/allocation/rows",</a:t>
            </a:r>
          </a:p>
          <a:p xmlns:a="http://schemas.openxmlformats.org/drawingml/2006/main">
            <a:r>
              <a:t>          "sha256": "189320e2e447e4c199c233b42ae9ec9ed6e07a7ba82e191342b075ff87aead98",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"path": "evidence/g44/commands/0017_final_focused/proof_controls/supported_result.json",</a:t>
            </a:r>
          </a:p>
          <a:p xmlns:a="http://schemas.openxmlformats.org/drawingml/2006/main">
            <a:r>
              <a:t>          "json_pointer": "",</a:t>
            </a:r>
          </a:p>
          <a:p xmlns:a="http://schemas.openxmlformats.org/drawingml/2006/main">
            <a:r>
              <a:t>          "sha256": "40844eb6c44c6cb261fe2b32230947221d7585452e7c8c9c6ca0f73bcc9cc338",</a:t>
            </a:r>
          </a:p>
          <a:p xmlns:a="http://schemas.openxmlformats.org/drawingml/2006/main">
            <a:r>
              <a:t>          "evidence_class": "RECORDED_SAVED_PROOF"</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a:t>
            </a:r>
          </a:p>
          <a:p xmlns:a="http://schemas.openxmlformats.org/drawingml/2006/main">
            <a:r>
              <a:t>          "path": "evidence/g44/commands/0017_final_focused/proof_controls/negative_quota.json",</a:t>
            </a:r>
          </a:p>
          <a:p xmlns:a="http://schemas.openxmlformats.org/drawingml/2006/main">
            <a:r>
              <a:t>          "json_pointer": "/reason",</a:t>
            </a:r>
          </a:p>
          <a:p xmlns:a="http://schemas.openxmlformats.org/drawingml/2006/main">
            <a:r>
              <a:t>          "sha256": "da5446dc5370341df3f87b4b7573e9a4b7b66e1e11ba20373a2ecae8aaf29be6",</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"evidence/g44/commands/0017_final_focused/proof_controls/negative_prior.json",</a:t>
            </a:r>
          </a:p>
          <a:p xmlns:a="http://schemas.openxmlformats.org/drawingml/2006/main">
            <a:r>
              <a:t>          "json_pointer": "/reason",</a:t>
            </a:r>
          </a:p>
          <a:p xmlns:a="http://schemas.openxmlformats.org/drawingml/2006/main">
            <a:r>
              <a:t>          "sha256": "50578e4030f46da3f287eccf609b628c8bb38be98f47a15949c9ed42da3a907d",</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"evidence/g44/commands/0017_final_focused/proof_controls/negative_result.json",</a:t>
            </a:r>
          </a:p>
          <a:p xmlns:a="http://schemas.openxmlformats.org/drawingml/2006/main">
            <a:r>
              <a:t>          "json_pointer": "/reason",</a:t>
            </a:r>
          </a:p>
          <a:p xmlns:a="http://schemas.openxmlformats.org/drawingml/2006/main">
            <a:r>
              <a:t>          "sha256": "cdb85b8d5c09e16cf0092f36dafbabbc578ef0f77dd4e242d9090f65ff7cb64d",</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"evidence/g44/commands/0017_final_focused/proof_controls/negative_root.json",</a:t>
            </a:r>
          </a:p>
          <a:p xmlns:a="http://schemas.openxmlformats.org/drawingml/2006/main">
            <a:r>
              <a:t>          "json_pointer": "/reason",</a:t>
            </a:r>
          </a:p>
          <a:p xmlns:a="http://schemas.openxmlformats.org/drawingml/2006/main">
            <a:r>
              <a:t>          "sha256": "a998a1da12b978cea3bee365212d8cec6c3cd3db9d64cc3efc1e75b969a85527",</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"path": "evidence/g44/commands/0017_final_focused/proof_controls/negative_offer.json",</a:t>
            </a:r>
          </a:p>
          <a:p xmlns:a="http://schemas.openxmlformats.org/drawingml/2006/main">
            <a:r>
              <a:t>          "json_pointer": "/reason",</a:t>
            </a:r>
          </a:p>
          <a:p xmlns:a="http://schemas.openxmlformats.org/drawingml/2006/main">
            <a:r>
              <a:t>          "sha256": "7516e2ac15240a94135d85e022021e0eb9fe8fc71c5838188bb21500df76d27a",</a:t>
            </a:r>
          </a:p>
          <a:p xmlns:a="http://schemas.openxmlformats.org/drawingml/2006/main">
            <a:r>
              <a:t>          "evidence_class": "RECORDED_SAVED_PROOF_CONTROL"</a:t>
            </a:r>
          </a:p>
          <a:p xmlns:a="http://schemas.openxmlformats.org/drawingml/2006/main">
            <a:r>
              <a:t>        }</a:t>
            </a:r>
          </a:p>
          <a:p xmlns:a="http://schemas.openxmlformats.org/drawingml/2006/main">
            <a:r>
              <a:t>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"Refusals occur at named constructor/currentness/saved-relation boundaries; they are not all Firewall blocks."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Current context remains binding</a:t>
            </a:r>
          </a:p>
          <a:p xmlns:a="http://schemas.openxmlformats.org/drawingml/2006/main">
            <a:r>
              <a:t>Valid old records remain subject to the original budget, expiry and current history checks.</a:t>
            </a:r>
          </a:p>
          <a:p xmlns:a="http://schemas.openxmlformats.org/drawingml/2006/main">
            <a:r>
              <a:t>Boundary</a:t>
            </a:r>
          </a:p>
          <a:p xmlns:a="http://schemas.openxmlformats.org/drawingml/2006/main">
            <a:r>
              <a:t>Genuine positive</a:t>
            </a:r>
          </a:p>
          <a:p xmlns:a="http://schemas.openxmlformats.org/drawingml/2006/main">
            <a:r>
              <a:t>Refused continuation</a:t>
            </a:r>
          </a:p>
          <a:p xmlns:a="http://schemas.openxmlformats.org/drawingml/2006/main">
            <a:r>
              <a:t>Original budget</a:t>
            </a:r>
          </a:p>
          <a:p xmlns:a="http://schemas.openxmlformats.org/drawingml/2006/main">
            <a:r>
              <a:t>Seven optional checks</a:t>
            </a:r>
          </a:p>
          <a:p xmlns:a="http://schemas.openxmlformats.org/drawingml/2006/main">
            <a:r>
              <a:t>plus mandatory endpoints</a:t>
            </a:r>
          </a:p>
          <a:p xmlns:a="http://schemas.openxmlformats.org/drawingml/2006/main">
            <a:r>
              <a:t>Fresh report cannot</a:t>
            </a:r>
          </a:p>
          <a:p xmlns:a="http://schemas.openxmlformats.org/drawingml/2006/main">
            <a:r>
              <a:t>erase spent work</a:t>
            </a:r>
          </a:p>
          <a:p xmlns:a="http://schemas.openxmlformats.org/drawingml/2006/main">
            <a:r>
              <a:t>Original expiry</a:t>
            </a:r>
          </a:p>
          <a:p xmlns:a="http://schemas.openxmlformats.org/drawingml/2006/main">
            <a:r>
              <a:t>Just before expiry:</a:t>
            </a:r>
          </a:p>
          <a:p xmlns:a="http://schemas.openxmlformats.org/drawingml/2006/main">
            <a:r>
              <a:t>prepared result</a:t>
            </a:r>
          </a:p>
          <a:p xmlns:a="http://schemas.openxmlformats.org/drawingml/2006/main">
            <a:r>
              <a:t>At boundary or after:</a:t>
            </a:r>
          </a:p>
          <a:p xmlns:a="http://schemas.openxmlformats.org/drawingml/2006/main">
            <a:r>
              <a:t>REFUSED</a:t>
            </a:r>
          </a:p>
          <a:p xmlns:a="http://schemas.openxmlformats.org/drawingml/2006/main">
            <a:r>
              <a:t>Retained history</a:t>
            </a:r>
          </a:p>
          <a:p xmlns:a="http://schemas.openxmlformats.org/drawingml/2006/main">
            <a:r>
              <a:t>Current discovery and</a:t>
            </a:r>
          </a:p>
          <a:p xmlns:a="http://schemas.openxmlformats.org/drawingml/2006/main">
            <a:r>
              <a:t>Root-approved descent</a:t>
            </a:r>
          </a:p>
          <a:p xmlns:a="http://schemas.openxmlformats.org/drawingml/2006/main">
            <a:r>
              <a:t>Expired retained input:</a:t>
            </a:r>
          </a:p>
          <a:p xmlns:a="http://schemas.openxmlformats.org/drawingml/2006/main">
            <a:r>
              <a:t>REFUSED</a:t>
            </a:r>
          </a:p>
          <a:p xmlns:a="http://schemas.openxmlformats.org/drawingml/2006/main">
            <a:r>
              <a:t>C08 / C10 / C11   Technical evidence</a:t>
            </a:r>
          </a:p>
          <a:p xmlns:a="http://schemas.openxmlformats.org/drawingml/2006/main">
            <a:r>
              <a:t>GATE 4 REFERENCE  /  23 SEPTEMBER 2026</a:t>
            </a:r>
          </a:p>
          <a:p xmlns:a="http://schemas.openxmlformats.org/drawingml/2006/main">
            <a:r>
              <a:t>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"Recorded G41:110 pure-math tests. Recorded G43:26 nodes/78 phases, including17 native/history/preflight. G44 focused0017:33 PASS/1 FAIL,102 phases,45.056284s. Fail: mode test requested04644 but actual0644, accepted environment limitation. G44 Living19.888031s,Conformance19.903165s,G45 installed supplied19.859283s. Their complete1151634-byte outputs share SHA256136b2a76da196e42923886ffc5cf47d89e51d99ec8cc6c7ac549cfaea106b4b9. Named replay scope observes zero new model/collector/Host/Work/history-write/Root/effect/network calls,430 pure saved Root-result validations. SAFE_DERIVED_SAVED_RELATIONSHIPS_AT_RECORDED_EVENT_TIMES. Full native canonical replay UNSUPPORTED_NATIVE_SCHEMA. Trusted installed source and exact recorded checker environment required, including Python3.14.5,jsonschema4.26.0,referencing0.37.0 and executable identity. No universal clean-clone claim.",</a:t>
            </a:r>
          </a:p>
          <a:p xmlns:a="http://schemas.openxmlformats.org/drawingml/2006/main">
            <a:r>
              <a:t>  "sources":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"C13",</a:t>
            </a:r>
          </a:p>
          <a:p xmlns:a="http://schemas.openxmlformats.org/drawingml/2006/main">
            <a:r>
              <a:t>      "title": "The checker is independently installed",</a:t>
            </a:r>
          </a:p>
          <a:p xmlns:a="http://schemas.openxmlformats.org/drawingml/2006/main">
            <a:r>
              <a:t>      "claim": "Saved evidence cannot choose the checker implementation or substitute a transitive source body.",</a:t>
            </a:r>
          </a:p>
          <a:p xmlns:a="http://schemas.openxmlformats.org/drawingml/2006/main">
            <a:r>
              <a:t>      "argument": "G44 P1 checks actual import origins, finite checker closure and exact recorded environment before saved semantics; archived source bodies remain inert.",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11</a:t>
            </a:r>
          </a:p>
          <a:p xmlns:a="http://schemas.openxmlformats.org/drawingml/2006/main">
            <a:r>
              <a:t>        ],</a:t>
            </a:r>
          </a:p>
          <a:p xmlns:a="http://schemas.openxmlformats.org/drawingml/2006/main">
            <a:r>
              <a:t>        "appendix": "j-currentness-replay",</a:t>
            </a:r>
          </a:p>
          <a:p xmlns:a="http://schemas.openxmlformats.org/drawingml/2006/main">
            <a:r>
              <a:t>        "reader": "C13"</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"checker_sources_v44",</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"checker_environment_v44",</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"evidence/g44/portable_publication_final/MANIFEST.json",</a:t>
            </a:r>
          </a:p>
          <a:p xmlns:a="http://schemas.openxmlformats.org/drawingml/2006/main">
            <a:r>
              <a:t>          "json_pointer": "/checker_source_ledger",</a:t>
            </a:r>
          </a:p>
          <a:p xmlns:a="http://schemas.openxmlformats.org/drawingml/2006/main">
            <a:r>
              <a:t>          "sha256": "16cee34833de46c4fd03dee9da3990d03815237567dfecc7cc9870f69d6d6f02",</a:t>
            </a:r>
          </a:p>
          <a:p xmlns:a="http://schemas.openxmlformats.org/drawingml/2006/main">
            <a:r>
              <a:t>          "evidence_class": "RECORDED_CHECKER_PROVENANCE"</a:t>
            </a:r>
          </a:p>
          <a:p xmlns:a="http://schemas.openxmlformats.org/drawingml/2006/main">
            <a:r>
              <a:t>        },</a:t>
            </a:r>
          </a:p>
          <a:p xmlns:a="http://schemas.openxmlformats.org/drawingml/2006/main">
            <a:r>
              <a:t>        {</a:t>
            </a:r>
          </a:p>
          <a:p xmlns:a="http://schemas.openxmlformats.org/drawingml/2006/main">
            <a:r>
              <a:t>          "path": "evidence/g44/portable_publication_final/MANIFEST.json",</a:t>
            </a:r>
          </a:p>
          <a:p xmlns:a="http://schemas.openxmlformats.org/drawingml/2006/main">
            <a:r>
              <a:t>          "json_pointer": "/producer_source_ledger",</a:t>
            </a:r>
          </a:p>
          <a:p xmlns:a="http://schemas.openxmlformats.org/drawingml/2006/main">
            <a:r>
              <a:t>          "sha256": "16cee34833de46c4fd03dee9da3990d03815237567dfecc7cc9870f69d6d6f02",</a:t>
            </a:r>
          </a:p>
          <a:p xmlns:a="http://schemas.openxmlformats.org/drawingml/2006/main">
            <a:r>
              <a:t>          "evidence_class": "RECORDED_PRODUCER_PROVENANCE"</a:t>
            </a:r>
          </a:p>
          <a:p xmlns:a="http://schemas.openxmlformats.org/drawingml/2006/main">
            <a:r>
              <a:t>        },</a:t>
            </a:r>
          </a:p>
          <a:p xmlns:a="http://schemas.openxmlformats.org/drawingml/2006/main">
            <a:r>
              <a:t>        {</a:t>
            </a:r>
          </a:p>
          <a:p xmlns:a="http://schemas.openxmlformats.org/drawingml/2006/main">
            <a:r>
              <a:t>          "path": "evidence/g44/portable_publication_final/MANIFEST.json",</a:t>
            </a:r>
          </a:p>
          <a:p xmlns:a="http://schemas.openxmlformats.org/drawingml/2006/main">
            <a:r>
              <a:t>          "json_pointer": "/checker_environment",</a:t>
            </a:r>
          </a:p>
          <a:p xmlns:a="http://schemas.openxmlformats.org/drawingml/2006/main">
            <a:r>
              <a:t>          "sha256": "16cee34833de46c4fd03dee9da3990d03815237567dfecc7cc9870f69d6d6f02",</a:t>
            </a:r>
          </a:p>
          <a:p xmlns:a="http://schemas.openxmlformats.org/drawingml/2006/main">
            <a:r>
              <a:t>          "evidence_class": "RECORDED_CHECKER_ENVIRONMENT"</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"source_snapshot/installed/tests/test_gate4_reference_evidence_v01.py",</a:t>
            </a:r>
          </a:p>
          <a:p xmlns:a="http://schemas.openxmlformats.org/drawingml/2006/main">
            <a:r>
              <a:t>          "symbol": "test_g44_missing_checker_dependency_refuses",</a:t>
            </a:r>
          </a:p>
          <a:p xmlns:a="http://schemas.openxmlformats.org/drawingml/2006/main">
            <a:r>
              <a:t>          "sha256": "3d983892182d9d012d733f8a19a5bd3dc5e0efeb8962371645accbf73735e5e8",</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"path": "source_snapshot/installed/tests/test_gate4_reference_evidence_v01.py",</a:t>
            </a:r>
          </a:p>
          <a:p xmlns:a="http://schemas.openxmlformats.org/drawingml/2006/main">
            <a:r>
              <a:t>          "symbol": "test_g44_preloaded_alternative_origin_core_mismatch_refuses",</a:t>
            </a:r>
          </a:p>
          <a:p xmlns:a="http://schemas.openxmlformats.org/drawingml/2006/main">
            <a:r>
              <a:t>          "sha256": "3d983892182d9d012d733f8a19a5bd3dc5e0efeb8962371645accbf73735e5e8",</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a:t>
            </a:r>
          </a:p>
          <a:p xmlns:a="http://schemas.openxmlformats.org/drawingml/2006/main">
            <a:r>
              <a:t>          "path": "evidence/g45/installed_supplied/combined.json",</a:t>
            </a:r>
          </a:p>
          <a:p xmlns:a="http://schemas.openxmlformats.org/drawingml/2006/main">
            <a:r>
              <a:t>          "json_pointer": "/status",</a:t>
            </a:r>
          </a:p>
          <a:p xmlns:a="http://schemas.openxmlformats.org/drawingml/2006/main">
            <a:r>
              <a:t>          "sha256": "136b2a76da196e42923886ffc5cf47d89e51d99ec8cc6c7ac549cfaea106b4b9",</a:t>
            </a:r>
          </a:p>
          <a:p xmlns:a="http://schemas.openxmlformats.org/drawingml/2006/main">
            <a:r>
              <a:t>          "evidence_class": "RECORDED_INSTALLED_SUPPLIED"</a:t>
            </a:r>
          </a:p>
          <a:p xmlns:a="http://schemas.openxmlformats.org/drawingml/2006/main">
            <a:r>
              <a:t>        }</a:t>
            </a:r>
          </a:p>
          <a:p xmlns:a="http://schemas.openxmlformats.org/drawingml/2006/main">
            <a:r>
              <a:t>      ],</a:t>
            </a:r>
          </a:p>
          <a:p xmlns:a="http://schemas.openxmlformats.org/drawingml/2006/main">
            <a:r>
              <a:t>      "negative_refs": [],</a:t>
            </a:r>
          </a:p>
          <a:p xmlns:a="http://schemas.openxmlformats.org/drawingml/2006/main">
            <a:r>
              <a:t>      "consumer_refs": [],</a:t>
            </a:r>
          </a:p>
          <a:p xmlns:a="http://schemas.openxmlformats.org/drawingml/2006/main">
            <a:r>
              <a:t>      "limits": [</a:t>
            </a:r>
          </a:p>
          <a:p xmlns:a="http://schemas.openxmlformats.org/drawingml/2006/main">
            <a:r>
              <a:t>        "Requires a matching trusted environment; not an arbitrary clean-clone replay promise or hostile same-UID process containment."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"C15",</a:t>
            </a:r>
          </a:p>
          <a:p xmlns:a="http://schemas.openxmlformats.org/drawingml/2006/main">
            <a:r>
              <a:t>      "title": "Saved verification is deterministic without new authority",</a:t>
            </a:r>
          </a:p>
          <a:p xmlns:a="http://schemas.openxmlformats.org/drawingml/2006/main">
            <a:r>
              <a:t>      "claim": "G44 Living, G44 Conformance and G45 installed supplied checks produced identical 1,151,634-byte canonical outputs.",</a:t>
            </a:r>
          </a:p>
          <a:p xmlns:a="http://schemas.openxmlformats.org/drawingml/2006/main">
            <a:r>
              <a:t>      "argument": "Equal whole-file SHA256 and the named counters support deterministic saved relationship checks without new native execution.",</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11</a:t>
            </a:r>
          </a:p>
          <a:p xmlns:a="http://schemas.openxmlformats.org/drawingml/2006/main">
            <a:r>
              <a:t>        ],</a:t>
            </a:r>
          </a:p>
          <a:p xmlns:a="http://schemas.openxmlformats.org/drawingml/2006/main">
            <a:r>
              <a:t>        "appendix": "k-verification-inventory",</a:t>
            </a:r>
          </a:p>
          <a:p xmlns:a="http://schemas.openxmlformats.org/drawingml/2006/main">
            <a:r>
              <a:t>        "reader": "C15"</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"source_snapshot/installed/hedgehog/gate4_reference_evidence_v01.py",</a:t>
            </a:r>
          </a:p>
          <a:p xmlns:a="http://schemas.openxmlformats.org/drawingml/2006/main">
            <a:r>
              <a:t>          "symbol": "verify_package_v01",</a:t>
            </a:r>
          </a:p>
          <a:p xmlns:a="http://schemas.openxmlformats.org/drawingml/2006/main">
            <a:r>
              <a:t>          "sha256": "446d191e0cb0400909289187ad7ed4f0796ca861018a82c9ac1230433492832d",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"evidence/g44/commands/0020_supplied_living_final/combined.json",</a:t>
            </a:r>
          </a:p>
          <a:p xmlns:a="http://schemas.openxmlformats.org/drawingml/2006/main">
            <a:r>
              <a:t>          "json_pointer": "",</a:t>
            </a:r>
          </a:p>
          <a:p xmlns:a="http://schemas.openxmlformats.org/drawingml/2006/main">
            <a:r>
              <a:t>          "sha256": "136b2a76da196e42923886ffc5cf47d89e51d99ec8cc6c7ac549cfaea106b4b9",</a:t>
            </a:r>
          </a:p>
          <a:p xmlns:a="http://schemas.openxmlformats.org/drawingml/2006/main">
            <a:r>
              <a:t>          "evidence_class": "RECORDED_SUPPLIED_LIVING"</a:t>
            </a:r>
          </a:p>
          <a:p xmlns:a="http://schemas.openxmlformats.org/drawingml/2006/main">
            <a:r>
              <a:t>        },</a:t>
            </a:r>
          </a:p>
          <a:p xmlns:a="http://schemas.openxmlformats.org/drawingml/2006/main">
            <a:r>
              <a:t>        {</a:t>
            </a:r>
          </a:p>
          <a:p xmlns:a="http://schemas.openxmlformats.org/drawingml/2006/main">
            <a:r>
              <a:t>          "path": "evidence/g44/commands/0021_supplied_conformance_final/combined.json",</a:t>
            </a:r>
          </a:p>
          <a:p xmlns:a="http://schemas.openxmlformats.org/drawingml/2006/main">
            <a:r>
              <a:t>          "json_pointer": "",</a:t>
            </a:r>
          </a:p>
          <a:p xmlns:a="http://schemas.openxmlformats.org/drawingml/2006/main">
            <a:r>
              <a:t>          "sha256": "136b2a76da196e42923886ffc5cf47d89e51d99ec8cc6c7ac549cfaea106b4b9",</a:t>
            </a:r>
          </a:p>
          <a:p xmlns:a="http://schemas.openxmlformats.org/drawingml/2006/main">
            <a:r>
              <a:t>          "evidence_class": "RECORDED_SUPPLIED_CONFORMANCE"</a:t>
            </a:r>
          </a:p>
          <a:p xmlns:a="http://schemas.openxmlformats.org/drawingml/2006/main">
            <a:r>
              <a:t>        },</a:t>
            </a:r>
          </a:p>
          <a:p xmlns:a="http://schemas.openxmlformats.org/drawingml/2006/main">
            <a:r>
              <a:t>        {</a:t>
            </a:r>
          </a:p>
          <a:p xmlns:a="http://schemas.openxmlformats.org/drawingml/2006/main">
            <a:r>
              <a:t>          "path": "evidence/g45/installed_supplied/combined.json",</a:t>
            </a:r>
          </a:p>
          <a:p xmlns:a="http://schemas.openxmlformats.org/drawingml/2006/main">
            <a:r>
              <a:t>          "json_pointer": "",</a:t>
            </a:r>
          </a:p>
          <a:p xmlns:a="http://schemas.openxmlformats.org/drawingml/2006/main">
            <a:r>
              <a:t>          "sha256": "136b2a76da196e42923886ffc5cf47d89e51d99ec8cc6c7ac549cfaea106b4b9",</a:t>
            </a:r>
          </a:p>
          <a:p xmlns:a="http://schemas.openxmlformats.org/drawingml/2006/main">
            <a:r>
              <a:t>          "evidence_class": "RECORDED_INSTALLED_SUPPLIED"</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"source_snapshot/installed/tests/test_gate4_reference_evidence_v01.py",</a:t>
            </a:r>
          </a:p>
          <a:p xmlns:a="http://schemas.openxmlformats.org/drawingml/2006/main">
            <a:r>
              <a:t>          "symbol": "test_g43_saved_positive_and_test_pin",</a:t>
            </a:r>
          </a:p>
          <a:p xmlns:a="http://schemas.openxmlformats.org/drawingml/2006/main">
            <a:r>
              <a:t>          "sha256": "3d983892182d9d012d733f8a19a5bd3dc5e0efeb8962371645accbf73735e5e8",</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"negative_refs": [],</a:t>
            </a:r>
          </a:p>
          <a:p xmlns:a="http://schemas.openxmlformats.org/drawingml/2006/main">
            <a:r>
              <a:t>      "consumer_refs": [],</a:t>
            </a:r>
          </a:p>
          <a:p xmlns:a="http://schemas.openxmlformats.org/drawingml/2006/main">
            <a:r>
              <a:t>      "limits": [</a:t>
            </a:r>
          </a:p>
          <a:p xmlns:a="http://schemas.openxmlformats.org/drawingml/2006/main">
            <a:r>
              <a:t>        "SAFE_DERIVED_SAVED_RELATIONSHIPS_AT_RECORDED_EVENT_TIMES; full native canonical replay is UNSUPPORTED_NATIVE_SCHEMA. Named monitoring is not OS-wide surveillance."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The saved result can be traced and checked</a:t>
            </a:r>
          </a:p>
          <a:p xmlns:a="http://schemas.openxmlformats.org/drawingml/2006/main">
            <a:r>
              <a:t>Numerical references, recorded native work and supplied verification have distinct scopes.</a:t>
            </a:r>
          </a:p>
          <a:p xmlns:a="http://schemas.openxmlformats.org/drawingml/2006/main">
            <a:r>
              <a:t>Evidence layer</a:t>
            </a:r>
          </a:p>
          <a:p xmlns:a="http://schemas.openxmlformats.org/drawingml/2006/main">
            <a:r>
              <a:t>Recorded scope</a:t>
            </a:r>
          </a:p>
          <a:p xmlns:a="http://schemas.openxmlformats.org/drawingml/2006/main">
            <a:r>
              <a:t>Result</a:t>
            </a:r>
          </a:p>
          <a:p xmlns:a="http://schemas.openxmlformats.org/drawingml/2006/main">
            <a:r>
              <a:t>G41 numerical</a:t>
            </a:r>
          </a:p>
          <a:p xmlns:a="http://schemas.openxmlformats.org/drawingml/2006/main">
            <a:r>
              <a:t>110 pure-math tests</a:t>
            </a:r>
          </a:p>
          <a:p xmlns:a="http://schemas.openxmlformats.org/drawingml/2006/main">
            <a:r>
              <a:t>Recorded reference</a:t>
            </a:r>
          </a:p>
          <a:p xmlns:a="http://schemas.openxmlformats.org/drawingml/2006/main">
            <a:r>
              <a:t>G43 native</a:t>
            </a:r>
          </a:p>
          <a:p xmlns:a="http://schemas.openxmlformats.org/drawingml/2006/main">
            <a:r>
              <a:t>3 tasks × 9 units = 27</a:t>
            </a:r>
          </a:p>
          <a:p xmlns:a="http://schemas.openxmlformats.org/drawingml/2006/main">
            <a:r>
              <a:t>Actual Work + consumption</a:t>
            </a:r>
          </a:p>
          <a:p xmlns:a="http://schemas.openxmlformats.org/drawingml/2006/main">
            <a:r>
              <a:t>G44 focused</a:t>
            </a:r>
          </a:p>
          <a:p xmlns:a="http://schemas.openxmlformats.org/drawingml/2006/main">
            <a:r>
              <a:t>33 PASS / 1 FAIL</a:t>
            </a:r>
          </a:p>
          <a:p xmlns:a="http://schemas.openxmlformats.org/drawingml/2006/main">
            <a:r>
              <a:t>Accepted mode-test limitation</a:t>
            </a:r>
          </a:p>
          <a:p xmlns:a="http://schemas.openxmlformats.org/drawingml/2006/main">
            <a:r>
              <a:t>G44 / G45 supplied</a:t>
            </a:r>
          </a:p>
          <a:p xmlns:a="http://schemas.openxmlformats.org/drawingml/2006/main">
            <a:r>
              <a:t>3 identical complete outputs</a:t>
            </a:r>
          </a:p>
          <a:p xmlns:a="http://schemas.openxmlformats.org/drawingml/2006/main">
            <a:r>
              <a:t>Saved relationships checked</a:t>
            </a:r>
          </a:p>
          <a:p xmlns:a="http://schemas.openxmlformats.org/drawingml/2006/main">
            <a:r>
              <a:t>Supplied checks require the trusted installed code and matching recorded environment.</a:t>
            </a:r>
          </a:p>
          <a:p xmlns:a="http://schemas.openxmlformats.org/drawingml/2006/main">
            <a:r>
              <a:t>Full native replay is unsupported. No new LLM or Work calls occur in the named replay scope.</a:t>
            </a:r>
          </a:p>
          <a:p xmlns:a="http://schemas.openxmlformats.org/drawingml/2006/main">
            <a:r>
              <a:t>C13 / C15   Technical evidence</a:t>
            </a:r>
          </a:p>
          <a:p xmlns:a="http://schemas.openxmlformats.org/drawingml/2006/main">
            <a:r>
              <a:t>GATE 4 REFERENCE  /  23 SEPTEMBER 2026</a:t>
            </a:r>
          </a:p>
          <a:p xmlns:a="http://schemas.openxmlformats.org/drawingml/2006/main">
            <a:r>
              <a:t>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"explanation": "Reference engineering accepted / presentation prepared. Full Gate4 H-I-J after Gate6 publication remains for separate future scope decision. Deferred unilateral regret, stability,robust/minimax,CVaR,sensitivity,full AVF catalogue,richer priors and broader calibration. LGT excluded. No delivery date or automatic work implied. Versioned main paths are staged publication targets requiring repository access. Implementation commit is pinned; no future publication commit invented.",</a:t>
            </a:r>
          </a:p>
          <a:p xmlns:a="http://schemas.openxmlformats.org/drawingml/2006/main">
            <a:r>
              <a:t>  "sources": [],</a:t>
            </a:r>
          </a:p>
          <a:p xmlns:a="http://schemas.openxmlformats.org/drawingml/2006/main">
            <a:r>
              <a:t>  "implementation_commit": "5b259441994ba41ed3467e8ffcb9ae6ee8d371f0",</a:t>
            </a:r>
          </a:p>
          <a:p xmlns:a="http://schemas.openxmlformats.org/drawingml/2006/main">
            <a:r>
              <a:t>  "claim_matrix_ref": "presentation/claim_evidence_matrix_v01.json",</a:t>
            </a:r>
          </a:p>
          <a:p xmlns:a="http://schemas.openxmlformats.org/drawingml/2006/main">
            <a:r>
              <a:t>  "claim_routes": [</a:t>
            </a:r>
          </a:p>
          <a:p xmlns:a="http://schemas.openxmlformats.org/drawingml/2006/main">
            <a:r>
              <a:t>    {</a:t>
            </a:r>
          </a:p>
          <a:p xmlns:a="http://schemas.openxmlformats.org/drawingml/2006/main">
            <a:r>
              <a:t>      "claim_id": "C01",</a:t>
            </a:r>
          </a:p>
          <a:p xmlns:a="http://schemas.openxmlformats.org/drawingml/2006/main">
            <a:r>
              <a:t>      "title": "Strategic comparison and actual bounded work",</a:t>
            </a:r>
          </a:p>
          <a:p xmlns:a="http://schemas.openxmlformats.org/drawingml/2006/main">
            <a:r>
              <a:t>      "claim": "Gate 4 Reference adds finite multi-Root strategy comparison and bounded allocation of useful native work.",</a:t>
            </a:r>
          </a:p>
          <a:p xmlns:a="http://schemas.openxmlformats.org/drawingml/2006/main">
            <a:r>
              <a:t>      "argument": "The strategy and allocation mechanisms enter actual Work results and local Root reviews, within the reduced contract.",</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a:t>
            </a:r>
          </a:p>
          <a:p xmlns:a="http://schemas.openxmlformats.org/drawingml/2006/main">
            <a:r>
              <a:t>          2,</a:t>
            </a:r>
          </a:p>
          <a:p xmlns:a="http://schemas.openxmlformats.org/drawingml/2006/main">
            <a:r>
              <a:t>          12</a:t>
            </a:r>
          </a:p>
          <a:p xmlns:a="http://schemas.openxmlformats.org/drawingml/2006/main">
            <a:r>
              <a:t>        ],</a:t>
            </a:r>
          </a:p>
          <a:p xmlns:a="http://schemas.openxmlformats.org/drawingml/2006/main">
            <a:r>
              <a:t>        "appendix": "a-result-scope-status",</a:t>
            </a:r>
          </a:p>
          <a:p xmlns:a="http://schemas.openxmlformats.org/drawingml/2006/main">
            <a:r>
              <a:t>        "reader": "C01"</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"source_snapshot/installed/docs/gate4_reference_contract_v01.md",</a:t>
            </a:r>
          </a:p>
          <a:p xmlns:a="http://schemas.openxmlformats.org/drawingml/2006/main">
            <a:r>
              <a:t>          "symbol": null,</a:t>
            </a:r>
          </a:p>
          <a:p xmlns:a="http://schemas.openxmlformats.org/drawingml/2006/main">
            <a:r>
              <a:t>          "sha256": "2de0e065adcea5df395fe8a5b62088b9c9d13ff3f91275ad993cf51b53b205ec",</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"source_snapshot/installed/hedgehog/gate4_strategy_reference_v01.py",</a:t>
            </a:r>
          </a:p>
          <a:p xmlns:a="http://schemas.openxmlformats.org/drawingml/2006/main">
            <a:r>
              <a:t>          "symbol": "evaluate_reference_strategy_v01",</a:t>
            </a:r>
          </a:p>
          <a:p xmlns:a="http://schemas.openxmlformats.org/drawingml/2006/main">
            <a:r>
              <a:t>          "sha256": "26d840964b017a508d15e8e9e039928dc9c9847aa186fb4940ea2a5b49b9de06",</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"path": "source_snapshot/installed/hedgehog/gate4_pressure_budget_v01.py",</a:t>
            </a:r>
          </a:p>
          <a:p xmlns:a="http://schemas.openxmlformats.org/drawingml/2006/main">
            <a:r>
              <a:t>          "symbol": "allocate_reference_work_budget_v01",</a:t>
            </a:r>
          </a:p>
          <a:p xmlns:a="http://schemas.openxmlformats.org/drawingml/2006/main">
            <a:r>
              <a:t>          "sha256": "768094bea0cc012046f6c1c514ccbf108e340932f86324d76c59cad0d6680d27",</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"evidence/g44/portable_publication_final/story/comparisons.json",</a:t>
            </a:r>
          </a:p>
          <a:p xmlns:a="http://schemas.openxmlformats.org/drawingml/2006/main">
            <a:r>
              <a:t>          "json_pointer": "",</a:t>
            </a:r>
          </a:p>
          <a:p xmlns:a="http://schemas.openxmlformats.org/drawingml/2006/main">
            <a:r>
              <a:t>          "sha256": "dc273a2127eb0b5116b14a48cc1c5bd2789af5fe900a2a575d5b636b9459e26e",</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a:t>
            </a:r>
          </a:p>
          <a:p xmlns:a="http://schemas.openxmlformats.org/drawingml/2006/main">
            <a:r>
              <a:t>          "path": "source_snapshot/installed/tests/test_gate4_reference_native_v01.py",</a:t>
            </a:r>
          </a:p>
          <a:p xmlns:a="http://schemas.openxmlformats.org/drawingml/2006/main">
            <a:r>
              <a:t>          "symbol": "test_native_causal_strategy_and_budget",</a:t>
            </a:r>
          </a:p>
          <a:p xmlns:a="http://schemas.openxmlformats.org/drawingml/2006/main">
            <a:r>
              <a:t>          "sha256": "1ebd9174d855ca1aa96241a948431dd38d3f7009dbb47fcc806c9807f60bfb91",</a:t>
            </a:r>
          </a:p>
          <a:p xmlns:a="http://schemas.openxmlformats.org/drawingml/2006/main">
            <a:r>
              <a:t>          "source_pin": "5b259441994ba41ed3467e8ffcb9ae6ee8d371f0",</a:t>
            </a:r>
          </a:p>
          <a:p xmlns:a="http://schemas.openxmlformats.org/drawingml/2006/main">
            <a:r>
              <a:t>          "evidence_class": "TEST_LOCATOR_RECORDED_NOT_RUN_FOR_PRESENTATION"</a:t>
            </a:r>
          </a:p>
          <a:p xmlns:a="http://schemas.openxmlformats.org/drawingml/2006/main">
            <a:r>
              <a:t>        }</a:t>
            </a:r>
          </a:p>
          <a:p xmlns:a="http://schemas.openxmlformats.org/drawingml/2006/main">
            <a:r>
              <a:t>      ],</a:t>
            </a:r>
          </a:p>
          <a:p xmlns:a="http://schemas.openxmlformats.org/drawingml/2006/main">
            <a:r>
              <a:t>      "positive_refs": [],</a:t>
            </a:r>
          </a:p>
          <a:p xmlns:a="http://schemas.openxmlformats.org/drawingml/2006/main">
            <a:r>
              <a:t>      "negative_refs": [],</a:t>
            </a:r>
          </a:p>
          <a:p xmlns:a="http://schemas.openxmlformats.org/drawingml/2006/main">
            <a:r>
              <a:t>      "consumer_refs": [</a:t>
            </a:r>
          </a:p>
          <a:p xmlns:a="http://schemas.openxmlformats.org/drawingml/2006/main">
            <a:r>
              <a:t>        {</a:t>
            </a:r>
          </a:p>
          <a:p xmlns:a="http://schemas.openxmlformats.org/drawingml/2006/main">
            <a:r>
              <a:t>          "path": "evidence/g44/portable_publication_final/story/cold/completed_work.json",</a:t>
            </a:r>
          </a:p>
          <a:p xmlns:a="http://schemas.openxmlformats.org/drawingml/2006/main">
            <a:r>
              <a:t>          "json_pointer": "/output",</a:t>
            </a:r>
          </a:p>
          <a:p xmlns:a="http://schemas.openxmlformats.org/drawingml/2006/main">
            <a:r>
              <a:t>          "sha256": "2e0195eafb44fa9ea585ca8cda19e2ca35ee43a4ae7759cd4c7c0e1f6b10bbb8",</a:t>
            </a:r>
          </a:p>
          <a:p xmlns:a="http://schemas.openxmlformats.org/drawingml/2006/main">
            <a:r>
              <a:t>          "evidence_class": "RECORDED_CONTROLLED_NATIVE"</a:t>
            </a:r>
          </a:p>
          <a:p xmlns:a="http://schemas.openxmlformats.org/drawingml/2006/main">
            <a:r>
              <a:t>        }</a:t>
            </a:r>
          </a:p>
          <a:p xmlns:a="http://schemas.openxmlformats.org/drawingml/2006/main">
            <a:r>
              <a:t>      ],</a:t>
            </a:r>
          </a:p>
          <a:p xmlns:a="http://schemas.openxmlformats.org/drawingml/2006/main">
            <a:r>
              <a:t>      "limits": [</a:t>
            </a:r>
          </a:p>
          <a:p xmlns:a="http://schemas.openxmlformats.org/drawingml/2006/main">
            <a:r>
              <a:t>        "Full H-I-J mathematics and LGT remain deferred; no new model weights or authority."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"claim_id": "C16",</a:t>
            </a:r>
          </a:p>
          <a:p xmlns:a="http://schemas.openxmlformats.org/drawingml/2006/main">
            <a:r>
              <a:t>      "title": "Installation and presentation are separate",</a:t>
            </a:r>
          </a:p>
          <a:p xmlns:a="http://schemas.openxmlformats.org/drawingml/2006/main">
            <a:r>
              <a:t>      "claim": "G45 landed the reviewed implementation at the pinned commit; presentation publication has a separate identity and review.",</a:t>
            </a:r>
          </a:p>
          <a:p xmlns:a="http://schemas.openxmlformats.org/drawingml/2006/main">
            <a:r>
              <a:t>      "argument": "The installation report and result retain actual commit/parent/tree; historical NOT_CLOSED and TEST_SUPPLIED_PIN labels remain unchanged.",</a:t>
            </a:r>
          </a:p>
          <a:p xmlns:a="http://schemas.openxmlformats.org/drawingml/2006/main">
            <a:r>
              <a:t>      "evidence_class": "ACTUAL_SOURCE_AND_RECORDED_EVIDENCE",</a:t>
            </a:r>
          </a:p>
          <a:p xmlns:a="http://schemas.openxmlformats.org/drawingml/2006/main">
            <a:r>
              <a:t>      "anchors": {</a:t>
            </a:r>
          </a:p>
          <a:p xmlns:a="http://schemas.openxmlformats.org/drawingml/2006/main">
            <a:r>
              <a:t>        "slides": [</a:t>
            </a:r>
          </a:p>
          <a:p xmlns:a="http://schemas.openxmlformats.org/drawingml/2006/main">
            <a:r>
              <a:t>          1,</a:t>
            </a:r>
          </a:p>
          <a:p xmlns:a="http://schemas.openxmlformats.org/drawingml/2006/main">
            <a:r>
              <a:t>          12</a:t>
            </a:r>
          </a:p>
          <a:p xmlns:a="http://schemas.openxmlformats.org/drawingml/2006/main">
            <a:r>
              <a:t>        ],</a:t>
            </a:r>
          </a:p>
          <a:p xmlns:a="http://schemas.openxmlformats.org/drawingml/2006/main">
            <a:r>
              <a:t>        "appendix": "a-result-scope-status",</a:t>
            </a:r>
          </a:p>
          <a:p xmlns:a="http://schemas.openxmlformats.org/drawingml/2006/main">
            <a:r>
              <a:t>        "reader": "C16"</a:t>
            </a:r>
          </a:p>
          <a:p xmlns:a="http://schemas.openxmlformats.org/drawingml/2006/main">
            <a:r>
              <a:t>      },</a:t>
            </a:r>
          </a:p>
          <a:p xmlns:a="http://schemas.openxmlformats.org/drawingml/2006/main">
            <a:r>
              <a:t>      "source_refs": [</a:t>
            </a:r>
          </a:p>
          <a:p xmlns:a="http://schemas.openxmlformats.org/drawingml/2006/main">
            <a:r>
              <a:t>        {</a:t>
            </a:r>
          </a:p>
          <a:p xmlns:a="http://schemas.openxmlformats.org/drawingml/2006/main">
            <a:r>
              <a:t>          "path": "source_snapshot/installed/docs/gate4_reference_release_checkpoint_v01.md",</a:t>
            </a:r>
          </a:p>
          <a:p xmlns:a="http://schemas.openxmlformats.org/drawingml/2006/main">
            <a:r>
              <a:t>          "symbol": null,</a:t>
            </a:r>
          </a:p>
          <a:p xmlns:a="http://schemas.openxmlformats.org/drawingml/2006/main">
            <a:r>
              <a:t>          "sha256": "5e835bceda254ea2626274cc1fe7dc26b437af89f22e33a1abdd61550785942d",</a:t>
            </a:r>
          </a:p>
          <a:p xmlns:a="http://schemas.openxmlformats.org/drawingml/2006/main">
            <a:r>
              <a:t>          "source_pin": "5b259441994ba41ed3467e8ffcb9ae6ee8d371f0",</a:t>
            </a:r>
          </a:p>
          <a:p xmlns:a="http://schemas.openxmlformats.org/drawingml/2006/main">
            <a:r>
              <a:t>          "evidence_class": "ACTUAL_INSTALLED_SOURCE"</a:t>
            </a:r>
          </a:p>
          <a:p xmlns:a="http://schemas.openxmlformats.org/drawingml/2006/main">
            <a:r>
              <a:t>        }</a:t>
            </a:r>
          </a:p>
          <a:p xmlns:a="http://schemas.openxmlformats.org/drawingml/2006/main">
            <a:r>
              <a:t>      ],</a:t>
            </a:r>
          </a:p>
          <a:p xmlns:a="http://schemas.openxmlformats.org/drawingml/2006/main">
            <a:r>
              <a:t>      "data_refs": [</a:t>
            </a:r>
          </a:p>
          <a:p xmlns:a="http://schemas.openxmlformats.org/drawingml/2006/main">
            <a:r>
              <a:t>        {</a:t>
            </a:r>
          </a:p>
          <a:p xmlns:a="http://schemas.openxmlformats.org/drawingml/2006/main">
            <a:r>
              <a:t>          "path": "evidence/g45/RESULT.json",</a:t>
            </a:r>
          </a:p>
          <a:p xmlns:a="http://schemas.openxmlformats.org/drawingml/2006/main">
            <a:r>
              <a:t>          "json_pointer": "",</a:t>
            </a:r>
          </a:p>
          <a:p xmlns:a="http://schemas.openxmlformats.org/drawingml/2006/main">
            <a:r>
              <a:t>          "sha256": "8786f2e76ba34b7650304d244ca26acfebfadbd05e03b19c5c3349c0d4037c5b",</a:t>
            </a:r>
          </a:p>
          <a:p xmlns:a="http://schemas.openxmlformats.org/drawingml/2006/main">
            <a:r>
              <a:t>          "evidence_class": "RECORDED_OWNER_LANDING"</a:t>
            </a:r>
          </a:p>
          <a:p xmlns:a="http://schemas.openxmlformats.org/drawingml/2006/main">
            <a:r>
              <a:t>        }</a:t>
            </a:r>
          </a:p>
          <a:p xmlns:a="http://schemas.openxmlformats.org/drawingml/2006/main">
            <a:r>
              <a:t>      ],</a:t>
            </a:r>
          </a:p>
          <a:p xmlns:a="http://schemas.openxmlformats.org/drawingml/2006/main">
            <a:r>
              <a:t>      "test_refs": [],</a:t>
            </a:r>
          </a:p>
          <a:p xmlns:a="http://schemas.openxmlformats.org/drawingml/2006/main">
            <a:r>
              <a:t>      "positive_refs": [],</a:t>
            </a:r>
          </a:p>
          <a:p xmlns:a="http://schemas.openxmlformats.org/drawingml/2006/main">
            <a:r>
              <a:t>      "negative_refs": [],</a:t>
            </a:r>
          </a:p>
          <a:p xmlns:a="http://schemas.openxmlformats.org/drawingml/2006/main">
            <a:r>
              <a:t>      "consumer_refs": [],</a:t>
            </a:r>
          </a:p>
          <a:p xmlns:a="http://schemas.openxmlformats.org/drawingml/2006/main">
            <a:r>
              <a:t>      "limits": [</a:t>
            </a:r>
          </a:p>
          <a:p xmlns:a="http://schemas.openxmlformats.org/drawingml/2006/main">
            <a:r>
              <a:t>        "Unsigned Git commit is not an external audit signature. No future publication hash is invented."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Visible slide content:</a:t>
            </a:r>
          </a:p>
          <a:p xmlns:a="http://schemas.openxmlformats.org/drawingml/2006/main">
            <a:r>
              <a:t>Reference accepted, deeper mathematics deferred</a:t>
            </a:r>
          </a:p>
          <a:p xmlns:a="http://schemas.openxmlformats.org/drawingml/2006/main">
            <a:r>
              <a:t>Preferences change the prepared offer. Experience changes work allocation.</a:t>
            </a:r>
          </a:p>
          <a:p xmlns:a="http://schemas.openxmlformats.org/drawingml/2006/main">
            <a:r>
              <a:t>ACCEPTED REFERENCE</a:t>
            </a:r>
          </a:p>
          <a:p xmlns:a="http://schemas.openxmlformats.org/drawingml/2006/main">
            <a:r>
              <a:t>Finite multi-Root comparison</a:t>
            </a:r>
          </a:p>
          <a:p xmlns:a="http://schemas.openxmlformats.org/drawingml/2006/main">
            <a:r>
              <a:t>Bounded allocation of actual Work</a:t>
            </a:r>
          </a:p>
          <a:p xmlns:a="http://schemas.openxmlformats.org/drawingml/2006/main">
            <a:r>
              <a:t>Independent owner decisions</a:t>
            </a:r>
          </a:p>
          <a:p xmlns:a="http://schemas.openxmlformats.org/drawingml/2006/main">
            <a:r>
              <a:t>DEFERRED PROGRAMME</a:t>
            </a:r>
          </a:p>
          <a:p xmlns:a="http://schemas.openxmlformats.org/drawingml/2006/main">
            <a:r>
              <a:t>Full H-I-J after Gate 6 publication</a:t>
            </a:r>
          </a:p>
          <a:p xmlns:a="http://schemas.openxmlformats.org/drawingml/2006/main">
            <a:r>
              <a:t>Separate future scope decision</a:t>
            </a:r>
          </a:p>
          <a:p xmlns:a="http://schemas.openxmlformats.org/drawingml/2006/main">
            <a:r>
              <a:t>LGT excluded</a:t>
            </a:r>
          </a:p>
          <a:p xmlns:a="http://schemas.openxmlformats.org/drawingml/2006/main">
            <a:r>
              <a:t>Reference engineering accepted / presentation prepared</a:t>
            </a:r>
          </a:p>
          <a:p xmlns:a="http://schemas.openxmlformats.org/drawingml/2006/main">
            <a:r>
              <a:t>Technical appendix</a:t>
            </a:r>
          </a:p>
          <a:p xmlns:a="http://schemas.openxmlformats.org/drawingml/2006/main">
            <a:r>
              <a:t>XML Reader</a:t>
            </a:r>
          </a:p>
          <a:p xmlns:a="http://schemas.openxmlformats.org/drawingml/2006/main">
            <a:r>
              <a:t>Reader index</a:t>
            </a:r>
          </a:p>
          <a:p xmlns:a="http://schemas.openxmlformats.org/drawingml/2006/main">
            <a:r>
              <a:t>Pinned implementation</a:t>
            </a:r>
          </a:p>
          <a:p xmlns:a="http://schemas.openxmlformats.org/drawingml/2006/main">
            <a:r>
              <a:t>Verification guide</a:t>
            </a:r>
          </a:p>
          <a:p xmlns:a="http://schemas.openxmlformats.org/drawingml/2006/main">
            <a:r>
              <a:t>Repository access required. Document links are staged publication targets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ea8bea34664f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d5fb645eef4b5a" /><Relationship Type="http://schemas.openxmlformats.org/officeDocument/2006/relationships/slideLayout" Target="/ppt/slideLayouts/slideLayout1.xml" Id="R05c5db8e785444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c5db8e785444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a21ba6428a3f406d" /><ns0:Relationship Type="http://schemas.openxmlformats.org/officeDocument/2006/relationships/image" Target="/ppt/media/image.png" Id="Rb6be4aa47c4844ac" /><ns0:Relationship Type="http://schemas.openxmlformats.org/officeDocument/2006/relationships/notesSlide" Target="/ppt/notesSlides/notesSlide1.xml" Id="R5af48286c1514a30"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e49c079d917345c8" /><ns0:Relationship Type="http://schemas.openxmlformats.org/officeDocument/2006/relationships/notesSlide" Target="/ppt/notesSlides/notesSlide2.xml" Id="R334a4a105afb4f02" /><ns0:Relationship Id="rIdG4Link1" Type="http://schemas.openxmlformats.org/officeDocument/2006/relationships/hyperlink" Target="https://github.com/AAkhtanin/hedgehog-os/blob/main/docs/showcase/gate4_reference_v01/technical_appendix_v01.pdf"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d2182d81286c4bf9" /><ns0:Relationship Type="http://schemas.openxmlformats.org/officeDocument/2006/relationships/notesSlide" Target="/ppt/notesSlides/notesSlide3.xml" Id="Rd494d45dbe064493" /><ns0:Relationship Id="rIdG4Link1" Type="http://schemas.openxmlformats.org/officeDocument/2006/relationships/hyperlink" Target="https://github.com/AAkhtanin/hedgehog-os/blob/main/docs/showcase/gate4_reference_v01/technical_appendix_v01.pdf"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8c68db06000f45fc" /><ns0:Relationship Type="http://schemas.openxmlformats.org/officeDocument/2006/relationships/notesSlide" Target="/ppt/notesSlides/notesSlide4.xml" Id="Re36ee092e3874c91" /><ns0:Relationship Id="rIdG4Link1" Type="http://schemas.openxmlformats.org/officeDocument/2006/relationships/hyperlink" Target="https://github.com/AAkhtanin/hedgehog-os/blob/main/docs/showcase/gate4_reference_v01/technical_appendix_v01.pdf"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007402fbe8d24073" /><ns0:Relationship Type="http://schemas.openxmlformats.org/officeDocument/2006/relationships/notesSlide" Target="/ppt/notesSlides/notesSlide5.xml" Id="Rb6e800af9748429a" /><ns0:Relationship Id="rIdG4Link1" Type="http://schemas.openxmlformats.org/officeDocument/2006/relationships/hyperlink" Target="https://github.com/AAkhtanin/hedgehog-os/blob/main/docs/showcase/gate4_reference_v01/technical_appendix_v01.pdf"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f5d77f7360404c45" /><ns0:Relationship Type="http://schemas.openxmlformats.org/officeDocument/2006/relationships/notesSlide" Target="/ppt/notesSlides/notesSlide6.xml" Id="Rd45cb8e35255410c" /><ns0:Relationship Id="rIdG4Link1" Type="http://schemas.openxmlformats.org/officeDocument/2006/relationships/hyperlink" Target="https://github.com/AAkhtanin/hedgehog-os/blob/main/docs/showcase/gate4_reference_v01/technical_appendix_v01.pdf"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62f9863af0a14e1f" /><ns0:Relationship Type="http://schemas.openxmlformats.org/officeDocument/2006/relationships/notesSlide" Target="/ppt/notesSlides/notesSlide7.xml" Id="Rd2c347e3498347be" /><ns0:Relationship Id="rIdG4Link1" Type="http://schemas.openxmlformats.org/officeDocument/2006/relationships/hyperlink" Target="https://github.com/AAkhtanin/hedgehog-os/blob/main/docs/showcase/gate4_reference_v01/technical_appendix_v01.pdf"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52e5e795909846cd" /><ns0:Relationship Type="http://schemas.openxmlformats.org/officeDocument/2006/relationships/notesSlide" Target="/ppt/notesSlides/notesSlide8.xml" Id="Rb401a52e29c641d6" /><ns0:Relationship Id="rIdG4Link1" Type="http://schemas.openxmlformats.org/officeDocument/2006/relationships/hyperlink" Target="https://github.com/AAkhtanin/hedgehog-os/blob/main/docs/showcase/gate4_reference_v01/technical_appendix_v01.pdf"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45bb3b9ff4bf402e" /><ns0:Relationship Type="http://schemas.openxmlformats.org/officeDocument/2006/relationships/notesSlide" Target="/ppt/notesSlides/notesSlide9.xml" Id="R3c179a32e8c34268" /><ns0:Relationship Id="rIdG4Link1" Type="http://schemas.openxmlformats.org/officeDocument/2006/relationships/hyperlink" Target="https://github.com/AAkhtanin/hedgehog-os/blob/main/docs/showcase/gate4_reference_v01/technical_appendix_v01.pdf"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7b2af45bcef24f69" /><ns0:Relationship Type="http://schemas.openxmlformats.org/officeDocument/2006/relationships/notesSlide" Target="/ppt/notesSlides/notesSlide10.xml" Id="R7db1de35c1ee467b" /><ns0:Relationship Id="rIdG4Link1" Type="http://schemas.openxmlformats.org/officeDocument/2006/relationships/hyperlink" Target="https://github.com/AAkhtanin/hedgehog-os/blob/main/docs/showcase/gate4_reference_v01/technical_appendix_v01.pdf"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baa3e3068b58435f" /><ns0:Relationship Type="http://schemas.openxmlformats.org/officeDocument/2006/relationships/notesSlide" Target="/ppt/notesSlides/notesSlide11.xml" Id="Re320730f97c843f6" /><ns0:Relationship Id="rIdG4Link1" Type="http://schemas.openxmlformats.org/officeDocument/2006/relationships/hyperlink" Target="https://github.com/AAkhtanin/hedgehog-os/blob/main/docs/showcase/gate4_reference_v01/technical_appendix_v01.pdf"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cc9d7cb8ae2b4ee4" /><ns0:Relationship Type="http://schemas.openxmlformats.org/officeDocument/2006/relationships/notesSlide" Target="/ppt/notesSlides/notesSlide12.xml" Id="R40f6363db8764a2a" /><ns0:Relationship Id="rIdG4Link1" Type="http://schemas.openxmlformats.org/officeDocument/2006/relationships/hyperlink" Target="https://github.com/AAkhtanin/hedgehog-os/blob/main/docs/showcase/gate4_reference_v01/technical_appendix_v01.pdf" TargetMode="External" /><ns0:Relationship Id="rIdG4Link2" Type="http://schemas.openxmlformats.org/officeDocument/2006/relationships/hyperlink" Target="https://github.com/AAkhtanin/hedgehog-os/blob/main/docs/showcase/gate4_reference_v01/LLM_READER_GATE4_REFERENCE_V01.xml" TargetMode="External" /><ns0:Relationship Id="rIdG4Link3" Type="http://schemas.openxmlformats.org/officeDocument/2006/relationships/hyperlink" Target="https://github.com/AAkhtanin/hedgehog-os/blob/main/docs/showcase/gate4_reference_v01/READER_INDEX.json" TargetMode="External" /><ns0:Relationship Id="rIdG4Link4" Type="http://schemas.openxmlformats.org/officeDocument/2006/relationships/hyperlink" Target="https://github.com/AAkhtanin/hedgehog-os/tree/5b259441994ba41ed3467e8ffcb9ae6ee8d371f0" TargetMode="External" /><ns0:Relationship Id="rIdG4Link5" Type="http://schemas.openxmlformats.org/officeDocument/2006/relationships/hyperlink" Target="https://github.com/AAkhtanin/hedgehog-os/blob/main/docs/showcase/gate4_reference_v01/README.md" TargetMode="External"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6" name=""/>
          <p:cNvPicPr>
            <a:picLocks noChangeAspect="1"/>
          </p:cNvPicPr>
          <p:nvPr/>
        </p:nvPicPr>
        <p:blipFill>
          <a:blip r:embed="Rb6be4aa47c4844ac"/>
          <a:stretch/>
        </p:blipFill>
        <p:spPr>
          <a:xfrm>
            <a:off x="3239" y="0"/>
            <a:ext cx="12185522" cy="6858000"/>
          </a:xfrm>
          <a:prstGeom prst="rect">
            <a:avLst/>
          </a:prstGeom>
        </p:spPr>
      </p:pic>
      <p:sp>
        <p:nvSpPr>
          <p:cNvPr id="2" name="text-1-0">
            <a:extLst>
              <a:ext uri="{FF2B5EF4-FFF2-40B4-BE49-F238E27FC236}">
                <ns3:creationId id="{81305994-30BA-4040-BDA4-A5823B084209}"/>
              </a:ext>
            </a:extLst>
          </p:cNvPr>
          <p:cNvSpPr>
            <a:spLocks noGrp="1"/>
          </p:cNvSpPr>
          <p:nvPr/>
        </p:nvSpPr>
        <p:spPr>
          <a:xfrm>
            <a:off x="704850" y="666750"/>
            <a:ext cx="5429250" cy="400050"/>
          </a:xfrm>
          <a:prstGeom prst="rect">
            <a:avLst/>
          </a:prstGeom>
          <a:noFill/>
          <a:ln w="0">
            <a:noFill/>
          </a:ln>
        </p:spPr>
        <p:txBody>
          <a:bodyPr anchor="t" lIns="0" rIns="0" tIns="0" bIns="0">
            <a:noAutofit/>
          </a:bodyPr>
          <a:lstStyle/>
          <a:p>
            <a:pPr algn="l">
              <a:defRPr sz="1800" b="1">
                <a:solidFill>
                  <a:srgbClr val="0071E3"/>
                </a:solidFill>
                <a:latin typeface="Inter"/>
                <a:ea typeface="Inter"/>
                <a:cs typeface="Inter"/>
              </a:defRPr>
            </a:pPr>
            <a:r>
              <a:rPr sz="1800" b="1">
                <a:solidFill>
                  <a:srgbClr val="0071E3"/>
                </a:solidFill>
                <a:latin typeface="Inter"/>
                <a:ea typeface="Inter"/>
                <a:cs typeface="Inter"/>
              </a:rPr>
              <a:t>RADIOLARIA OS</a:t>
            </a:r>
          </a:p>
        </p:txBody>
      </p:sp>
      <p:sp>
        <p:nvSpPr>
          <p:cNvPr id="3" name="text-1-1">
            <a:extLst>
              <a:ext uri="{FF2B5EF4-FFF2-40B4-BE49-F238E27FC236}">
                <ns3:creationId id="{A7BD5FFC-F34A-4540-B218-B36915DF1F13}"/>
              </a:ext>
            </a:extLst>
          </p:cNvPr>
          <p:cNvSpPr>
            <a:spLocks noGrp="1"/>
          </p:cNvSpPr>
          <p:nvPr/>
        </p:nvSpPr>
        <p:spPr>
          <a:xfrm>
            <a:off x="657225" y="1790700"/>
            <a:ext cx="5410200" cy="1704975"/>
          </a:xfrm>
          <a:prstGeom prst="rect">
            <a:avLst/>
          </a:prstGeom>
          <a:noFill/>
          <a:ln w="0">
            <a:noFill/>
          </a:ln>
        </p:spPr>
        <p:txBody>
          <a:bodyPr anchor="t" lIns="0" rIns="0" tIns="0" bIns="0">
            <a:noAutofit/>
          </a:bodyPr>
          <a:lstStyle/>
          <a:p>
            <a:pPr algn="l">
              <a:defRPr sz="4800" b="1">
                <a:solidFill>
                  <a:srgbClr val="1D1D1F"/>
                </a:solidFill>
                <a:latin typeface="Inter"/>
                <a:ea typeface="Inter"/>
                <a:cs typeface="Inter"/>
              </a:defRPr>
            </a:pPr>
            <a:r>
              <a:rPr sz="4800" b="1">
                <a:solidFill>
                  <a:srgbClr val="1D1D1F"/>
                </a:solidFill>
                <a:latin typeface="Inter"/>
                <a:ea typeface="Inter"/>
                <a:cs typeface="Inter"/>
              </a:rPr>
              <a:t>Gate 4</a:t>
            </a:r>
          </a:p>
          <a:p>
            <a:pPr algn="l">
              <a:defRPr sz="4800" b="1">
                <a:solidFill>
                  <a:srgbClr val="1D1D1F"/>
                </a:solidFill>
                <a:latin typeface="Inter"/>
                <a:ea typeface="Inter"/>
                <a:cs typeface="Inter"/>
              </a:defRPr>
            </a:pPr>
            <a:r>
              <a:rPr sz="4800" b="1">
                <a:solidFill>
                  <a:srgbClr val="1D1D1F"/>
                </a:solidFill>
                <a:latin typeface="Inter"/>
                <a:ea typeface="Inter"/>
                <a:cs typeface="Inter"/>
              </a:rPr>
              <a:t>Reference</a:t>
            </a:r>
          </a:p>
        </p:txBody>
      </p:sp>
      <p:sp>
        <p:nvSpPr>
          <p:cNvPr id="4" name="text-1-2">
            <a:extLst>
              <a:ext uri="{FF2B5EF4-FFF2-40B4-BE49-F238E27FC236}">
                <ns3:creationId id="{8746108C-22A7-46A2-949F-B8A51B066F0E}"/>
              </a:ext>
            </a:extLst>
          </p:cNvPr>
          <p:cNvSpPr>
            <a:spLocks noGrp="1"/>
          </p:cNvSpPr>
          <p:nvPr/>
        </p:nvSpPr>
        <p:spPr>
          <a:xfrm>
            <a:off x="714375" y="3952875"/>
            <a:ext cx="5076825" cy="1371600"/>
          </a:xfrm>
          <a:prstGeom prst="rect">
            <a:avLst/>
          </a:prstGeom>
          <a:noFill/>
          <a:ln w="0">
            <a:noFill/>
          </a:ln>
        </p:spPr>
        <p:txBody>
          <a:bodyPr anchor="t" lIns="0" rIns="0" tIns="0" bIns="0">
            <a:noAutofit/>
          </a:bodyPr>
          <a:lstStyle/>
          <a:p>
            <a:pPr algn="l">
              <a:defRPr sz="2475" b="1">
                <a:solidFill>
                  <a:srgbClr val="1D1D1F"/>
                </a:solidFill>
                <a:latin typeface="Inter"/>
                <a:ea typeface="Inter"/>
                <a:cs typeface="Inter"/>
              </a:defRPr>
            </a:pPr>
            <a:r>
              <a:rPr sz="2475" b="1">
                <a:solidFill>
                  <a:srgbClr val="1D1D1F"/>
                </a:solidFill>
                <a:latin typeface="Inter"/>
                <a:ea typeface="Inter"/>
                <a:cs typeface="Inter"/>
              </a:rPr>
              <a:t>Explicit trade-offs</a:t>
            </a:r>
          </a:p>
          <a:p>
            <a:pPr algn="l">
              <a:defRPr sz="2475" b="1">
                <a:solidFill>
                  <a:srgbClr val="1D1D1F"/>
                </a:solidFill>
                <a:latin typeface="Inter"/>
                <a:ea typeface="Inter"/>
                <a:cs typeface="Inter"/>
              </a:defRPr>
            </a:pPr>
            <a:r>
              <a:rPr sz="2475" b="1">
                <a:solidFill>
                  <a:srgbClr val="1D1D1F"/>
                </a:solidFill>
                <a:latin typeface="Inter"/>
                <a:ea typeface="Inter"/>
                <a:cs typeface="Inter"/>
              </a:rPr>
              <a:t>Bounded work</a:t>
            </a:r>
          </a:p>
          <a:p>
            <a:pPr algn="l">
              <a:defRPr sz="2475" b="1">
                <a:solidFill>
                  <a:srgbClr val="1D1D1F"/>
                </a:solidFill>
                <a:latin typeface="Inter"/>
                <a:ea typeface="Inter"/>
                <a:cs typeface="Inter"/>
              </a:defRPr>
            </a:pPr>
            <a:r>
              <a:rPr sz="2475" b="1">
                <a:solidFill>
                  <a:srgbClr val="1D1D1F"/>
                </a:solidFill>
                <a:latin typeface="Inter"/>
                <a:ea typeface="Inter"/>
                <a:cs typeface="Inter"/>
              </a:rPr>
              <a:t>Independent owners</a:t>
            </a:r>
          </a:p>
        </p:txBody>
      </p:sp>
      <p:sp>
        <p:nvSpPr>
          <p:cNvPr id="5" name="text-1-3">
            <a:extLst>
              <a:ext uri="{FF2B5EF4-FFF2-40B4-BE49-F238E27FC236}">
                <ns3:creationId id="{FF75A505-EC70-4DEE-9F50-5B5E8EA1C20E}"/>
              </a:ext>
            </a:extLst>
          </p:cNvPr>
          <p:cNvSpPr>
            <a:spLocks noGrp="1"/>
          </p:cNvSpPr>
          <p:nvPr/>
        </p:nvSpPr>
        <p:spPr>
          <a:xfrm>
            <a:off x="714375" y="5943600"/>
            <a:ext cx="5610225" cy="581025"/>
          </a:xfrm>
          <a:prstGeom prst="rect">
            <a:avLst/>
          </a:prstGeom>
          <a:noFill/>
          <a:ln w="0">
            <a:noFill/>
          </a:ln>
        </p:spPr>
        <p:txBody>
          <a:bodyPr anchor="t" lIns="0" rIns="0" tIns="0" bIns="0">
            <a:noAutofit/>
          </a:bodyPr>
          <a:lstStyle/>
          <a:p>
            <a:pPr algn="l">
              <a:defRPr sz="1500" b="0">
                <a:solidFill>
                  <a:srgbClr val="6E6E73"/>
                </a:solidFill>
                <a:latin typeface="Inter"/>
                <a:ea typeface="Inter"/>
                <a:cs typeface="Inter"/>
              </a:defRPr>
            </a:pPr>
            <a:r>
              <a:rPr sz="1500" b="0">
                <a:solidFill>
                  <a:srgbClr val="6E6E73"/>
                </a:solidFill>
                <a:latin typeface="Inter"/>
                <a:ea typeface="Inter"/>
                <a:cs typeface="Inter"/>
              </a:rPr>
              <a:t>Owner-approved reduced scope</a:t>
            </a:r>
          </a:p>
          <a:p>
            <a:pPr algn="l">
              <a:defRPr sz="1500" b="0">
                <a:solidFill>
                  <a:srgbClr val="6E6E73"/>
                </a:solidFill>
                <a:latin typeface="Inter"/>
                <a:ea typeface="Inter"/>
                <a:cs typeface="Inter"/>
              </a:defRPr>
            </a:pPr>
            <a:r>
              <a:rPr sz="1500" b="0">
                <a:solidFill>
                  <a:srgbClr val="6E6E73"/>
                </a:solidFill>
                <a:latin typeface="Inter"/>
                <a:ea typeface="Inter"/>
                <a:cs typeface="Inter"/>
              </a:rPr>
              <a:t>23 September 2026  /  Implementation 5b25944</a:t>
            </a:r>
          </a:p>
        </p:txBody>
      </p:sp>
    </p:spTree>
    <p:extLst>
      <p:ext uri="{BB962C8B-B14F-4D97-AF65-F5344CB8AC3E}">
        <ns4:creationId val="1420502923"/>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7" name="text-2-4">
            <a:extLst>
              <a:ext uri="{FF2B5EF4-FFF2-40B4-BE49-F238E27FC236}">
                <ns2:creationId id="{165D5B1D-3445-4DF6-ACFE-BBBF286FB811}"/>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Mathematics participates in the operating architecture</a:t>
            </a:r>
          </a:p>
        </p:txBody>
      </p:sp>
      <p:sp>
        <p:nvSpPr>
          <p:cNvPr id="2" name="text-2-5">
            <a:extLst>
              <a:ext uri="{FF2B5EF4-FFF2-40B4-BE49-F238E27FC236}">
                <ns2:creationId id="{3D29AD32-792D-4916-BD1F-EABB0B27FF0E}"/>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G4 compares interests and allocates finite local Work. Each Root retains its decision.</a:t>
            </a:r>
          </a:p>
        </p:txBody>
      </p:sp>
      <p:sp>
        <p:nvSpPr>
          <p:cNvPr id="3" name="">
            <a:extLst>
              <a:ext uri="{FF2B5EF4-FFF2-40B4-BE49-F238E27FC236}">
                <ns2:creationId id="{B8F6925E-FED0-49FF-8F5E-447F2972D46D}"/>
              </a:ext>
            </a:extLst>
          </p:cNvPr>
          <p:cNvSpPr>
            <a:spLocks noGrp="1"/>
          </p:cNvSpPr>
          <p:nvPr/>
        </p:nvSpPr>
        <p:spPr>
          <a:xfrm>
            <a:off x="704850" y="2733675"/>
            <a:ext cx="2714625" cy="990600"/>
          </a:xfrm>
          <a:prstGeom prst="rect">
            <a:avLst/>
          </a:prstGeom>
          <a:solidFill>
            <a:srgbClr val="FFFFFF"/>
          </a:solidFill>
          <a:ln w="13335">
            <a:solidFill>
              <a:srgbClr val="1D1D1F"/>
            </a:solidFill>
          </a:ln>
        </p:spPr>
      </p:sp>
      <p:sp>
        <p:nvSpPr>
          <p:cNvPr id="4" name="text-2-6">
            <a:extLst>
              <a:ext uri="{FF2B5EF4-FFF2-40B4-BE49-F238E27FC236}">
                <ns2:creationId id="{75C0467F-F064-4552-9702-3E0D52139E1C}"/>
              </a:ext>
            </a:extLst>
          </p:cNvPr>
          <p:cNvSpPr>
            <a:spLocks noGrp="1"/>
          </p:cNvSpPr>
          <p:nvPr/>
        </p:nvSpPr>
        <p:spPr>
          <a:xfrm>
            <a:off x="857250" y="2886075"/>
            <a:ext cx="2409825" cy="800100"/>
          </a:xfrm>
          <a:prstGeom prst="rect">
            <a:avLst/>
          </a:prstGeom>
          <a:noFill/>
          <a:ln w="0">
            <a:noFill/>
          </a:ln>
        </p:spPr>
        <p:txBody>
          <a:bodyPr anchor="t" lIns="0" rIns="0" tIns="0" bIns="0">
            <a:noAutofit/>
          </a:bodyPr>
          <a:lstStyle/>
          <a:p>
            <a:pPr algn="ctr">
              <a:defRPr sz="2025" b="1">
                <a:solidFill>
                  <a:srgbClr val="1D1D1F"/>
                </a:solidFill>
                <a:latin typeface="Inter"/>
                <a:ea typeface="Inter"/>
                <a:cs typeface="Inter"/>
              </a:defRPr>
            </a:pPr>
            <a:r>
              <a:rPr sz="2025" b="1">
                <a:solidFill>
                  <a:srgbClr val="1D1D1F"/>
                </a:solidFill>
                <a:latin typeface="Inter"/>
                <a:ea typeface="Inter"/>
                <a:cs typeface="Inter"/>
              </a:rPr>
              <a:t>Intent + bounded</a:t>
            </a:r>
          </a:p>
          <a:p>
            <a:pPr algn="ctr">
              <a:defRPr sz="2025" b="1">
                <a:solidFill>
                  <a:srgbClr val="1D1D1F"/>
                </a:solidFill>
                <a:latin typeface="Inter"/>
                <a:ea typeface="Inter"/>
                <a:cs typeface="Inter"/>
              </a:defRPr>
            </a:pPr>
            <a:r>
              <a:rPr sz="2025" b="1">
                <a:solidFill>
                  <a:srgbClr val="1D1D1F"/>
                </a:solidFill>
                <a:latin typeface="Inter"/>
                <a:ea typeface="Inter"/>
                <a:cs typeface="Inter"/>
              </a:rPr>
              <a:t>semantic inputs</a:t>
            </a:r>
          </a:p>
        </p:txBody>
      </p:sp>
      <p:sp>
        <p:nvSpPr>
          <p:cNvPr id="5" name="">
            <a:extLst>
              <a:ext uri="{FF2B5EF4-FFF2-40B4-BE49-F238E27FC236}">
                <ns2:creationId id="{D60BB02F-682D-413E-BE8F-6004956A1A20}"/>
              </a:ext>
            </a:extLst>
          </p:cNvPr>
          <p:cNvSpPr>
            <a:spLocks noGrp="1"/>
          </p:cNvSpPr>
          <p:nvPr/>
        </p:nvSpPr>
        <p:spPr>
          <a:xfrm>
            <a:off x="4048125" y="2733675"/>
            <a:ext cx="3467100" cy="990600"/>
          </a:xfrm>
          <a:prstGeom prst="rect">
            <a:avLst/>
          </a:prstGeom>
          <a:solidFill>
            <a:srgbClr val="FFFFFF"/>
          </a:solidFill>
          <a:ln w="13335">
            <a:solidFill>
              <a:srgbClr val="1D1D1F"/>
            </a:solidFill>
          </a:ln>
        </p:spPr>
      </p:sp>
      <p:sp>
        <p:nvSpPr>
          <p:cNvPr id="6" name="text-2-7">
            <a:extLst>
              <a:ext uri="{FF2B5EF4-FFF2-40B4-BE49-F238E27FC236}">
                <ns2:creationId id="{C049E87C-7FFE-4A19-92BC-121E54841424}"/>
              </a:ext>
            </a:extLst>
          </p:cNvPr>
          <p:cNvSpPr>
            <a:spLocks noGrp="1"/>
          </p:cNvSpPr>
          <p:nvPr/>
        </p:nvSpPr>
        <p:spPr>
          <a:xfrm>
            <a:off x="4200525" y="2886075"/>
            <a:ext cx="3162300" cy="800100"/>
          </a:xfrm>
          <a:prstGeom prst="rect">
            <a:avLst/>
          </a:prstGeom>
          <a:noFill/>
          <a:ln w="0">
            <a:noFill/>
          </a:ln>
        </p:spPr>
        <p:txBody>
          <a:bodyPr anchor="t" lIns="0" rIns="0" tIns="0" bIns="0">
            <a:noAutofit/>
          </a:bodyPr>
          <a:lstStyle/>
          <a:p>
            <a:pPr algn="ctr">
              <a:defRPr sz="2100" b="1">
                <a:solidFill>
                  <a:srgbClr val="1D1D1F"/>
                </a:solidFill>
                <a:latin typeface="Inter"/>
                <a:ea typeface="Inter"/>
                <a:cs typeface="Inter"/>
              </a:defRPr>
            </a:pPr>
            <a:r>
              <a:rPr sz="2100" b="1">
                <a:solidFill>
                  <a:srgbClr val="1D1D1F"/>
                </a:solidFill>
                <a:latin typeface="Inter"/>
                <a:ea typeface="Inter"/>
                <a:cs typeface="Inter"/>
              </a:rPr>
              <a:t>Runtime-owned Work</a:t>
            </a:r>
          </a:p>
          <a:p>
            <a:pPr algn="ctr">
              <a:defRPr sz="2100" b="1">
                <a:solidFill>
                  <a:srgbClr val="1D1D1F"/>
                </a:solidFill>
                <a:latin typeface="Inter"/>
                <a:ea typeface="Inter"/>
                <a:cs typeface="Inter"/>
              </a:defRPr>
            </a:pPr>
            <a:r>
              <a:rPr sz="2100" b="1">
                <a:solidFill>
                  <a:srgbClr val="1D1D1F"/>
                </a:solidFill>
                <a:latin typeface="Inter"/>
                <a:ea typeface="Inter"/>
                <a:cs typeface="Inter"/>
              </a:rPr>
              <a:t>One local task budget</a:t>
            </a:r>
          </a:p>
        </p:txBody>
      </p:sp>
      <p:cxnSp>
        <p:nvCxnSpPr>
          <p:cNvPr id="33" name=""/>
          <p:cNvCxnSpPr>
            <a:stCxn id="3" idx="3"/>
            <a:endCxn id="5" idx="1"/>
          </p:cNvCxnSpPr>
          <p:nvPr/>
        </p:nvCxnSpPr>
        <p:spPr>
          <a:xfrm>
            <a:off x="3419475" y="3228975"/>
            <a:ext cx="628650" cy="0"/>
          </a:xfrm>
          <a:prstGeom prst="straightConnector1">
            <a:avLst/>
          </a:prstGeom>
          <a:ln w="17145">
            <a:solidFill>
              <a:srgbClr val="6E6E73"/>
            </a:solidFill>
            <a:prstDash val="dash"/>
            <a:tailEnd type="arrow" w="med" len="med"/>
          </a:ln>
        </p:spPr>
      </p:cxnSp>
      <p:sp>
        <p:nvSpPr>
          <p:cNvPr id="8" name="text-2-8">
            <a:extLst>
              <a:ext uri="{FF2B5EF4-FFF2-40B4-BE49-F238E27FC236}">
                <ns2:creationId id="{B0923FC9-DC70-4E0A-B236-B4DFE912DEFE}"/>
              </a:ext>
            </a:extLst>
          </p:cNvPr>
          <p:cNvSpPr>
            <a:spLocks noGrp="1"/>
          </p:cNvSpPr>
          <p:nvPr/>
        </p:nvSpPr>
        <p:spPr>
          <a:xfrm>
            <a:off x="4086225" y="4219575"/>
            <a:ext cx="1047750" cy="381000"/>
          </a:xfrm>
          <a:prstGeom prst="rect">
            <a:avLst/>
          </a:prstGeom>
          <a:noFill/>
          <a:ln w="0">
            <a:noFill/>
          </a:ln>
        </p:spPr>
        <p:txBody>
          <a:bodyPr anchor="t" lIns="0" rIns="0" tIns="0" bIns="0">
            <a:noAutofit/>
          </a:bodyPr>
          <a:lstStyle/>
          <a:p>
            <a:pPr algn="l">
              <a:defRPr sz="1800" b="1">
                <a:solidFill>
                  <a:srgbClr val="0071E3"/>
                </a:solidFill>
                <a:latin typeface="Inter"/>
                <a:ea typeface="Inter"/>
                <a:cs typeface="Inter"/>
              </a:defRPr>
            </a:pPr>
            <a:r>
              <a:rPr sz="1800" b="1">
                <a:solidFill>
                  <a:srgbClr val="0071E3"/>
                </a:solidFill>
                <a:latin typeface="Inter"/>
                <a:ea typeface="Inter"/>
                <a:cs typeface="Inter"/>
              </a:rPr>
              <a:t>G4</a:t>
            </a:r>
          </a:p>
        </p:txBody>
      </p:sp>
      <p:sp>
        <p:nvSpPr>
          <p:cNvPr id="9" name="text-2-9">
            <a:extLst>
              <a:ext uri="{FF2B5EF4-FFF2-40B4-BE49-F238E27FC236}">
                <ns2:creationId id="{9F1A2B40-BF35-4AF0-96CB-FC4B0AB3DB08}"/>
              </a:ext>
            </a:extLst>
          </p:cNvPr>
          <p:cNvSpPr>
            <a:spLocks noGrp="1"/>
          </p:cNvSpPr>
          <p:nvPr/>
        </p:nvSpPr>
        <p:spPr>
          <a:xfrm>
            <a:off x="4086225" y="4619625"/>
            <a:ext cx="3619500" cy="847725"/>
          </a:xfrm>
          <a:prstGeom prst="rect">
            <a:avLst/>
          </a:prstGeom>
          <a:noFill/>
          <a:ln w="0">
            <a:noFill/>
          </a:ln>
        </p:spPr>
        <p:txBody>
          <a:bodyPr anchor="t" lIns="0" rIns="0" tIns="0" bIns="0">
            <a:noAutofit/>
          </a:bodyPr>
          <a:lstStyle/>
          <a:p>
            <a:pPr algn="l">
              <a:defRPr sz="2100" b="0">
                <a:solidFill>
                  <a:srgbClr val="1D1D1F"/>
                </a:solidFill>
                <a:latin typeface="Inter"/>
                <a:ea typeface="Inter"/>
                <a:cs typeface="Inter"/>
              </a:defRPr>
            </a:pPr>
            <a:r>
              <a:rPr sz="2100" b="0">
                <a:solidFill>
                  <a:srgbClr val="1D1D1F"/>
                </a:solidFill>
                <a:latin typeface="Inter"/>
                <a:ea typeface="Inter"/>
                <a:cs typeface="Inter"/>
              </a:rPr>
              <a:t>Finite strategy comparison</a:t>
            </a:r>
          </a:p>
          <a:p>
            <a:pPr algn="l">
              <a:defRPr sz="2100" b="0">
                <a:solidFill>
                  <a:srgbClr val="1D1D1F"/>
                </a:solidFill>
                <a:latin typeface="Inter"/>
                <a:ea typeface="Inter"/>
                <a:cs typeface="Inter"/>
              </a:defRPr>
            </a:pPr>
            <a:r>
              <a:rPr sz="2100" b="0">
                <a:solidFill>
                  <a:srgbClr val="1D1D1F"/>
                </a:solidFill>
                <a:latin typeface="Inter"/>
                <a:ea typeface="Inter"/>
                <a:cs typeface="Inter"/>
              </a:rPr>
              <a:t>Explainable work allocation</a:t>
            </a:r>
          </a:p>
        </p:txBody>
      </p:sp>
      <p:sp>
        <p:nvSpPr>
          <p:cNvPr id="10" name="">
            <a:extLst>
              <a:ext uri="{FF2B5EF4-FFF2-40B4-BE49-F238E27FC236}">
                <ns2:creationId id="{1C0C9693-150A-480E-8C9C-6FD430EB4629}"/>
              </a:ext>
            </a:extLst>
          </p:cNvPr>
          <p:cNvSpPr>
            <a:spLocks noGrp="1"/>
          </p:cNvSpPr>
          <p:nvPr/>
        </p:nvSpPr>
        <p:spPr>
          <a:xfrm>
            <a:off x="4086225" y="4038600"/>
            <a:ext cx="3419475" cy="0"/>
          </a:xfrm>
          <a:prstGeom prst="line">
            <a:avLst/>
          </a:prstGeom>
          <a:noFill/>
          <a:ln w="19050">
            <a:solidFill>
              <a:srgbClr val="0071E3"/>
            </a:solidFill>
            <a:prstDash val="solid"/>
          </a:ln>
        </p:spPr>
      </p:sp>
      <p:sp>
        <p:nvSpPr>
          <p:cNvPr id="11" name="">
            <a:extLst>
              <a:ext uri="{FF2B5EF4-FFF2-40B4-BE49-F238E27FC236}">
                <ns2:creationId id="{B8B6D02D-793B-4C4A-9EC9-CB17F40136ED}"/>
              </a:ext>
            </a:extLst>
          </p:cNvPr>
          <p:cNvSpPr>
            <a:spLocks noGrp="1"/>
          </p:cNvSpPr>
          <p:nvPr/>
        </p:nvSpPr>
        <p:spPr>
          <a:xfrm>
            <a:off x="9029700" y="2457450"/>
            <a:ext cx="2466975" cy="733425"/>
          </a:xfrm>
          <a:prstGeom prst="rect">
            <a:avLst/>
          </a:prstGeom>
          <a:solidFill>
            <a:srgbClr val="FFFFFF"/>
          </a:solidFill>
          <a:ln w="13335">
            <a:solidFill>
              <a:srgbClr val="0071E3"/>
            </a:solidFill>
          </a:ln>
        </p:spPr>
      </p:sp>
      <p:sp>
        <p:nvSpPr>
          <p:cNvPr id="12" name="text-2-10">
            <a:extLst>
              <a:ext uri="{FF2B5EF4-FFF2-40B4-BE49-F238E27FC236}">
                <ns2:creationId id="{BA040CA1-B879-4362-89F4-138ECABA3CFB}"/>
              </a:ext>
            </a:extLst>
          </p:cNvPr>
          <p:cNvSpPr>
            <a:spLocks noGrp="1"/>
          </p:cNvSpPr>
          <p:nvPr/>
        </p:nvSpPr>
        <p:spPr>
          <a:xfrm>
            <a:off x="9182100" y="2609850"/>
            <a:ext cx="2162175" cy="542925"/>
          </a:xfrm>
          <a:prstGeom prst="rect">
            <a:avLst/>
          </a:prstGeom>
          <a:noFill/>
          <a:ln w="0">
            <a:noFill/>
          </a:ln>
        </p:spPr>
        <p:txBody>
          <a:bodyPr anchor="t" lIns="0" rIns="0" tIns="0" bIns="0">
            <a:noAutofit/>
          </a:bodyPr>
          <a:lstStyle/>
          <a:p>
            <a:pPr algn="ctr">
              <a:defRPr sz="2025" b="1">
                <a:solidFill>
                  <a:srgbClr val="0071E3"/>
                </a:solidFill>
                <a:latin typeface="Inter"/>
                <a:ea typeface="Inter"/>
                <a:cs typeface="Inter"/>
              </a:defRPr>
            </a:pPr>
            <a:r>
              <a:rPr sz="2025" b="1">
                <a:solidFill>
                  <a:srgbClr val="0071E3"/>
                </a:solidFill>
                <a:latin typeface="Inter"/>
                <a:ea typeface="Inter"/>
                <a:cs typeface="Inter"/>
              </a:rPr>
              <a:t>Client Root</a:t>
            </a:r>
          </a:p>
        </p:txBody>
      </p:sp>
      <p:cxnSp>
        <p:nvCxnSpPr>
          <p:cNvPr id="39" name=""/>
          <p:cNvCxnSpPr>
            <a:stCxn id="5" idx="3"/>
            <a:endCxn id="11" idx="1"/>
          </p:cNvCxnSpPr>
          <p:nvPr/>
        </p:nvCxnSpPr>
        <p:spPr>
          <a:xfrm flipV="1">
            <a:off x="7515225" y="2824163"/>
            <a:ext cx="1514475" cy="404813"/>
          </a:xfrm>
          <a:prstGeom prst="straightConnector1">
            <a:avLst/>
          </a:prstGeom>
          <a:ln w="17145">
            <a:solidFill>
              <a:srgbClr val="6E6E73"/>
            </a:solidFill>
            <a:prstDash val="solid"/>
            <a:tailEnd type="arrow" w="med" len="med"/>
          </a:ln>
        </p:spPr>
      </p:cxnSp>
      <p:sp>
        <p:nvSpPr>
          <p:cNvPr id="14" name="">
            <a:extLst>
              <a:ext uri="{FF2B5EF4-FFF2-40B4-BE49-F238E27FC236}">
                <ns2:creationId id="{26C03F48-5F43-49BB-ABCF-65DD52012F97}"/>
              </a:ext>
            </a:extLst>
          </p:cNvPr>
          <p:cNvSpPr>
            <a:spLocks noGrp="1"/>
          </p:cNvSpPr>
          <p:nvPr/>
        </p:nvSpPr>
        <p:spPr>
          <a:xfrm>
            <a:off x="9029700" y="3609975"/>
            <a:ext cx="2466975" cy="733425"/>
          </a:xfrm>
          <a:prstGeom prst="rect">
            <a:avLst/>
          </a:prstGeom>
          <a:solidFill>
            <a:srgbClr val="FFFFFF"/>
          </a:solidFill>
          <a:ln w="13335">
            <a:solidFill>
              <a:srgbClr val="0071E3"/>
            </a:solidFill>
          </a:ln>
        </p:spPr>
      </p:sp>
      <p:sp>
        <p:nvSpPr>
          <p:cNvPr id="15" name="text-2-11">
            <a:extLst>
              <a:ext uri="{FF2B5EF4-FFF2-40B4-BE49-F238E27FC236}">
                <ns2:creationId id="{4A06997D-F6AB-49FE-ABE6-57B55BBE389A}"/>
              </a:ext>
            </a:extLst>
          </p:cNvPr>
          <p:cNvSpPr>
            <a:spLocks noGrp="1"/>
          </p:cNvSpPr>
          <p:nvPr/>
        </p:nvSpPr>
        <p:spPr>
          <a:xfrm>
            <a:off x="9182100" y="3762375"/>
            <a:ext cx="2162175" cy="542925"/>
          </a:xfrm>
          <a:prstGeom prst="rect">
            <a:avLst/>
          </a:prstGeom>
          <a:noFill/>
          <a:ln w="0">
            <a:noFill/>
          </a:ln>
        </p:spPr>
        <p:txBody>
          <a:bodyPr anchor="t" lIns="0" rIns="0" tIns="0" bIns="0">
            <a:noAutofit/>
          </a:bodyPr>
          <a:lstStyle/>
          <a:p>
            <a:pPr algn="ctr">
              <a:defRPr sz="2025" b="1">
                <a:solidFill>
                  <a:srgbClr val="0071E3"/>
                </a:solidFill>
                <a:latin typeface="Inter"/>
                <a:ea typeface="Inter"/>
                <a:cs typeface="Inter"/>
              </a:defRPr>
            </a:pPr>
            <a:r>
              <a:rPr sz="2025" b="1">
                <a:solidFill>
                  <a:srgbClr val="0071E3"/>
                </a:solidFill>
                <a:latin typeface="Inter"/>
                <a:ea typeface="Inter"/>
                <a:cs typeface="Inter"/>
              </a:rPr>
              <a:t>Airline Root</a:t>
            </a:r>
          </a:p>
        </p:txBody>
      </p:sp>
      <p:cxnSp>
        <p:nvCxnSpPr>
          <p:cNvPr id="42" name=""/>
          <p:cNvCxnSpPr>
            <a:stCxn id="5" idx="3"/>
            <a:endCxn id="14" idx="1"/>
          </p:cNvCxnSpPr>
          <p:nvPr/>
        </p:nvCxnSpPr>
        <p:spPr>
          <a:xfrm>
            <a:off x="7515225" y="3228975"/>
            <a:ext cx="1514475" cy="747713"/>
          </a:xfrm>
          <a:prstGeom prst="straightConnector1">
            <a:avLst/>
          </a:prstGeom>
          <a:ln w="17145">
            <a:solidFill>
              <a:srgbClr val="6E6E73"/>
            </a:solidFill>
            <a:prstDash val="solid"/>
            <a:tailEnd type="arrow" w="med" len="med"/>
          </a:ln>
        </p:spPr>
      </p:cxnSp>
      <p:sp>
        <p:nvSpPr>
          <p:cNvPr id="17" name="">
            <a:extLst>
              <a:ext uri="{FF2B5EF4-FFF2-40B4-BE49-F238E27FC236}">
                <ns2:creationId id="{DA4E7799-E067-4844-94BE-25DC9FBEB741}"/>
              </a:ext>
            </a:extLst>
          </p:cNvPr>
          <p:cNvSpPr>
            <a:spLocks noGrp="1"/>
          </p:cNvSpPr>
          <p:nvPr/>
        </p:nvSpPr>
        <p:spPr>
          <a:xfrm>
            <a:off x="9029700" y="4762500"/>
            <a:ext cx="2466975" cy="733425"/>
          </a:xfrm>
          <a:prstGeom prst="rect">
            <a:avLst/>
          </a:prstGeom>
          <a:solidFill>
            <a:srgbClr val="FFFFFF"/>
          </a:solidFill>
          <a:ln w="13335">
            <a:solidFill>
              <a:srgbClr val="0071E3"/>
            </a:solidFill>
          </a:ln>
        </p:spPr>
      </p:sp>
      <p:sp>
        <p:nvSpPr>
          <p:cNvPr id="18" name="text-2-12">
            <a:extLst>
              <a:ext uri="{FF2B5EF4-FFF2-40B4-BE49-F238E27FC236}">
                <ns2:creationId id="{D5FAC1E1-6F1E-4572-97F5-A449AE983167}"/>
              </a:ext>
            </a:extLst>
          </p:cNvPr>
          <p:cNvSpPr>
            <a:spLocks noGrp="1"/>
          </p:cNvSpPr>
          <p:nvPr/>
        </p:nvSpPr>
        <p:spPr>
          <a:xfrm>
            <a:off x="9182100" y="4914900"/>
            <a:ext cx="2162175" cy="542925"/>
          </a:xfrm>
          <a:prstGeom prst="rect">
            <a:avLst/>
          </a:prstGeom>
          <a:noFill/>
          <a:ln w="0">
            <a:noFill/>
          </a:ln>
        </p:spPr>
        <p:txBody>
          <a:bodyPr anchor="t" lIns="0" rIns="0" tIns="0" bIns="0">
            <a:noAutofit/>
          </a:bodyPr>
          <a:lstStyle/>
          <a:p>
            <a:pPr algn="ctr">
              <a:defRPr sz="2025" b="1">
                <a:solidFill>
                  <a:srgbClr val="0071E3"/>
                </a:solidFill>
                <a:latin typeface="Inter"/>
                <a:ea typeface="Inter"/>
                <a:cs typeface="Inter"/>
              </a:defRPr>
            </a:pPr>
            <a:r>
              <a:rPr sz="2025" b="1">
                <a:solidFill>
                  <a:srgbClr val="0071E3"/>
                </a:solidFill>
                <a:latin typeface="Inter"/>
                <a:ea typeface="Inter"/>
                <a:cs typeface="Inter"/>
              </a:rPr>
              <a:t>Bank Root</a:t>
            </a:r>
          </a:p>
        </p:txBody>
      </p:sp>
      <p:cxnSp>
        <p:nvCxnSpPr>
          <p:cNvPr id="45" name=""/>
          <p:cNvCxnSpPr>
            <a:stCxn id="5" idx="3"/>
            <a:endCxn id="17" idx="1"/>
          </p:cNvCxnSpPr>
          <p:nvPr/>
        </p:nvCxnSpPr>
        <p:spPr>
          <a:xfrm>
            <a:off x="7515225" y="3228975"/>
            <a:ext cx="1514475" cy="1900238"/>
          </a:xfrm>
          <a:prstGeom prst="straightConnector1">
            <a:avLst/>
          </a:prstGeom>
          <a:ln w="17145">
            <a:solidFill>
              <a:srgbClr val="6E6E73"/>
            </a:solidFill>
            <a:prstDash val="solid"/>
            <a:tailEnd type="arrow" w="med" len="med"/>
          </a:ln>
        </p:spPr>
      </p:cxnSp>
      <p:sp>
        <p:nvSpPr>
          <p:cNvPr id="20" name="text-2-13">
            <a:extLst>
              <a:ext uri="{FF2B5EF4-FFF2-40B4-BE49-F238E27FC236}">
                <ns2:creationId id="{01754240-17D9-4238-9439-675636BF9C50}"/>
              </a:ext>
            </a:extLst>
          </p:cNvPr>
          <p:cNvSpPr>
            <a:spLocks noGrp="1"/>
          </p:cNvSpPr>
          <p:nvPr/>
        </p:nvSpPr>
        <p:spPr>
          <a:xfrm>
            <a:off x="704850" y="4333875"/>
            <a:ext cx="2762250" cy="41910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G3 local experience</a:t>
            </a:r>
          </a:p>
        </p:txBody>
      </p:sp>
      <p:sp>
        <p:nvSpPr>
          <p:cNvPr id="21" name="text-2-14">
            <a:extLst>
              <a:ext uri="{FF2B5EF4-FFF2-40B4-BE49-F238E27FC236}">
                <ns2:creationId id="{A969683B-01A8-4C87-94F9-97016DBF056C}"/>
              </a:ext>
            </a:extLst>
          </p:cNvPr>
          <p:cNvSpPr>
            <a:spLocks noGrp="1"/>
          </p:cNvSpPr>
          <p:nvPr/>
        </p:nvSpPr>
        <p:spPr>
          <a:xfrm>
            <a:off x="704850" y="4781550"/>
            <a:ext cx="2771775" cy="800100"/>
          </a:xfrm>
          <a:prstGeom prst="rect">
            <a:avLst/>
          </a:prstGeom>
          <a:noFill/>
          <a:ln w="0">
            <a:noFill/>
          </a:ln>
        </p:spPr>
        <p:txBody>
          <a:bodyPr anchor="t" lIns="0" rIns="0" tIns="0" bIns="0">
            <a:noAutofit/>
          </a:bodyPr>
          <a:lstStyle/>
          <a:p>
            <a:pPr algn="l">
              <a:defRPr sz="2100" b="0">
                <a:solidFill>
                  <a:srgbClr val="1D1D1F"/>
                </a:solidFill>
                <a:latin typeface="Inter"/>
                <a:ea typeface="Inter"/>
                <a:cs typeface="Inter"/>
              </a:defRPr>
            </a:pPr>
            <a:r>
              <a:rPr sz="2100" b="0">
                <a:solidFill>
                  <a:srgbClr val="1D1D1F"/>
                </a:solidFill>
                <a:latin typeface="Inter"/>
                <a:ea typeface="Inter"/>
                <a:cs typeface="Inter"/>
              </a:rPr>
              <a:t>DRS and time qualify</a:t>
            </a:r>
          </a:p>
          <a:p>
            <a:pPr algn="l">
              <a:defRPr sz="2100" b="0">
                <a:solidFill>
                  <a:srgbClr val="1D1D1F"/>
                </a:solidFill>
                <a:latin typeface="Inter"/>
                <a:ea typeface="Inter"/>
                <a:cs typeface="Inter"/>
              </a:defRPr>
            </a:pPr>
            <a:r>
              <a:rPr sz="2100" b="0">
                <a:solidFill>
                  <a:srgbClr val="1D1D1F"/>
                </a:solidFill>
                <a:latin typeface="Inter"/>
                <a:ea typeface="Inter"/>
                <a:cs typeface="Inter"/>
              </a:rPr>
              <a:t>current use</a:t>
            </a:r>
          </a:p>
        </p:txBody>
      </p:sp>
      <p:sp>
        <p:nvSpPr>
          <p:cNvPr id="22" name="text-2-15">
            <a:extLst>
              <a:ext uri="{FF2B5EF4-FFF2-40B4-BE49-F238E27FC236}">
                <ns2:creationId id="{BE3A5082-802F-448E-AE65-70C8200E745D}"/>
              </a:ext>
            </a:extLst>
          </p:cNvPr>
          <p:cNvSpPr>
            <a:spLocks noGrp="1"/>
          </p:cNvSpPr>
          <p:nvPr/>
        </p:nvSpPr>
        <p:spPr>
          <a:xfrm>
            <a:off x="704850" y="5743575"/>
            <a:ext cx="10782300" cy="314325"/>
          </a:xfrm>
          <a:prstGeom prst="rect">
            <a:avLst/>
          </a:prstGeom>
          <a:noFill/>
          <a:ln w="0">
            <a:noFill/>
          </a:ln>
        </p:spPr>
        <p:txBody>
          <a:bodyPr anchor="t" lIns="0" rIns="0" tIns="0" bIns="0">
            <a:noAutofit/>
          </a:bodyPr>
          <a:lstStyle/>
          <a:p>
            <a:pPr algn="l">
              <a:defRPr sz="1500" b="0">
                <a:solidFill>
                  <a:srgbClr val="6E6E73"/>
                </a:solidFill>
                <a:latin typeface="Inter"/>
                <a:ea typeface="Inter"/>
                <a:cs typeface="Inter"/>
              </a:defRPr>
            </a:pPr>
            <a:r>
              <a:rPr sz="1500" b="0">
                <a:solidFill>
                  <a:srgbClr val="6E6E73"/>
                </a:solidFill>
                <a:latin typeface="Inter"/>
                <a:ea typeface="Inter"/>
                <a:cs typeface="Inter"/>
              </a:rPr>
              <a:t>Conceptual architecture view. Dashed: advisory input. Solid: evidence for independent review.</a:t>
            </a:r>
          </a:p>
        </p:txBody>
      </p:sp>
      <p:sp>
        <p:nvSpPr>
          <p:cNvPr id="23" name="">
            <a:extLst>
              <a:ext uri="{FF2B5EF4-FFF2-40B4-BE49-F238E27FC236}">
                <ns2:creationId id="{1D08200E-3C6F-45AC-B918-2C51CCFE7CC7}"/>
              </a:ext>
            </a:extLst>
          </p:cNvPr>
          <p:cNvSpPr>
            <a:spLocks noGrp="1"/>
          </p:cNvSpPr>
          <p:nvPr/>
        </p:nvSpPr>
        <p:spPr>
          <a:xfrm>
            <a:off x="704850" y="6162675"/>
            <a:ext cx="10801350" cy="0"/>
          </a:xfrm>
          <a:prstGeom prst="line">
            <a:avLst/>
          </a:prstGeom>
          <a:noFill/>
          <a:ln w="6668">
            <a:solidFill>
              <a:srgbClr val="D2D2D7"/>
            </a:solidFill>
            <a:prstDash val="solid"/>
          </a:ln>
        </p:spPr>
      </p:sp>
      <p:sp>
        <p:nvSpPr>
          <p:cNvPr id="24" name="link-2-appendix">
            <a:extLst>
              <a:ext uri="{FF2B5EF4-FFF2-40B4-BE49-F238E27FC236}">
                <ns2:creationId id="{9D15F6F7-ACC1-427D-80E0-F2A0B5E2A937}"/>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C01 / C03   Technical evidence</a:t>
            </a:r>
          </a:p>
        </p:txBody>
      </p:sp>
      <p:sp>
        <p:nvSpPr>
          <p:cNvPr id="25" name="text-2-17">
            <a:extLst>
              <a:ext uri="{FF2B5EF4-FFF2-40B4-BE49-F238E27FC236}">
                <ns2:creationId id="{899FC70A-7235-406F-A81A-C63AFE4F90FD}"/>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26" name="text-2-18">
            <a:extLst>
              <a:ext uri="{FF2B5EF4-FFF2-40B4-BE49-F238E27FC236}">
                <ns2:creationId id="{9EB7BC78-629A-4465-9AD0-C8301FDF3DA1}"/>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02</a:t>
            </a:r>
          </a:p>
        </p:txBody>
      </p:sp>
    </p:spTree>
    <p:extLst>
      <p:ext uri="{BB962C8B-B14F-4D97-AF65-F5344CB8AC3E}">
        <ns4:creationId val="1209227775"/>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text-3-19">
            <a:extLst>
              <a:ext uri="{FF2B5EF4-FFF2-40B4-BE49-F238E27FC236}">
                <ns2:creationId id="{4D38A4BB-48BB-40E7-A4C9-331BB2112384}"/>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Two valid offers express different interests</a:t>
            </a:r>
          </a:p>
        </p:txBody>
      </p:sp>
      <p:sp>
        <p:nvSpPr>
          <p:cNvPr id="2" name="text-3-20">
            <a:extLst>
              <a:ext uri="{FF2B5EF4-FFF2-40B4-BE49-F238E27FC236}">
                <ns2:creationId id="{6B7CE9B1-1280-4DCC-A234-EFB4AB2D594B}"/>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Controlled Airline records share a EUR 840 ceiling, required baggage and no overnight layover.</a:t>
            </a:r>
          </a:p>
        </p:txBody>
      </p:sp>
      <p:sp>
        <p:nvSpPr>
          <p:cNvPr id="3" name="text-3-21">
            <a:extLst>
              <a:ext uri="{FF2B5EF4-FFF2-40B4-BE49-F238E27FC236}">
                <ns2:creationId id="{708917BF-088B-460A-ACD6-C43043EEE166}"/>
              </a:ext>
            </a:extLst>
          </p:cNvPr>
          <p:cNvSpPr>
            <a:spLocks noGrp="1"/>
          </p:cNvSpPr>
          <p:nvPr/>
        </p:nvSpPr>
        <p:spPr>
          <a:xfrm>
            <a:off x="704850" y="2638425"/>
            <a:ext cx="4191000" cy="38100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offer:0</a:t>
            </a:r>
          </a:p>
        </p:txBody>
      </p:sp>
      <p:sp>
        <p:nvSpPr>
          <p:cNvPr id="4" name="text-3-22">
            <a:extLst>
              <a:ext uri="{FF2B5EF4-FFF2-40B4-BE49-F238E27FC236}">
                <ns2:creationId id="{DD307C20-308B-450D-B78B-6923F45C18F6}"/>
              </a:ext>
            </a:extLst>
          </p:cNvPr>
          <p:cNvSpPr>
            <a:spLocks noGrp="1"/>
          </p:cNvSpPr>
          <p:nvPr/>
        </p:nvSpPr>
        <p:spPr>
          <a:xfrm>
            <a:off x="704850" y="3133725"/>
            <a:ext cx="4191000" cy="704850"/>
          </a:xfrm>
          <a:prstGeom prst="rect">
            <a:avLst/>
          </a:prstGeom>
          <a:noFill/>
          <a:ln w="0">
            <a:noFill/>
          </a:ln>
        </p:spPr>
        <p:txBody>
          <a:bodyPr anchor="t" lIns="0" rIns="0" tIns="0" bIns="0">
            <a:noAutofit/>
          </a:bodyPr>
          <a:lstStyle/>
          <a:p>
            <a:pPr algn="l">
              <a:defRPr sz="3825" b="1">
                <a:solidFill>
                  <a:srgbClr val="1D1D1F"/>
                </a:solidFill>
                <a:latin typeface="Inter"/>
                <a:ea typeface="Inter"/>
                <a:cs typeface="Inter"/>
              </a:defRPr>
            </a:pPr>
            <a:r>
              <a:rPr sz="3825" b="1">
                <a:solidFill>
                  <a:srgbClr val="1D1D1F"/>
                </a:solidFill>
                <a:latin typeface="Inter"/>
                <a:ea typeface="Inter"/>
                <a:cs typeface="Inter"/>
              </a:rPr>
              <a:t>EUR 790</a:t>
            </a:r>
          </a:p>
        </p:txBody>
      </p:sp>
      <p:sp>
        <p:nvSpPr>
          <p:cNvPr id="5" name="text-3-23">
            <a:extLst>
              <a:ext uri="{FF2B5EF4-FFF2-40B4-BE49-F238E27FC236}">
                <ns2:creationId id="{72CF60D3-F790-4090-9DEB-ABAA3B2E36BC}"/>
              </a:ext>
            </a:extLst>
          </p:cNvPr>
          <p:cNvSpPr>
            <a:spLocks noGrp="1"/>
          </p:cNvSpPr>
          <p:nvPr/>
        </p:nvSpPr>
        <p:spPr>
          <a:xfrm>
            <a:off x="704850" y="4067175"/>
            <a:ext cx="4143375" cy="1047750"/>
          </a:xfrm>
          <a:prstGeom prst="rect">
            <a:avLst/>
          </a:prstGeom>
          <a:noFill/>
          <a:ln w="0">
            <a:noFill/>
          </a:ln>
        </p:spPr>
        <p:txBody>
          <a:bodyPr anchor="t" lIns="0" rIns="0" tIns="0" bIns="0">
            <a:noAutofit/>
          </a:bodyPr>
          <a:lstStyle/>
          <a:p>
            <a:pPr algn="l">
              <a:defRPr sz="2400" b="0">
                <a:solidFill>
                  <a:srgbClr val="1D1D1F"/>
                </a:solidFill>
                <a:latin typeface="Inter"/>
                <a:ea typeface="Inter"/>
                <a:cs typeface="Inter"/>
              </a:defRPr>
            </a:pPr>
            <a:r>
              <a:rPr sz="2400" b="0">
                <a:solidFill>
                  <a:srgbClr val="1D1D1F"/>
                </a:solidFill>
                <a:latin typeface="Inter"/>
                <a:ea typeface="Inter"/>
                <a:cs typeface="Inter"/>
              </a:rPr>
              <a:t>Standard seat</a:t>
            </a:r>
          </a:p>
          <a:p>
            <a:pPr algn="l">
              <a:defRPr sz="2400" b="0">
                <a:solidFill>
                  <a:srgbClr val="1D1D1F"/>
                </a:solidFill>
                <a:latin typeface="Inter"/>
                <a:ea typeface="Inter"/>
                <a:cs typeface="Inter"/>
              </a:defRPr>
            </a:pPr>
            <a:r>
              <a:rPr sz="2400" b="0">
                <a:solidFill>
                  <a:srgbClr val="1D1D1F"/>
                </a:solidFill>
                <a:latin typeface="Inter"/>
                <a:ea typeface="Inter"/>
                <a:cs typeface="Inter"/>
              </a:rPr>
              <a:t>Window</a:t>
            </a:r>
          </a:p>
        </p:txBody>
      </p:sp>
      <p:sp>
        <p:nvSpPr>
          <p:cNvPr id="6" name="text-3-24">
            <a:extLst>
              <a:ext uri="{FF2B5EF4-FFF2-40B4-BE49-F238E27FC236}">
                <ns2:creationId id="{C9A81825-35C9-476A-A532-4405CA9DF03E}"/>
              </a:ext>
            </a:extLst>
          </p:cNvPr>
          <p:cNvSpPr>
            <a:spLocks noGrp="1"/>
          </p:cNvSpPr>
          <p:nvPr/>
        </p:nvSpPr>
        <p:spPr>
          <a:xfrm>
            <a:off x="6334125" y="2638425"/>
            <a:ext cx="5153025" cy="38100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offer:1</a:t>
            </a:r>
          </a:p>
        </p:txBody>
      </p:sp>
      <p:sp>
        <p:nvSpPr>
          <p:cNvPr id="7" name="text-3-25">
            <a:extLst>
              <a:ext uri="{FF2B5EF4-FFF2-40B4-BE49-F238E27FC236}">
                <ns2:creationId id="{BE1A53D2-27EC-428E-B112-EB1C8D012508}"/>
              </a:ext>
            </a:extLst>
          </p:cNvPr>
          <p:cNvSpPr>
            <a:spLocks noGrp="1"/>
          </p:cNvSpPr>
          <p:nvPr/>
        </p:nvSpPr>
        <p:spPr>
          <a:xfrm>
            <a:off x="6334125" y="3133725"/>
            <a:ext cx="5153025" cy="704850"/>
          </a:xfrm>
          <a:prstGeom prst="rect">
            <a:avLst/>
          </a:prstGeom>
          <a:noFill/>
          <a:ln w="0">
            <a:noFill/>
          </a:ln>
        </p:spPr>
        <p:txBody>
          <a:bodyPr anchor="t" lIns="0" rIns="0" tIns="0" bIns="0">
            <a:noAutofit/>
          </a:bodyPr>
          <a:lstStyle/>
          <a:p>
            <a:pPr algn="l">
              <a:defRPr sz="3825" b="1">
                <a:solidFill>
                  <a:srgbClr val="1D1D1F"/>
                </a:solidFill>
                <a:latin typeface="Inter"/>
                <a:ea typeface="Inter"/>
                <a:cs typeface="Inter"/>
              </a:defRPr>
            </a:pPr>
            <a:r>
              <a:rPr sz="3825" b="1">
                <a:solidFill>
                  <a:srgbClr val="1D1D1F"/>
                </a:solidFill>
                <a:latin typeface="Inter"/>
                <a:ea typeface="Inter"/>
                <a:cs typeface="Inter"/>
              </a:rPr>
              <a:t>EUR 815</a:t>
            </a:r>
          </a:p>
        </p:txBody>
      </p:sp>
      <p:sp>
        <p:nvSpPr>
          <p:cNvPr id="8" name="text-3-26">
            <a:extLst>
              <a:ext uri="{FF2B5EF4-FFF2-40B4-BE49-F238E27FC236}">
                <ns2:creationId id="{9194847A-270F-4936-8097-A8E1E5372254}"/>
              </a:ext>
            </a:extLst>
          </p:cNvPr>
          <p:cNvSpPr>
            <a:spLocks noGrp="1"/>
          </p:cNvSpPr>
          <p:nvPr/>
        </p:nvSpPr>
        <p:spPr>
          <a:xfrm>
            <a:off x="6334125" y="4067175"/>
            <a:ext cx="5153025" cy="1047750"/>
          </a:xfrm>
          <a:prstGeom prst="rect">
            <a:avLst/>
          </a:prstGeom>
          <a:noFill/>
          <a:ln w="0">
            <a:noFill/>
          </a:ln>
        </p:spPr>
        <p:txBody>
          <a:bodyPr anchor="t" lIns="0" rIns="0" tIns="0" bIns="0">
            <a:noAutofit/>
          </a:bodyPr>
          <a:lstStyle/>
          <a:p>
            <a:pPr algn="l">
              <a:defRPr sz="2400" b="0">
                <a:solidFill>
                  <a:srgbClr val="1D1D1F"/>
                </a:solidFill>
                <a:latin typeface="Inter"/>
                <a:ea typeface="Inter"/>
                <a:cs typeface="Inter"/>
              </a:defRPr>
            </a:pPr>
            <a:r>
              <a:rPr sz="2400" b="0">
                <a:solidFill>
                  <a:srgbClr val="1D1D1F"/>
                </a:solidFill>
                <a:latin typeface="Inter"/>
                <a:ea typeface="Inter"/>
                <a:cs typeface="Inter"/>
              </a:rPr>
              <a:t>Extra legroom</a:t>
            </a:r>
          </a:p>
          <a:p>
            <a:pPr algn="l">
              <a:defRPr sz="2400" b="0">
                <a:solidFill>
                  <a:srgbClr val="1D1D1F"/>
                </a:solidFill>
                <a:latin typeface="Inter"/>
                <a:ea typeface="Inter"/>
                <a:cs typeface="Inter"/>
              </a:defRPr>
            </a:pPr>
            <a:r>
              <a:rPr sz="2400" b="0">
                <a:solidFill>
                  <a:srgbClr val="1D1D1F"/>
                </a:solidFill>
                <a:latin typeface="Inter"/>
                <a:ea typeface="Inter"/>
                <a:cs typeface="Inter"/>
              </a:rPr>
              <a:t>Aisle</a:t>
            </a:r>
          </a:p>
        </p:txBody>
      </p:sp>
      <p:sp>
        <p:nvSpPr>
          <p:cNvPr id="9" name="">
            <a:extLst>
              <a:ext uri="{FF2B5EF4-FFF2-40B4-BE49-F238E27FC236}">
                <ns2:creationId id="{FC168772-45E4-42E8-A90C-ED93E7AE5F93}"/>
              </a:ext>
            </a:extLst>
          </p:cNvPr>
          <p:cNvSpPr>
            <a:spLocks noGrp="1"/>
          </p:cNvSpPr>
          <p:nvPr/>
        </p:nvSpPr>
        <p:spPr>
          <a:xfrm>
            <a:off x="704850" y="5334000"/>
            <a:ext cx="10782300" cy="0"/>
          </a:xfrm>
          <a:prstGeom prst="line">
            <a:avLst/>
          </a:prstGeom>
          <a:noFill/>
          <a:ln w="9525">
            <a:solidFill>
              <a:srgbClr val="D2D2D7"/>
            </a:solidFill>
            <a:prstDash val="solid"/>
          </a:ln>
        </p:spPr>
      </p:sp>
      <p:sp>
        <p:nvSpPr>
          <p:cNvPr id="10" name="text-3-27">
            <a:extLst>
              <a:ext uri="{FF2B5EF4-FFF2-40B4-BE49-F238E27FC236}">
                <ns2:creationId id="{416B1B20-5470-4A5C-9DF2-79343C462BBA}"/>
              </a:ext>
            </a:extLst>
          </p:cNvPr>
          <p:cNvSpPr>
            <a:spLocks noGrp="1"/>
          </p:cNvSpPr>
          <p:nvPr/>
        </p:nvSpPr>
        <p:spPr>
          <a:xfrm>
            <a:off x="704850" y="5562600"/>
            <a:ext cx="10782300" cy="533400"/>
          </a:xfrm>
          <a:prstGeom prst="rect">
            <a:avLst/>
          </a:prstGeom>
          <a:noFill/>
          <a:ln w="0">
            <a:noFill/>
          </a:ln>
        </p:spPr>
        <p:txBody>
          <a:bodyPr anchor="t" lIns="0" rIns="0" tIns="0" bIns="0">
            <a:noAutofit/>
          </a:bodyPr>
          <a:lstStyle/>
          <a:p>
            <a:pPr algn="l">
              <a:defRPr sz="1875" b="0">
                <a:solidFill>
                  <a:srgbClr val="6E6E73"/>
                </a:solidFill>
                <a:latin typeface="Inter"/>
                <a:ea typeface="Inter"/>
                <a:cs typeface="Inter"/>
              </a:defRPr>
            </a:pPr>
            <a:r>
              <a:rPr sz="1875" b="0">
                <a:solidFill>
                  <a:srgbClr val="6E6E73"/>
                </a:solidFill>
                <a:latin typeface="Inter"/>
                <a:ea typeface="Inter"/>
                <a:cs typeface="Inter"/>
              </a:rPr>
              <a:t>Client: price + seat preference     Airline: revenue     Bank: budget margin</a:t>
            </a:r>
          </a:p>
        </p:txBody>
      </p:sp>
      <p:sp>
        <p:nvSpPr>
          <p:cNvPr id="11" name="">
            <a:extLst>
              <a:ext uri="{FF2B5EF4-FFF2-40B4-BE49-F238E27FC236}">
                <ns2:creationId id="{639D5A32-46CA-4F5D-947E-6C2E40B67C38}"/>
              </a:ext>
            </a:extLst>
          </p:cNvPr>
          <p:cNvSpPr>
            <a:spLocks noGrp="1"/>
          </p:cNvSpPr>
          <p:nvPr/>
        </p:nvSpPr>
        <p:spPr>
          <a:xfrm>
            <a:off x="704850" y="6162675"/>
            <a:ext cx="10801350" cy="0"/>
          </a:xfrm>
          <a:prstGeom prst="line">
            <a:avLst/>
          </a:prstGeom>
          <a:noFill/>
          <a:ln w="6668">
            <a:solidFill>
              <a:srgbClr val="D2D2D7"/>
            </a:solidFill>
            <a:prstDash val="solid"/>
          </a:ln>
        </p:spPr>
      </p:sp>
      <p:sp>
        <p:nvSpPr>
          <p:cNvPr id="12" name="link-3-appendix">
            <a:extLst>
              <a:ext uri="{FF2B5EF4-FFF2-40B4-BE49-F238E27FC236}">
                <ns2:creationId id="{1AA6A35F-F245-4860-A8B1-06DD564E6761}"/>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C02 / C04   Technical evidence</a:t>
            </a:r>
          </a:p>
        </p:txBody>
      </p:sp>
      <p:sp>
        <p:nvSpPr>
          <p:cNvPr id="13" name="text-3-29">
            <a:extLst>
              <a:ext uri="{FF2B5EF4-FFF2-40B4-BE49-F238E27FC236}">
                <ns2:creationId id="{79D6FDDB-992A-4771-9953-D40F31AAEEEA}"/>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14" name="text-3-30">
            <a:extLst>
              <a:ext uri="{FF2B5EF4-FFF2-40B4-BE49-F238E27FC236}">
                <ns2:creationId id="{CB541DAF-C9F7-4443-86E1-447A042D93E3}"/>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03</a:t>
            </a:r>
          </a:p>
        </p:txBody>
      </p:sp>
    </p:spTree>
    <p:extLst>
      <p:ext uri="{BB962C8B-B14F-4D97-AF65-F5344CB8AC3E}">
        <ns4:creationId val="922263124"/>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text-4-31">
            <a:extLst>
              <a:ext uri="{FF2B5EF4-FFF2-40B4-BE49-F238E27FC236}">
                <ns2:creationId id="{A49A91E8-432B-4509-82B7-7A63BFA29208}"/>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The declared preference changes the prepared offer</a:t>
            </a:r>
          </a:p>
        </p:txBody>
      </p:sp>
      <p:sp>
        <p:nvSpPr>
          <p:cNvPr id="2" name="text-4-32">
            <a:extLst>
              <a:ext uri="{FF2B5EF4-FFF2-40B4-BE49-F238E27FC236}">
                <ns2:creationId id="{5B8723CD-6FE5-41E3-A280-407D7A4807E5}"/>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Configured utility units and the finite Nash-product criterion yield different winners.</a:t>
            </a:r>
          </a:p>
        </p:txBody>
      </p:sp>
      <p:graphicFrame>
        <p:nvGraphicFramePr>
          <p:cNvPr id="14" name=""/>
          <p:cNvGraphicFramePr/>
          <p:nvPr/>
        </p:nvGraphicFramePr>
        <p:xfrm>
          <a:off x="704850" y="2562225"/>
          <a:ext cx="10782300" cy="2400300"/>
        </p:xfrm>
        <a:graphic>
          <a:graphicData uri="http://schemas.openxmlformats.org/drawingml/2006/table">
            <a:tbl>
              <a:tblPr firstRow="0" bandRow="0"/>
              <a:tblGrid>
                <a:gridCol w="2587752"/>
                <a:gridCol w="1293876"/>
                <a:gridCol w="1509522"/>
                <a:gridCol w="1509522"/>
                <a:gridCol w="1401699"/>
                <a:gridCol w="2479929"/>
              </a:tblGrid>
              <a:tr h="457200">
                <a:tc>
                  <a:txBody>
                    <a:bodyPr>
                      <a:noAutofit/>
                    </a:bodyPr>
                    <a:lstStyle/>
                    <a:p>
                      <a:r>
                        <a:rPr sz="1650" b="1">
                          <a:solidFill>
                            <a:srgbClr val="6E6E73"/>
                          </a:solidFill>
                          <a:latin typeface="Inter"/>
                          <a:ea typeface="Inter"/>
                          <a:cs typeface="Inter"/>
                        </a:rPr>
                        <a:t>Profile</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Offer</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Client U</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Airline U</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Bank U</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Product</a:t>
                      </a:r>
                    </a:p>
                  </a:txBody>
                  <a:tcPr marL="114300" marR="114300" marT="85725" marB="85725" anchor="ctr">
                    <a:solidFill>
                      <a:srgbClr val="F5F5F7"/>
                    </a:solidFill>
                  </a:tcPr>
                </a:tc>
              </a:tr>
              <a:tr h="485775">
                <a:tc>
                  <a:txBody>
                    <a:bodyPr>
                      <a:noAutofit/>
                    </a:bodyPr>
                    <a:lstStyle/>
                    <a:p>
                      <a:r>
                        <a:rPr sz="1800" b="0">
                          <a:solidFill>
                            <a:srgbClr val="1D1D1F"/>
                          </a:solidFill>
                          <a:latin typeface="Inter"/>
                          <a:ea typeface="Inter"/>
                          <a:cs typeface="Inter"/>
                        </a:rPr>
                        <a:t>PRICE_FIRST</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offer:0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0.500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0.790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0.050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0.01975</a:t>
                      </a:r>
                    </a:p>
                  </a:txBody>
                  <a:tcPr marL="114300" marR="114300" marT="85725" marB="85725" anchor="ctr">
                    <a:solidFill>
                      <a:srgbClr val="FFFFFF"/>
                    </a:solidFill>
                  </a:tcPr>
                </a:tc>
              </a:tr>
              <a:tr h="485775">
                <a:tc>
                  <a:txBody>
                    <a:bodyPr>
                      <a:noAutofit/>
                    </a:bodyPr>
                    <a:lstStyle/>
                    <a:p>
                      <a:r>
                        <a:rPr sz="1800" b="0">
                          <a:solidFill>
                            <a:srgbClr val="1D1D1F"/>
                          </a:solidFill>
                          <a:latin typeface="Inter"/>
                          <a:ea typeface="Inter"/>
                          <a:cs typeface="Inter"/>
                        </a:rPr>
                        <a:t>PRICE_FIRST</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offer:1</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0.250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0.815</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0.025</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0.00509375</a:t>
                      </a:r>
                    </a:p>
                  </a:txBody>
                  <a:tcPr marL="114300" marR="114300" marT="85725" marB="85725" anchor="ctr">
                    <a:solidFill>
                      <a:srgbClr val="FFFFFF"/>
                    </a:solidFill>
                  </a:tcPr>
                </a:tc>
              </a:tr>
              <a:tr h="485775">
                <a:tc>
                  <a:txBody>
                    <a:bodyPr>
                      <a:noAutofit/>
                    </a:bodyPr>
                    <a:lstStyle/>
                    <a:p>
                      <a:r>
                        <a:rPr sz="1800" b="0">
                          <a:solidFill>
                            <a:srgbClr val="1D1D1F"/>
                          </a:solidFill>
                          <a:latin typeface="Inter"/>
                          <a:ea typeface="Inter"/>
                          <a:cs typeface="Inter"/>
                        </a:rPr>
                        <a:t>COMFORT_FIRST</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offer:0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0.050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0.790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0.050</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0.001975</a:t>
                      </a:r>
                    </a:p>
                  </a:txBody>
                  <a:tcPr marL="114300" marR="114300" marT="85725" marB="85725" anchor="ctr">
                    <a:solidFill>
                      <a:srgbClr val="FFFFFF"/>
                    </a:solidFill>
                  </a:tcPr>
                </a:tc>
              </a:tr>
              <a:tr h="485775">
                <a:tc>
                  <a:txBody>
                    <a:bodyPr>
                      <a:noAutofit/>
                    </a:bodyPr>
                    <a:lstStyle/>
                    <a:p>
                      <a:r>
                        <a:rPr sz="1800" b="0">
                          <a:solidFill>
                            <a:srgbClr val="1D1D1F"/>
                          </a:solidFill>
                          <a:latin typeface="Inter"/>
                          <a:ea typeface="Inter"/>
                          <a:cs typeface="Inter"/>
                        </a:rPr>
                        <a:t>COMFORT_FIRST</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offer:1</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0.925</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0.815</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0.025</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0.018846875</a:t>
                      </a:r>
                    </a:p>
                  </a:txBody>
                  <a:tcPr marL="114300" marR="114300" marT="85725" marB="85725" anchor="ctr">
                    <a:solidFill>
                      <a:srgbClr val="FFFFFF"/>
                    </a:solidFill>
                  </a:tcPr>
                </a:tc>
              </a:tr>
            </a:tbl>
          </a:graphicData>
        </a:graphic>
      </p:graphicFrame>
      <p:sp>
        <p:nvSpPr>
          <p:cNvPr id="4" name="text-4-34">
            <a:extLst>
              <a:ext uri="{FF2B5EF4-FFF2-40B4-BE49-F238E27FC236}">
                <ns2:creationId id="{0225E42D-ADDB-49F5-A14D-03DB91CB0747}"/>
              </a:ext>
            </a:extLst>
          </p:cNvPr>
          <p:cNvSpPr>
            <a:spLocks noGrp="1"/>
          </p:cNvSpPr>
          <p:nvPr/>
        </p:nvSpPr>
        <p:spPr>
          <a:xfrm>
            <a:off x="714375" y="5191125"/>
            <a:ext cx="5048250" cy="409575"/>
          </a:xfrm>
          <a:prstGeom prst="rect">
            <a:avLst/>
          </a:prstGeom>
          <a:noFill/>
          <a:ln w="0">
            <a:noFill/>
          </a:ln>
        </p:spPr>
        <p:txBody>
          <a:bodyPr anchor="t" lIns="0" rIns="0" tIns="0" bIns="0">
            <a:noAutofit/>
          </a:bodyPr>
          <a:lstStyle/>
          <a:p>
            <a:pPr algn="l">
              <a:defRPr sz="1950" b="1">
                <a:solidFill>
                  <a:srgbClr val="0071E3"/>
                </a:solidFill>
                <a:latin typeface="Inter"/>
                <a:ea typeface="Inter"/>
                <a:cs typeface="Inter"/>
              </a:defRPr>
            </a:pPr>
            <a:r>
              <a:rPr sz="1950" b="1">
                <a:solidFill>
                  <a:srgbClr val="0071E3"/>
                </a:solidFill>
                <a:latin typeface="Inter"/>
                <a:ea typeface="Inter"/>
                <a:cs typeface="Inter"/>
              </a:rPr>
              <a:t>PRICE_FIRST selects offer:0</a:t>
            </a:r>
          </a:p>
        </p:txBody>
      </p:sp>
      <p:sp>
        <p:nvSpPr>
          <p:cNvPr id="5" name="text-4-35">
            <a:extLst>
              <a:ext uri="{FF2B5EF4-FFF2-40B4-BE49-F238E27FC236}">
                <ns2:creationId id="{C7A62537-E73A-4010-9E7D-E4ADA831A462}"/>
              </a:ext>
            </a:extLst>
          </p:cNvPr>
          <p:cNvSpPr>
            <a:spLocks noGrp="1"/>
          </p:cNvSpPr>
          <p:nvPr/>
        </p:nvSpPr>
        <p:spPr>
          <a:xfrm>
            <a:off x="6343650" y="5191125"/>
            <a:ext cx="5143500" cy="409575"/>
          </a:xfrm>
          <a:prstGeom prst="rect">
            <a:avLst/>
          </a:prstGeom>
          <a:noFill/>
          <a:ln w="0">
            <a:noFill/>
          </a:ln>
        </p:spPr>
        <p:txBody>
          <a:bodyPr anchor="t" lIns="0" rIns="0" tIns="0" bIns="0">
            <a:noAutofit/>
          </a:bodyPr>
          <a:lstStyle/>
          <a:p>
            <a:pPr algn="l">
              <a:defRPr sz="1950" b="1">
                <a:solidFill>
                  <a:srgbClr val="0071E3"/>
                </a:solidFill>
                <a:latin typeface="Inter"/>
                <a:ea typeface="Inter"/>
                <a:cs typeface="Inter"/>
              </a:defRPr>
            </a:pPr>
            <a:r>
              <a:rPr sz="1950" b="1">
                <a:solidFill>
                  <a:srgbClr val="0071E3"/>
                </a:solidFill>
                <a:latin typeface="Inter"/>
                <a:ea typeface="Inter"/>
                <a:cs typeface="Inter"/>
              </a:rPr>
              <a:t>COMFORT_FIRST selects offer:1</a:t>
            </a:r>
          </a:p>
        </p:txBody>
      </p:sp>
      <p:sp>
        <p:nvSpPr>
          <p:cNvPr id="6" name="text-4-36">
            <a:extLst>
              <a:ext uri="{FF2B5EF4-FFF2-40B4-BE49-F238E27FC236}">
                <ns2:creationId id="{64FA5D4F-78A6-4BD3-B3D7-7CA5E1EEAE1E}"/>
              </a:ext>
            </a:extLst>
          </p:cNvPr>
          <p:cNvSpPr>
            <a:spLocks noGrp="1"/>
          </p:cNvSpPr>
          <p:nvPr/>
        </p:nvSpPr>
        <p:spPr>
          <a:xfrm>
            <a:off x="704850" y="5610225"/>
            <a:ext cx="10782300" cy="342900"/>
          </a:xfrm>
          <a:prstGeom prst="rect">
            <a:avLst/>
          </a:prstGeom>
          <a:noFill/>
          <a:ln w="0">
            <a:noFill/>
          </a:ln>
        </p:spPr>
        <p:txBody>
          <a:bodyPr anchor="t" lIns="0" rIns="0" tIns="0" bIns="0">
            <a:noAutofit/>
          </a:bodyPr>
          <a:lstStyle/>
          <a:p>
            <a:pPr algn="l">
              <a:defRPr sz="1725" b="0">
                <a:solidFill>
                  <a:srgbClr val="6E6E73"/>
                </a:solidFill>
                <a:latin typeface="Inter"/>
                <a:ea typeface="Inter"/>
                <a:cs typeface="Inter"/>
              </a:defRPr>
            </a:pPr>
            <a:r>
              <a:rPr sz="1725" b="0">
                <a:solidFill>
                  <a:srgbClr val="6E6E73"/>
                </a:solidFill>
                <a:latin typeface="Inter"/>
                <a:ea typeface="Inter"/>
                <a:cs typeface="Inter"/>
              </a:rPr>
              <a:t>Current Root reviews and offer resolution create a prepared hold record</a:t>
            </a:r>
          </a:p>
        </p:txBody>
      </p:sp>
      <p:sp>
        <p:nvSpPr>
          <p:cNvPr id="7" name="text-4-37">
            <a:extLst>
              <a:ext uri="{FF2B5EF4-FFF2-40B4-BE49-F238E27FC236}">
                <ns2:creationId id="{3EB97E18-9FD0-4330-9767-09429E23A23E}"/>
              </a:ext>
            </a:extLst>
          </p:cNvPr>
          <p:cNvSpPr>
            <a:spLocks noGrp="1"/>
          </p:cNvSpPr>
          <p:nvPr/>
        </p:nvSpPr>
        <p:spPr>
          <a:xfrm>
            <a:off x="704850" y="5857875"/>
            <a:ext cx="10782300" cy="247650"/>
          </a:xfrm>
          <a:prstGeom prst="rect">
            <a:avLst/>
          </a:prstGeom>
          <a:noFill/>
          <a:ln w="0">
            <a:noFill/>
          </a:ln>
        </p:spPr>
        <p:txBody>
          <a:bodyPr anchor="t" lIns="0" rIns="0" tIns="0" bIns="0">
            <a:noAutofit/>
          </a:bodyPr>
          <a:lstStyle/>
          <a:p>
            <a:pPr algn="l">
              <a:defRPr sz="1500" b="1">
                <a:solidFill>
                  <a:srgbClr val="1D1D1F"/>
                </a:solidFill>
                <a:latin typeface="Inter"/>
                <a:ea typeface="Inter"/>
                <a:cs typeface="Inter"/>
              </a:defRPr>
            </a:pPr>
            <a:r>
              <a:rPr sz="1500" b="1">
                <a:solidFill>
                  <a:srgbClr val="1D1D1F"/>
                </a:solidFill>
                <a:latin typeface="Inter"/>
                <a:ea typeface="Inter"/>
                <a:cs typeface="Inter"/>
              </a:rPr>
              <a:t>PREPARATION_ONLY_NOT_EXECUTED. No payment or external booking.</a:t>
            </a:r>
          </a:p>
        </p:txBody>
      </p:sp>
      <p:sp>
        <p:nvSpPr>
          <p:cNvPr id="8" name="">
            <a:extLst>
              <a:ext uri="{FF2B5EF4-FFF2-40B4-BE49-F238E27FC236}">
                <ns2:creationId id="{A420188C-6B20-404A-B77C-9301C6B2C4E5}"/>
              </a:ext>
            </a:extLst>
          </p:cNvPr>
          <p:cNvSpPr>
            <a:spLocks noGrp="1"/>
          </p:cNvSpPr>
          <p:nvPr/>
        </p:nvSpPr>
        <p:spPr>
          <a:xfrm>
            <a:off x="704850" y="6162675"/>
            <a:ext cx="10801350" cy="0"/>
          </a:xfrm>
          <a:prstGeom prst="line">
            <a:avLst/>
          </a:prstGeom>
          <a:noFill/>
          <a:ln w="6668">
            <a:solidFill>
              <a:srgbClr val="D2D2D7"/>
            </a:solidFill>
            <a:prstDash val="solid"/>
          </a:ln>
        </p:spPr>
      </p:sp>
      <p:sp>
        <p:nvSpPr>
          <p:cNvPr id="9" name="link-4-appendix">
            <a:extLst>
              <a:ext uri="{FF2B5EF4-FFF2-40B4-BE49-F238E27FC236}">
                <ns2:creationId id="{8BD5DA98-8B3A-4AFB-BA5F-8F5309508CB7}"/>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C02 / C04   Technical evidence</a:t>
            </a:r>
          </a:p>
        </p:txBody>
      </p:sp>
      <p:sp>
        <p:nvSpPr>
          <p:cNvPr id="10" name="text-4-39">
            <a:extLst>
              <a:ext uri="{FF2B5EF4-FFF2-40B4-BE49-F238E27FC236}">
                <ns2:creationId id="{416D7081-9B91-409E-9064-4B5E636E0ED5}"/>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11" name="text-4-40">
            <a:extLst>
              <a:ext uri="{FF2B5EF4-FFF2-40B4-BE49-F238E27FC236}">
                <ns2:creationId id="{BA066BCB-DE32-4708-A2D1-B0A4B1AFEE19}"/>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04</a:t>
            </a:r>
          </a:p>
        </p:txBody>
      </p:sp>
    </p:spTree>
    <p:extLst>
      <p:ext uri="{BB962C8B-B14F-4D97-AF65-F5344CB8AC3E}">
        <ns4:creationId val="120047934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text-5-41">
            <a:extLst>
              <a:ext uri="{FF2B5EF4-FFF2-40B4-BE49-F238E27FC236}">
                <ns2:creationId id="{9FA9F09D-765D-46D7-A7C3-60AAAB78C1C4}"/>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Each owner makes a current decision</a:t>
            </a:r>
          </a:p>
        </p:txBody>
      </p:sp>
      <p:sp>
        <p:nvSpPr>
          <p:cNvPr id="2" name="text-5-42">
            <a:extLst>
              <a:ext uri="{FF2B5EF4-FFF2-40B4-BE49-F238E27FC236}">
                <ns2:creationId id="{75A667B5-BA94-4FC8-8F0A-8B387FB3B311}"/>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The recommendation remains offer:0 when Bank consent is missing.</a:t>
            </a:r>
          </a:p>
        </p:txBody>
      </p:sp>
      <p:graphicFrame>
        <p:nvGraphicFramePr>
          <p:cNvPr id="13" name=""/>
          <p:cNvGraphicFramePr/>
          <p:nvPr/>
        </p:nvGraphicFramePr>
        <p:xfrm>
          <a:off x="704850" y="2619375"/>
          <a:ext cx="10782300" cy="2257425"/>
        </p:xfrm>
        <a:graphic>
          <a:graphicData uri="http://schemas.openxmlformats.org/drawingml/2006/table">
            <a:tbl>
              <a:tblPr firstRow="0" bandRow="0"/>
              <a:tblGrid>
                <a:gridCol w="3450336"/>
                <a:gridCol w="3558159"/>
                <a:gridCol w="3773805"/>
              </a:tblGrid>
              <a:tr h="457200">
                <a:tc>
                  <a:txBody>
                    <a:bodyPr>
                      <a:noAutofit/>
                    </a:bodyPr>
                    <a:lstStyle/>
                    <a:p>
                      <a:r>
                        <a:rPr sz="1650" b="1">
                          <a:solidFill>
                            <a:srgbClr val="6E6E73"/>
                          </a:solidFill>
                          <a:latin typeface="Inter"/>
                          <a:ea typeface="Inter"/>
                          <a:cs typeface="Inter"/>
                        </a:rPr>
                        <a:t>Independent owner</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With required consent</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Missing Bank consent</a:t>
                      </a:r>
                    </a:p>
                  </a:txBody>
                  <a:tcPr marL="114300" marR="114300" marT="85725" marB="85725" anchor="ctr">
                    <a:solidFill>
                      <a:srgbClr val="F5F5F7"/>
                    </a:solidFill>
                  </a:tcPr>
                </a:tc>
              </a:tr>
              <a:tr h="600075">
                <a:tc>
                  <a:txBody>
                    <a:bodyPr>
                      <a:noAutofit/>
                    </a:bodyPr>
                    <a:lstStyle/>
                    <a:p>
                      <a:r>
                        <a:rPr sz="2100" b="0">
                          <a:solidFill>
                            <a:srgbClr val="1D1D1F"/>
                          </a:solidFill>
                          <a:latin typeface="Inter"/>
                          <a:ea typeface="Inter"/>
                          <a:cs typeface="Inter"/>
                        </a:rPr>
                        <a:t>Client Root</a:t>
                      </a:r>
                    </a:p>
                  </a:txBody>
                  <a:tcPr marL="114300" marR="114300" marT="85725" marB="85725" anchor="ctr">
                    <a:solidFill>
                      <a:srgbClr val="FFFFFF"/>
                    </a:solidFill>
                  </a:tcPr>
                </a:tc>
                <a:tc>
                  <a:txBody>
                    <a:bodyPr>
                      <a:noAutofit/>
                    </a:bodyPr>
                    <a:lstStyle/>
                    <a:p>
                      <a:r>
                        <a:rPr sz="2100" b="0">
                          <a:solidFill>
                            <a:srgbClr val="1D1D1F"/>
                          </a:solidFill>
                          <a:latin typeface="Inter"/>
                          <a:ea typeface="Inter"/>
                          <a:cs typeface="Inter"/>
                        </a:rPr>
                        <a:t>ACCEPT</a:t>
                      </a:r>
                    </a:p>
                  </a:txBody>
                  <a:tcPr marL="114300" marR="114300" marT="85725" marB="85725" anchor="ctr">
                    <a:solidFill>
                      <a:srgbClr val="FFFFFF"/>
                    </a:solidFill>
                  </a:tcPr>
                </a:tc>
                <a:tc>
                  <a:txBody>
                    <a:bodyPr>
                      <a:noAutofit/>
                    </a:bodyPr>
                    <a:lstStyle/>
                    <a:p>
                      <a:r>
                        <a:rPr sz="2100" b="0">
                          <a:solidFill>
                            <a:srgbClr val="1D1D1F"/>
                          </a:solidFill>
                          <a:latin typeface="Inter"/>
                          <a:ea typeface="Inter"/>
                          <a:cs typeface="Inter"/>
                        </a:rPr>
                        <a:t>ACCEPT</a:t>
                      </a:r>
                    </a:p>
                  </a:txBody>
                  <a:tcPr marL="114300" marR="114300" marT="85725" marB="85725" anchor="ctr">
                    <a:solidFill>
                      <a:srgbClr val="FFFFFF"/>
                    </a:solidFill>
                  </a:tcPr>
                </a:tc>
              </a:tr>
              <a:tr h="600075">
                <a:tc>
                  <a:txBody>
                    <a:bodyPr>
                      <a:noAutofit/>
                    </a:bodyPr>
                    <a:lstStyle/>
                    <a:p>
                      <a:r>
                        <a:rPr sz="2100" b="0">
                          <a:solidFill>
                            <a:srgbClr val="1D1D1F"/>
                          </a:solidFill>
                          <a:latin typeface="Inter"/>
                          <a:ea typeface="Inter"/>
                          <a:cs typeface="Inter"/>
                        </a:rPr>
                        <a:t>Airline Root</a:t>
                      </a:r>
                    </a:p>
                  </a:txBody>
                  <a:tcPr marL="114300" marR="114300" marT="85725" marB="85725" anchor="ctr">
                    <a:solidFill>
                      <a:srgbClr val="FFFFFF"/>
                    </a:solidFill>
                  </a:tcPr>
                </a:tc>
                <a:tc>
                  <a:txBody>
                    <a:bodyPr>
                      <a:noAutofit/>
                    </a:bodyPr>
                    <a:lstStyle/>
                    <a:p>
                      <a:r>
                        <a:rPr sz="2100" b="0">
                          <a:solidFill>
                            <a:srgbClr val="1D1D1F"/>
                          </a:solidFill>
                          <a:latin typeface="Inter"/>
                          <a:ea typeface="Inter"/>
                          <a:cs typeface="Inter"/>
                        </a:rPr>
                        <a:t>ACCEPT</a:t>
                      </a:r>
                    </a:p>
                  </a:txBody>
                  <a:tcPr marL="114300" marR="114300" marT="85725" marB="85725" anchor="ctr">
                    <a:solidFill>
                      <a:srgbClr val="FFFFFF"/>
                    </a:solidFill>
                  </a:tcPr>
                </a:tc>
                <a:tc>
                  <a:txBody>
                    <a:bodyPr>
                      <a:noAutofit/>
                    </a:bodyPr>
                    <a:lstStyle/>
                    <a:p>
                      <a:r>
                        <a:rPr sz="2100" b="0">
                          <a:solidFill>
                            <a:srgbClr val="1D1D1F"/>
                          </a:solidFill>
                          <a:latin typeface="Inter"/>
                          <a:ea typeface="Inter"/>
                          <a:cs typeface="Inter"/>
                        </a:rPr>
                        <a:t>ACCEPT</a:t>
                      </a:r>
                    </a:p>
                  </a:txBody>
                  <a:tcPr marL="114300" marR="114300" marT="85725" marB="85725" anchor="ctr">
                    <a:solidFill>
                      <a:srgbClr val="FFFFFF"/>
                    </a:solidFill>
                  </a:tcPr>
                </a:tc>
              </a:tr>
              <a:tr h="600075">
                <a:tc>
                  <a:txBody>
                    <a:bodyPr>
                      <a:noAutofit/>
                    </a:bodyPr>
                    <a:lstStyle/>
                    <a:p>
                      <a:r>
                        <a:rPr sz="2100" b="0">
                          <a:solidFill>
                            <a:srgbClr val="1D1D1F"/>
                          </a:solidFill>
                          <a:latin typeface="Inter"/>
                          <a:ea typeface="Inter"/>
                          <a:cs typeface="Inter"/>
                        </a:rPr>
                        <a:t>Bank Root</a:t>
                      </a:r>
                    </a:p>
                  </a:txBody>
                  <a:tcPr marL="114300" marR="114300" marT="85725" marB="85725" anchor="ctr">
                    <a:solidFill>
                      <a:srgbClr val="FFFFFF"/>
                    </a:solidFill>
                  </a:tcPr>
                </a:tc>
                <a:tc>
                  <a:txBody>
                    <a:bodyPr>
                      <a:noAutofit/>
                    </a:bodyPr>
                    <a:lstStyle/>
                    <a:p>
                      <a:r>
                        <a:rPr sz="2100" b="0">
                          <a:solidFill>
                            <a:srgbClr val="1D1D1F"/>
                          </a:solidFill>
                          <a:latin typeface="Inter"/>
                          <a:ea typeface="Inter"/>
                          <a:cs typeface="Inter"/>
                        </a:rPr>
                        <a:t>ACCEPT</a:t>
                      </a:r>
                    </a:p>
                  </a:txBody>
                  <a:tcPr marL="114300" marR="114300" marT="85725" marB="85725" anchor="ctr">
                    <a:solidFill>
                      <a:srgbClr val="FFFFFF"/>
                    </a:solidFill>
                  </a:tcPr>
                </a:tc>
                <a:tc>
                  <a:txBody>
                    <a:bodyPr>
                      <a:noAutofit/>
                    </a:bodyPr>
                    <a:lstStyle/>
                    <a:p>
                      <a:r>
                        <a:rPr sz="2100" b="0">
                          <a:solidFill>
                            <a:srgbClr val="1D1D1F"/>
                          </a:solidFill>
                          <a:latin typeface="Inter"/>
                          <a:ea typeface="Inter"/>
                          <a:cs typeface="Inter"/>
                        </a:rPr>
                        <a:t>NEEDS_USER</a:t>
                      </a:r>
                    </a:p>
                  </a:txBody>
                  <a:tcPr marL="114300" marR="114300" marT="85725" marB="85725" anchor="ctr">
                    <a:solidFill>
                      <a:srgbClr val="FFFFFF"/>
                    </a:solidFill>
                  </a:tcPr>
                </a:tc>
              </a:tr>
            </a:tbl>
          </a:graphicData>
        </a:graphic>
      </p:graphicFrame>
      <p:sp>
        <p:nvSpPr>
          <p:cNvPr id="4" name="text-5-44">
            <a:extLst>
              <a:ext uri="{FF2B5EF4-FFF2-40B4-BE49-F238E27FC236}">
                <ns2:creationId id="{D4747825-629B-424F-8FE1-2890EBCD6E19}"/>
              </a:ext>
            </a:extLst>
          </p:cNvPr>
          <p:cNvSpPr>
            <a:spLocks noGrp="1"/>
          </p:cNvSpPr>
          <p:nvPr/>
        </p:nvSpPr>
        <p:spPr>
          <a:xfrm>
            <a:off x="714375" y="5305425"/>
            <a:ext cx="4705350" cy="495300"/>
          </a:xfrm>
          <a:prstGeom prst="rect">
            <a:avLst/>
          </a:prstGeom>
          <a:noFill/>
          <a:ln w="0">
            <a:noFill/>
          </a:ln>
        </p:spPr>
        <p:txBody>
          <a:bodyPr anchor="t" lIns="0" rIns="0" tIns="0" bIns="0">
            <a:noAutofit/>
          </a:bodyPr>
          <a:lstStyle/>
          <a:p>
            <a:pPr algn="l">
              <a:defRPr sz="2325" b="1">
                <a:solidFill>
                  <a:srgbClr val="0071E3"/>
                </a:solidFill>
                <a:latin typeface="Inter"/>
                <a:ea typeface="Inter"/>
                <a:cs typeface="Inter"/>
              </a:defRPr>
            </a:pPr>
            <a:r>
              <a:rPr sz="2325" b="1">
                <a:solidFill>
                  <a:srgbClr val="0071E3"/>
                </a:solidFill>
                <a:latin typeface="Inter"/>
                <a:ea typeface="Inter"/>
                <a:cs typeface="Inter"/>
              </a:rPr>
              <a:t>Prepared offer:0</a:t>
            </a:r>
          </a:p>
        </p:txBody>
      </p:sp>
      <p:sp>
        <p:nvSpPr>
          <p:cNvPr id="5" name="text-5-45">
            <a:extLst>
              <a:ext uri="{FF2B5EF4-FFF2-40B4-BE49-F238E27FC236}">
                <ns2:creationId id="{00F949A2-A14A-4856-B56B-F7E878025B7B}"/>
              </a:ext>
            </a:extLst>
          </p:cNvPr>
          <p:cNvSpPr>
            <a:spLocks noGrp="1"/>
          </p:cNvSpPr>
          <p:nvPr/>
        </p:nvSpPr>
        <p:spPr>
          <a:xfrm>
            <a:off x="6438900" y="5267325"/>
            <a:ext cx="5048250" cy="495300"/>
          </a:xfrm>
          <a:prstGeom prst="rect">
            <a:avLst/>
          </a:prstGeom>
          <a:noFill/>
          <a:ln w="0">
            <a:noFill/>
          </a:ln>
        </p:spPr>
        <p:txBody>
          <a:bodyPr anchor="t" lIns="0" rIns="0" tIns="0" bIns="0">
            <a:noAutofit/>
          </a:bodyPr>
          <a:lstStyle/>
          <a:p>
            <a:pPr algn="l">
              <a:defRPr sz="2325" b="1">
                <a:solidFill>
                  <a:srgbClr val="9B342F"/>
                </a:solidFill>
                <a:latin typeface="Inter"/>
                <a:ea typeface="Inter"/>
                <a:cs typeface="Inter"/>
              </a:defRPr>
            </a:pPr>
            <a:r>
              <a:rPr sz="2325" b="1">
                <a:solidFill>
                  <a:srgbClr val="9B342F"/>
                </a:solidFill>
                <a:latin typeface="Inter"/>
                <a:ea typeface="Inter"/>
                <a:cs typeface="Inter"/>
              </a:rPr>
              <a:t>MIXED</a:t>
            </a:r>
          </a:p>
        </p:txBody>
      </p:sp>
      <p:sp>
        <p:nvSpPr>
          <p:cNvPr id="6" name="text-5-46">
            <a:extLst>
              <a:ext uri="{FF2B5EF4-FFF2-40B4-BE49-F238E27FC236}">
                <ns2:creationId id="{3246F995-FD5D-409F-B83C-39EE4EBB0C14}"/>
              </a:ext>
            </a:extLst>
          </p:cNvPr>
          <p:cNvSpPr>
            <a:spLocks noGrp="1"/>
          </p:cNvSpPr>
          <p:nvPr/>
        </p:nvSpPr>
        <p:spPr>
          <a:xfrm>
            <a:off x="6438900" y="5686425"/>
            <a:ext cx="5048250" cy="419100"/>
          </a:xfrm>
          <a:prstGeom prst="rect">
            <a:avLst/>
          </a:prstGeom>
          <a:noFill/>
          <a:ln w="0">
            <a:noFill/>
          </a:ln>
        </p:spPr>
        <p:txBody>
          <a:bodyPr anchor="t" lIns="0" rIns="0" tIns="0" bIns="0">
            <a:noAutofit/>
          </a:bodyPr>
          <a:lstStyle/>
          <a:p>
            <a:pPr algn="l">
              <a:defRPr sz="1950" b="0">
                <a:solidFill>
                  <a:srgbClr val="1D1D1F"/>
                </a:solidFill>
                <a:latin typeface="Inter"/>
                <a:ea typeface="Inter"/>
                <a:cs typeface="Inter"/>
              </a:defRPr>
            </a:pPr>
            <a:r>
              <a:rPr sz="1950" b="0">
                <a:solidFill>
                  <a:srgbClr val="1D1D1F"/>
                </a:solidFill>
                <a:latin typeface="Inter"/>
                <a:ea typeface="Inter"/>
                <a:cs typeface="Inter"/>
              </a:rPr>
              <a:t>No domain continuation</a:t>
            </a:r>
          </a:p>
        </p:txBody>
      </p:sp>
      <p:sp>
        <p:nvSpPr>
          <p:cNvPr id="7" name="">
            <a:extLst>
              <a:ext uri="{FF2B5EF4-FFF2-40B4-BE49-F238E27FC236}">
                <ns2:creationId id="{107FA697-5990-41E2-AAF6-966DE0A930DA}"/>
              </a:ext>
            </a:extLst>
          </p:cNvPr>
          <p:cNvSpPr>
            <a:spLocks noGrp="1"/>
          </p:cNvSpPr>
          <p:nvPr/>
        </p:nvSpPr>
        <p:spPr>
          <a:xfrm>
            <a:off x="704850" y="6162675"/>
            <a:ext cx="10801350" cy="0"/>
          </a:xfrm>
          <a:prstGeom prst="line">
            <a:avLst/>
          </a:prstGeom>
          <a:noFill/>
          <a:ln w="6668">
            <a:solidFill>
              <a:srgbClr val="D2D2D7"/>
            </a:solidFill>
            <a:prstDash val="solid"/>
          </a:ln>
        </p:spPr>
      </p:sp>
      <p:sp>
        <p:nvSpPr>
          <p:cNvPr id="8" name="link-5-appendix">
            <a:extLst>
              <a:ext uri="{FF2B5EF4-FFF2-40B4-BE49-F238E27FC236}">
                <ns2:creationId id="{FDC83124-6910-4EAA-AD9B-893F0E65D58A}"/>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C03   Technical evidence</a:t>
            </a:r>
          </a:p>
        </p:txBody>
      </p:sp>
      <p:sp>
        <p:nvSpPr>
          <p:cNvPr id="9" name="text-5-48">
            <a:extLst>
              <a:ext uri="{FF2B5EF4-FFF2-40B4-BE49-F238E27FC236}">
                <ns2:creationId id="{F8E95EBF-76FE-432C-BF32-2121866C7385}"/>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10" name="text-5-49">
            <a:extLst>
              <a:ext uri="{FF2B5EF4-FFF2-40B4-BE49-F238E27FC236}">
                <ns2:creationId id="{16AE7C33-7635-4CE5-9DFF-42A3F92F59C9}"/>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05</a:t>
            </a:r>
          </a:p>
        </p:txBody>
      </p:sp>
    </p:spTree>
    <p:extLst>
      <p:ext uri="{BB962C8B-B14F-4D97-AF65-F5344CB8AC3E}">
        <ns4:creationId val="889989256"/>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33" name="text-6-50">
            <a:extLst>
              <a:ext uri="{FF2B5EF4-FFF2-40B4-BE49-F238E27FC236}">
                <ns2:creationId id="{B924E75C-A1D3-4CB1-8C30-8BE9231EDD7C}"/>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Nine work units remain nine work units</a:t>
            </a:r>
          </a:p>
        </p:txBody>
      </p:sp>
      <p:sp>
        <p:nvSpPr>
          <p:cNvPr id="2" name="text-6-51">
            <a:extLst>
              <a:ext uri="{FF2B5EF4-FFF2-40B4-BE49-F238E27FC236}">
                <ns2:creationId id="{3D0EA638-495A-4CF1-BC75-636B05E5233E}"/>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One local task has a fixed cap of nine native Work dispatch units.</a:t>
            </a:r>
          </a:p>
        </p:txBody>
      </p:sp>
      <p:sp>
        <p:nvSpPr>
          <p:cNvPr id="3" name="">
            <a:extLst>
              <a:ext uri="{FF2B5EF4-FFF2-40B4-BE49-F238E27FC236}">
                <ns2:creationId id="{FD679153-4FB0-4081-8B11-B5DF4EDEFCBD}"/>
              </a:ext>
            </a:extLst>
          </p:cNvPr>
          <p:cNvSpPr>
            <a:spLocks noGrp="1"/>
          </p:cNvSpPr>
          <p:nvPr/>
        </p:nvSpPr>
        <p:spPr>
          <a:xfrm>
            <a:off x="704850" y="2886075"/>
            <a:ext cx="1114425" cy="1066800"/>
          </a:xfrm>
          <a:prstGeom prst="rect">
            <a:avLst/>
          </a:prstGeom>
          <a:solidFill>
            <a:srgbClr val="1D1D1F"/>
          </a:solidFill>
          <a:ln w="0">
            <a:noFill/>
          </a:ln>
        </p:spPr>
      </p:sp>
      <p:sp>
        <p:nvSpPr>
          <p:cNvPr id="4" name="text-6-52">
            <a:extLst>
              <a:ext uri="{FF2B5EF4-FFF2-40B4-BE49-F238E27FC236}">
                <ns2:creationId id="{C1805113-EF92-4E95-A1D5-73D37B579AD1}"/>
              </a:ext>
            </a:extLst>
          </p:cNvPr>
          <p:cNvSpPr>
            <a:spLocks noGrp="1"/>
          </p:cNvSpPr>
          <p:nvPr/>
        </p:nvSpPr>
        <p:spPr>
          <a:xfrm>
            <a:off x="80010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1</a:t>
            </a:r>
          </a:p>
        </p:txBody>
      </p:sp>
      <p:sp>
        <p:nvSpPr>
          <p:cNvPr id="5" name="">
            <a:extLst>
              <a:ext uri="{FF2B5EF4-FFF2-40B4-BE49-F238E27FC236}">
                <ns2:creationId id="{C4B5BE13-368F-4015-91E1-DF0560C480CA}"/>
              </a:ext>
            </a:extLst>
          </p:cNvPr>
          <p:cNvSpPr>
            <a:spLocks noGrp="1"/>
          </p:cNvSpPr>
          <p:nvPr/>
        </p:nvSpPr>
        <p:spPr>
          <a:xfrm>
            <a:off x="1905000" y="2886075"/>
            <a:ext cx="1114425" cy="1066800"/>
          </a:xfrm>
          <a:prstGeom prst="rect">
            <a:avLst/>
          </a:prstGeom>
          <a:solidFill>
            <a:srgbClr val="0071E3"/>
          </a:solidFill>
          <a:ln w="0">
            <a:noFill/>
          </a:ln>
        </p:spPr>
      </p:sp>
      <p:sp>
        <p:nvSpPr>
          <p:cNvPr id="6" name="text-6-53">
            <a:extLst>
              <a:ext uri="{FF2B5EF4-FFF2-40B4-BE49-F238E27FC236}">
                <ns2:creationId id="{08513748-8755-45A8-BC3B-75A2F6BD6293}"/>
              </a:ext>
            </a:extLst>
          </p:cNvPr>
          <p:cNvSpPr>
            <a:spLocks noGrp="1"/>
          </p:cNvSpPr>
          <p:nvPr/>
        </p:nvSpPr>
        <p:spPr>
          <a:xfrm>
            <a:off x="200025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2</a:t>
            </a:r>
          </a:p>
        </p:txBody>
      </p:sp>
      <p:sp>
        <p:nvSpPr>
          <p:cNvPr id="7" name="">
            <a:extLst>
              <a:ext uri="{FF2B5EF4-FFF2-40B4-BE49-F238E27FC236}">
                <ns2:creationId id="{70B77282-FCB3-485C-9AC0-6E599F257EA7}"/>
              </a:ext>
            </a:extLst>
          </p:cNvPr>
          <p:cNvSpPr>
            <a:spLocks noGrp="1"/>
          </p:cNvSpPr>
          <p:nvPr/>
        </p:nvSpPr>
        <p:spPr>
          <a:xfrm>
            <a:off x="3105150" y="2886075"/>
            <a:ext cx="1114425" cy="1066800"/>
          </a:xfrm>
          <a:prstGeom prst="rect">
            <a:avLst/>
          </a:prstGeom>
          <a:solidFill>
            <a:srgbClr val="0071E3"/>
          </a:solidFill>
          <a:ln w="0">
            <a:noFill/>
          </a:ln>
        </p:spPr>
      </p:sp>
      <p:sp>
        <p:nvSpPr>
          <p:cNvPr id="8" name="text-6-54">
            <a:extLst>
              <a:ext uri="{FF2B5EF4-FFF2-40B4-BE49-F238E27FC236}">
                <ns2:creationId id="{F95D3E3B-7197-484D-B191-5752E2E61C14}"/>
              </a:ext>
            </a:extLst>
          </p:cNvPr>
          <p:cNvSpPr>
            <a:spLocks noGrp="1"/>
          </p:cNvSpPr>
          <p:nvPr/>
        </p:nvSpPr>
        <p:spPr>
          <a:xfrm>
            <a:off x="320040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3</a:t>
            </a:r>
          </a:p>
        </p:txBody>
      </p:sp>
      <p:sp>
        <p:nvSpPr>
          <p:cNvPr id="9" name="">
            <a:extLst>
              <a:ext uri="{FF2B5EF4-FFF2-40B4-BE49-F238E27FC236}">
                <ns2:creationId id="{F0F2B23E-C870-42D6-807C-F3052FC5BA40}"/>
              </a:ext>
            </a:extLst>
          </p:cNvPr>
          <p:cNvSpPr>
            <a:spLocks noGrp="1"/>
          </p:cNvSpPr>
          <p:nvPr/>
        </p:nvSpPr>
        <p:spPr>
          <a:xfrm>
            <a:off x="4305300" y="2886075"/>
            <a:ext cx="1114425" cy="1066800"/>
          </a:xfrm>
          <a:prstGeom prst="rect">
            <a:avLst/>
          </a:prstGeom>
          <a:solidFill>
            <a:srgbClr val="0071E3"/>
          </a:solidFill>
          <a:ln w="0">
            <a:noFill/>
          </a:ln>
        </p:spPr>
      </p:sp>
      <p:sp>
        <p:nvSpPr>
          <p:cNvPr id="10" name="text-6-55">
            <a:extLst>
              <a:ext uri="{FF2B5EF4-FFF2-40B4-BE49-F238E27FC236}">
                <ns2:creationId id="{24F8B7B4-F0E4-44B0-9C42-C784A814FC9B}"/>
              </a:ext>
            </a:extLst>
          </p:cNvPr>
          <p:cNvSpPr>
            <a:spLocks noGrp="1"/>
          </p:cNvSpPr>
          <p:nvPr/>
        </p:nvSpPr>
        <p:spPr>
          <a:xfrm>
            <a:off x="440055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4</a:t>
            </a:r>
          </a:p>
        </p:txBody>
      </p:sp>
      <p:sp>
        <p:nvSpPr>
          <p:cNvPr id="11" name="">
            <a:extLst>
              <a:ext uri="{FF2B5EF4-FFF2-40B4-BE49-F238E27FC236}">
                <ns2:creationId id="{8B278C94-6CFA-45AE-9005-92CC99FD6F89}"/>
              </a:ext>
            </a:extLst>
          </p:cNvPr>
          <p:cNvSpPr>
            <a:spLocks noGrp="1"/>
          </p:cNvSpPr>
          <p:nvPr/>
        </p:nvSpPr>
        <p:spPr>
          <a:xfrm>
            <a:off x="5505450" y="2886075"/>
            <a:ext cx="1114425" cy="1066800"/>
          </a:xfrm>
          <a:prstGeom prst="rect">
            <a:avLst/>
          </a:prstGeom>
          <a:solidFill>
            <a:srgbClr val="0071E3"/>
          </a:solidFill>
          <a:ln w="0">
            <a:noFill/>
          </a:ln>
        </p:spPr>
      </p:sp>
      <p:sp>
        <p:nvSpPr>
          <p:cNvPr id="12" name="text-6-56">
            <a:extLst>
              <a:ext uri="{FF2B5EF4-FFF2-40B4-BE49-F238E27FC236}">
                <ns2:creationId id="{67934313-6479-4BB4-892B-9D2BECDBF95E}"/>
              </a:ext>
            </a:extLst>
          </p:cNvPr>
          <p:cNvSpPr>
            <a:spLocks noGrp="1"/>
          </p:cNvSpPr>
          <p:nvPr/>
        </p:nvSpPr>
        <p:spPr>
          <a:xfrm>
            <a:off x="560070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5</a:t>
            </a:r>
          </a:p>
        </p:txBody>
      </p:sp>
      <p:sp>
        <p:nvSpPr>
          <p:cNvPr id="13" name="">
            <a:extLst>
              <a:ext uri="{FF2B5EF4-FFF2-40B4-BE49-F238E27FC236}">
                <ns2:creationId id="{12EF8AA5-9127-4D3D-99D6-AAF5C43D5001}"/>
              </a:ext>
            </a:extLst>
          </p:cNvPr>
          <p:cNvSpPr>
            <a:spLocks noGrp="1"/>
          </p:cNvSpPr>
          <p:nvPr/>
        </p:nvSpPr>
        <p:spPr>
          <a:xfrm>
            <a:off x="6705600" y="2886075"/>
            <a:ext cx="1114425" cy="1066800"/>
          </a:xfrm>
          <a:prstGeom prst="rect">
            <a:avLst/>
          </a:prstGeom>
          <a:solidFill>
            <a:srgbClr val="0071E3"/>
          </a:solidFill>
          <a:ln w="0">
            <a:noFill/>
          </a:ln>
        </p:spPr>
      </p:sp>
      <p:sp>
        <p:nvSpPr>
          <p:cNvPr id="14" name="text-6-57">
            <a:extLst>
              <a:ext uri="{FF2B5EF4-FFF2-40B4-BE49-F238E27FC236}">
                <ns2:creationId id="{59D7DEF8-DCC0-4990-AC1F-2189CD2E34CC}"/>
              </a:ext>
            </a:extLst>
          </p:cNvPr>
          <p:cNvSpPr>
            <a:spLocks noGrp="1"/>
          </p:cNvSpPr>
          <p:nvPr/>
        </p:nvSpPr>
        <p:spPr>
          <a:xfrm>
            <a:off x="680085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6</a:t>
            </a:r>
          </a:p>
        </p:txBody>
      </p:sp>
      <p:sp>
        <p:nvSpPr>
          <p:cNvPr id="15" name="">
            <a:extLst>
              <a:ext uri="{FF2B5EF4-FFF2-40B4-BE49-F238E27FC236}">
                <ns2:creationId id="{2D9A5998-02A7-4910-AD41-0F6A50CD5670}"/>
              </a:ext>
            </a:extLst>
          </p:cNvPr>
          <p:cNvSpPr>
            <a:spLocks noGrp="1"/>
          </p:cNvSpPr>
          <p:nvPr/>
        </p:nvSpPr>
        <p:spPr>
          <a:xfrm>
            <a:off x="7905750" y="2886075"/>
            <a:ext cx="1114425" cy="1066800"/>
          </a:xfrm>
          <a:prstGeom prst="rect">
            <a:avLst/>
          </a:prstGeom>
          <a:solidFill>
            <a:srgbClr val="0071E3"/>
          </a:solidFill>
          <a:ln w="0">
            <a:noFill/>
          </a:ln>
        </p:spPr>
      </p:sp>
      <p:sp>
        <p:nvSpPr>
          <p:cNvPr id="16" name="text-6-58">
            <a:extLst>
              <a:ext uri="{FF2B5EF4-FFF2-40B4-BE49-F238E27FC236}">
                <ns2:creationId id="{CBEE2251-67FC-4958-9F7E-63EC84B21648}"/>
              </a:ext>
            </a:extLst>
          </p:cNvPr>
          <p:cNvSpPr>
            <a:spLocks noGrp="1"/>
          </p:cNvSpPr>
          <p:nvPr/>
        </p:nvSpPr>
        <p:spPr>
          <a:xfrm>
            <a:off x="800100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7</a:t>
            </a:r>
          </a:p>
        </p:txBody>
      </p:sp>
      <p:sp>
        <p:nvSpPr>
          <p:cNvPr id="17" name="">
            <a:extLst>
              <a:ext uri="{FF2B5EF4-FFF2-40B4-BE49-F238E27FC236}">
                <ns2:creationId id="{F4E8103D-9CDF-454D-888A-93DA6B5F7313}"/>
              </a:ext>
            </a:extLst>
          </p:cNvPr>
          <p:cNvSpPr>
            <a:spLocks noGrp="1"/>
          </p:cNvSpPr>
          <p:nvPr/>
        </p:nvSpPr>
        <p:spPr>
          <a:xfrm>
            <a:off x="9105900" y="2886075"/>
            <a:ext cx="1114425" cy="1066800"/>
          </a:xfrm>
          <a:prstGeom prst="rect">
            <a:avLst/>
          </a:prstGeom>
          <a:solidFill>
            <a:srgbClr val="0071E3"/>
          </a:solidFill>
          <a:ln w="0">
            <a:noFill/>
          </a:ln>
        </p:spPr>
      </p:sp>
      <p:sp>
        <p:nvSpPr>
          <p:cNvPr id="18" name="text-6-59">
            <a:extLst>
              <a:ext uri="{FF2B5EF4-FFF2-40B4-BE49-F238E27FC236}">
                <ns2:creationId id="{882BCEF7-B7E2-4354-A288-87DFBF5453FC}"/>
              </a:ext>
            </a:extLst>
          </p:cNvPr>
          <p:cNvSpPr>
            <a:spLocks noGrp="1"/>
          </p:cNvSpPr>
          <p:nvPr/>
        </p:nvSpPr>
        <p:spPr>
          <a:xfrm>
            <a:off x="920115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8</a:t>
            </a:r>
          </a:p>
        </p:txBody>
      </p:sp>
      <p:sp>
        <p:nvSpPr>
          <p:cNvPr id="19" name="">
            <a:extLst>
              <a:ext uri="{FF2B5EF4-FFF2-40B4-BE49-F238E27FC236}">
                <ns2:creationId id="{6E8279D1-6118-452C-AA9D-D1B3B228E243}"/>
              </a:ext>
            </a:extLst>
          </p:cNvPr>
          <p:cNvSpPr>
            <a:spLocks noGrp="1"/>
          </p:cNvSpPr>
          <p:nvPr/>
        </p:nvSpPr>
        <p:spPr>
          <a:xfrm>
            <a:off x="10306050" y="2886075"/>
            <a:ext cx="1114425" cy="1066800"/>
          </a:xfrm>
          <a:prstGeom prst="rect">
            <a:avLst/>
          </a:prstGeom>
          <a:solidFill>
            <a:srgbClr val="1D1D1F"/>
          </a:solidFill>
          <a:ln w="0">
            <a:noFill/>
          </a:ln>
        </p:spPr>
      </p:sp>
      <p:sp>
        <p:nvSpPr>
          <p:cNvPr id="20" name="text-6-60">
            <a:extLst>
              <a:ext uri="{FF2B5EF4-FFF2-40B4-BE49-F238E27FC236}">
                <ns2:creationId id="{F14B1B17-2075-4C60-B075-BA81F22B2A87}"/>
              </a:ext>
            </a:extLst>
          </p:cNvPr>
          <p:cNvSpPr>
            <a:spLocks noGrp="1"/>
          </p:cNvSpPr>
          <p:nvPr/>
        </p:nvSpPr>
        <p:spPr>
          <a:xfrm>
            <a:off x="10401300" y="3124200"/>
            <a:ext cx="923925" cy="619125"/>
          </a:xfrm>
          <a:prstGeom prst="rect">
            <a:avLst/>
          </a:prstGeom>
          <a:noFill/>
          <a:ln w="0">
            <a:noFill/>
          </a:ln>
        </p:spPr>
        <p:txBody>
          <a:bodyPr anchor="t" lIns="0" rIns="0" tIns="0" bIns="0">
            <a:noAutofit/>
          </a:bodyPr>
          <a:lstStyle/>
          <a:p>
            <a:pPr algn="ctr">
              <a:defRPr sz="3150" b="1">
                <a:solidFill>
                  <a:srgbClr val="FFFFFF"/>
                </a:solidFill>
                <a:latin typeface="Inter"/>
                <a:ea typeface="Inter"/>
                <a:cs typeface="Inter"/>
              </a:defRPr>
            </a:pPr>
            <a:r>
              <a:rPr sz="3150" b="1">
                <a:solidFill>
                  <a:srgbClr val="FFFFFF"/>
                </a:solidFill>
                <a:latin typeface="Inter"/>
                <a:ea typeface="Inter"/>
                <a:cs typeface="Inter"/>
              </a:rPr>
              <a:t>9</a:t>
            </a:r>
          </a:p>
        </p:txBody>
      </p:sp>
      <p:sp>
        <p:nvSpPr>
          <p:cNvPr id="21" name="text-6-61">
            <a:extLst>
              <a:ext uri="{FF2B5EF4-FFF2-40B4-BE49-F238E27FC236}">
                <ns2:creationId id="{D15B0E6F-7C8B-47E7-973C-20BB19931B43}"/>
              </a:ext>
            </a:extLst>
          </p:cNvPr>
          <p:cNvSpPr>
            <a:spLocks noGrp="1"/>
          </p:cNvSpPr>
          <p:nvPr/>
        </p:nvSpPr>
        <p:spPr>
          <a:xfrm>
            <a:off x="704850" y="4191000"/>
            <a:ext cx="1962150" cy="476250"/>
          </a:xfrm>
          <a:prstGeom prst="rect">
            <a:avLst/>
          </a:prstGeom>
          <a:noFill/>
          <a:ln w="0">
            <a:noFill/>
          </a:ln>
        </p:spPr>
        <p:txBody>
          <a:bodyPr anchor="t" lIns="0" rIns="0" tIns="0" bIns="0">
            <a:noAutofit/>
          </a:bodyPr>
          <a:lstStyle/>
          <a:p>
            <a:pPr algn="l">
              <a:defRPr sz="2325" b="1">
                <a:solidFill>
                  <a:srgbClr val="1D1D1F"/>
                </a:solidFill>
                <a:latin typeface="Inter"/>
                <a:ea typeface="Inter"/>
                <a:cs typeface="Inter"/>
              </a:defRPr>
            </a:pPr>
            <a:r>
              <a:rPr sz="2325" b="1">
                <a:solidFill>
                  <a:srgbClr val="1D1D1F"/>
                </a:solidFill>
                <a:latin typeface="Inter"/>
                <a:ea typeface="Inter"/>
                <a:cs typeface="Inter"/>
              </a:rPr>
              <a:t>1 spent</a:t>
            </a:r>
          </a:p>
        </p:txBody>
      </p:sp>
      <p:sp>
        <p:nvSpPr>
          <p:cNvPr id="22" name="text-6-62">
            <a:extLst>
              <a:ext uri="{FF2B5EF4-FFF2-40B4-BE49-F238E27FC236}">
                <ns2:creationId id="{CB8E7E94-2EB0-4A58-AFB5-B8A7FFBFFF9C}"/>
              </a:ext>
            </a:extLst>
          </p:cNvPr>
          <p:cNvSpPr>
            <a:spLocks noGrp="1"/>
          </p:cNvSpPr>
          <p:nvPr/>
        </p:nvSpPr>
        <p:spPr>
          <a:xfrm>
            <a:off x="2724150" y="4191000"/>
            <a:ext cx="6305550" cy="476250"/>
          </a:xfrm>
          <a:prstGeom prst="rect">
            <a:avLst/>
          </a:prstGeom>
          <a:noFill/>
          <a:ln w="0">
            <a:noFill/>
          </a:ln>
        </p:spPr>
        <p:txBody>
          <a:bodyPr anchor="t" lIns="0" rIns="0" tIns="0" bIns="0">
            <a:noAutofit/>
          </a:bodyPr>
          <a:lstStyle/>
          <a:p>
            <a:pPr algn="ctr">
              <a:defRPr sz="2325" b="1">
                <a:solidFill>
                  <a:srgbClr val="0071E3"/>
                </a:solidFill>
                <a:latin typeface="Inter"/>
                <a:ea typeface="Inter"/>
                <a:cs typeface="Inter"/>
              </a:defRPr>
            </a:pPr>
            <a:r>
              <a:rPr sz="2325" b="1">
                <a:solidFill>
                  <a:srgbClr val="0071E3"/>
                </a:solidFill>
                <a:latin typeface="Inter"/>
                <a:ea typeface="Inter"/>
                <a:cs typeface="Inter"/>
              </a:rPr>
              <a:t>7 discretionary checks</a:t>
            </a:r>
          </a:p>
        </p:txBody>
      </p:sp>
      <p:sp>
        <p:nvSpPr>
          <p:cNvPr id="23" name="text-6-63">
            <a:extLst>
              <a:ext uri="{FF2B5EF4-FFF2-40B4-BE49-F238E27FC236}">
                <ns2:creationId id="{4216A386-B859-4103-92EE-77827C6F9EF7}"/>
              </a:ext>
            </a:extLst>
          </p:cNvPr>
          <p:cNvSpPr>
            <a:spLocks noGrp="1"/>
          </p:cNvSpPr>
          <p:nvPr/>
        </p:nvSpPr>
        <p:spPr>
          <a:xfrm>
            <a:off x="9458325" y="4191000"/>
            <a:ext cx="2047875" cy="476250"/>
          </a:xfrm>
          <a:prstGeom prst="rect">
            <a:avLst/>
          </a:prstGeom>
          <a:noFill/>
          <a:ln w="0">
            <a:noFill/>
          </a:ln>
        </p:spPr>
        <p:txBody>
          <a:bodyPr anchor="t" lIns="0" rIns="0" tIns="0" bIns="0">
            <a:noAutofit/>
          </a:bodyPr>
          <a:lstStyle/>
          <a:p>
            <a:pPr algn="r">
              <a:defRPr sz="2325" b="1">
                <a:solidFill>
                  <a:srgbClr val="1D1D1F"/>
                </a:solidFill>
                <a:latin typeface="Inter"/>
                <a:ea typeface="Inter"/>
                <a:cs typeface="Inter"/>
              </a:defRPr>
            </a:pPr>
            <a:r>
              <a:rPr sz="2325" b="1">
                <a:solidFill>
                  <a:srgbClr val="1D1D1F"/>
                </a:solidFill>
                <a:latin typeface="Inter"/>
                <a:ea typeface="Inter"/>
                <a:cs typeface="Inter"/>
              </a:rPr>
              <a:t>1 reserved</a:t>
            </a:r>
          </a:p>
        </p:txBody>
      </p:sp>
      <p:sp>
        <p:nvSpPr>
          <p:cNvPr id="24" name="text-6-64">
            <a:extLst>
              <a:ext uri="{FF2B5EF4-FFF2-40B4-BE49-F238E27FC236}">
                <ns2:creationId id="{8A9A1C86-385A-4F52-B6CA-A2A5AA8B044C}"/>
              </a:ext>
            </a:extLst>
          </p:cNvPr>
          <p:cNvSpPr>
            <a:spLocks noGrp="1"/>
          </p:cNvSpPr>
          <p:nvPr/>
        </p:nvSpPr>
        <p:spPr>
          <a:xfrm>
            <a:off x="704850" y="4772025"/>
            <a:ext cx="2466975" cy="657225"/>
          </a:xfrm>
          <a:prstGeom prst="rect">
            <a:avLst/>
          </a:prstGeom>
          <a:noFill/>
          <a:ln w="0">
            <a:noFill/>
          </a:ln>
        </p:spPr>
        <p:txBody>
          <a:bodyPr anchor="t" lIns="0" rIns="0" tIns="0" bIns="0">
            <a:noAutofit/>
          </a:bodyPr>
          <a:lstStyle/>
          <a:p>
            <a:pPr algn="l">
              <a:defRPr sz="1725" b="0">
                <a:solidFill>
                  <a:srgbClr val="6E6E73"/>
                </a:solidFill>
                <a:latin typeface="Inter"/>
                <a:ea typeface="Inter"/>
                <a:cs typeface="Inter"/>
              </a:defRPr>
            </a:pPr>
            <a:r>
              <a:rPr sz="1725" b="0">
                <a:solidFill>
                  <a:srgbClr val="6E6E73"/>
                </a:solidFill>
                <a:latin typeface="Inter"/>
                <a:ea typeface="Inter"/>
                <a:cs typeface="Inter"/>
              </a:rPr>
              <a:t>initial_constraint</a:t>
            </a:r>
          </a:p>
        </p:txBody>
      </p:sp>
      <p:sp>
        <p:nvSpPr>
          <p:cNvPr id="25" name="text-6-65">
            <a:extLst>
              <a:ext uri="{FF2B5EF4-FFF2-40B4-BE49-F238E27FC236}">
                <ns2:creationId id="{A5A76CAC-6791-4F11-B6FB-BE42E01921E9}"/>
              </a:ext>
            </a:extLst>
          </p:cNvPr>
          <p:cNvSpPr>
            <a:spLocks noGrp="1"/>
          </p:cNvSpPr>
          <p:nvPr/>
        </p:nvSpPr>
        <p:spPr>
          <a:xfrm>
            <a:off x="3209925" y="4924425"/>
            <a:ext cx="5924550" cy="523875"/>
          </a:xfrm>
          <a:prstGeom prst="rect">
            <a:avLst/>
          </a:prstGeom>
          <a:noFill/>
          <a:ln w="0">
            <a:noFill/>
          </a:ln>
        </p:spPr>
        <p:txBody>
          <a:bodyPr anchor="t" lIns="0" rIns="0" tIns="0" bIns="0">
            <a:noAutofit/>
          </a:bodyPr>
          <a:lstStyle/>
          <a:p>
            <a:pPr algn="ctr">
              <a:defRPr sz="1950" b="0">
                <a:solidFill>
                  <a:srgbClr val="1D1D1F"/>
                </a:solidFill>
                <a:latin typeface="Inter"/>
                <a:ea typeface="Inter"/>
                <a:cs typeface="Inter"/>
              </a:defRPr>
            </a:pPr>
            <a:r>
              <a:rPr sz="1950" b="0">
                <a:solidFill>
                  <a:srgbClr val="1D1D1F"/>
                </a:solidFill>
                <a:latin typeface="Inter"/>
                <a:ea typeface="Inter"/>
                <a:cs typeface="Inter"/>
              </a:rPr>
              <a:t>Branch limits: 2 minimum, 6 maximum</a:t>
            </a:r>
          </a:p>
        </p:txBody>
      </p:sp>
      <p:sp>
        <p:nvSpPr>
          <p:cNvPr id="26" name="text-6-66">
            <a:extLst>
              <a:ext uri="{FF2B5EF4-FFF2-40B4-BE49-F238E27FC236}">
                <ns2:creationId id="{AADDE64E-9E46-45C4-A051-8F68F742DED4}"/>
              </a:ext>
            </a:extLst>
          </p:cNvPr>
          <p:cNvSpPr>
            <a:spLocks noGrp="1"/>
          </p:cNvSpPr>
          <p:nvPr/>
        </p:nvSpPr>
        <p:spPr>
          <a:xfrm>
            <a:off x="9191625" y="4772025"/>
            <a:ext cx="2314575" cy="762000"/>
          </a:xfrm>
          <a:prstGeom prst="rect">
            <a:avLst/>
          </a:prstGeom>
          <a:noFill/>
          <a:ln w="0">
            <a:noFill/>
          </a:ln>
        </p:spPr>
        <p:txBody>
          <a:bodyPr anchor="t" lIns="0" rIns="0" tIns="0" bIns="0">
            <a:noAutofit/>
          </a:bodyPr>
          <a:lstStyle/>
          <a:p>
            <a:pPr algn="r">
              <a:defRPr sz="1725" b="0">
                <a:solidFill>
                  <a:srgbClr val="6E6E73"/>
                </a:solidFill>
                <a:latin typeface="Inter"/>
                <a:ea typeface="Inter"/>
                <a:cs typeface="Inter"/>
              </a:defRPr>
            </a:pPr>
            <a:r>
              <a:rPr sz="1725" b="0">
                <a:solidFill>
                  <a:srgbClr val="6E6E73"/>
                </a:solidFill>
                <a:latin typeface="Inter"/>
                <a:ea typeface="Inter"/>
                <a:cs typeface="Inter"/>
              </a:rPr>
              <a:t>final_strategy_</a:t>
            </a:r>
          </a:p>
          <a:p>
            <a:pPr algn="r">
              <a:defRPr sz="1725" b="0">
                <a:solidFill>
                  <a:srgbClr val="6E6E73"/>
                </a:solidFill>
                <a:latin typeface="Inter"/>
                <a:ea typeface="Inter"/>
                <a:cs typeface="Inter"/>
              </a:defRPr>
            </a:pPr>
            <a:r>
              <a:rPr sz="1725" b="0">
                <a:solidFill>
                  <a:srgbClr val="6E6E73"/>
                </a:solidFill>
                <a:latin typeface="Inter"/>
                <a:ea typeface="Inter"/>
                <a:cs typeface="Inter"/>
              </a:rPr>
              <a:t>consumer</a:t>
            </a:r>
          </a:p>
        </p:txBody>
      </p:sp>
      <p:sp>
        <p:nvSpPr>
          <p:cNvPr id="27" name="text-6-67">
            <a:extLst>
              <a:ext uri="{FF2B5EF4-FFF2-40B4-BE49-F238E27FC236}">
                <ns2:creationId id="{CC61EBDE-892F-4BF4-BE09-1F1901ED469E}"/>
              </a:ext>
            </a:extLst>
          </p:cNvPr>
          <p:cNvSpPr>
            <a:spLocks noGrp="1"/>
          </p:cNvSpPr>
          <p:nvPr/>
        </p:nvSpPr>
        <p:spPr>
          <a:xfrm>
            <a:off x="704850" y="5581650"/>
            <a:ext cx="3524250" cy="495300"/>
          </a:xfrm>
          <a:prstGeom prst="rect">
            <a:avLst/>
          </a:prstGeom>
          <a:noFill/>
          <a:ln w="0">
            <a:noFill/>
          </a:ln>
        </p:spPr>
        <p:txBody>
          <a:bodyPr anchor="t" lIns="0" rIns="0" tIns="0" bIns="0">
            <a:noAutofit/>
          </a:bodyPr>
          <a:lstStyle/>
          <a:p>
            <a:pPr algn="l">
              <a:defRPr sz="2550" b="1">
                <a:solidFill>
                  <a:srgbClr val="1D1D1F"/>
                </a:solidFill>
                <a:latin typeface="Inter"/>
                <a:ea typeface="Inter"/>
                <a:cs typeface="Inter"/>
              </a:defRPr>
            </a:pPr>
            <a:r>
              <a:rPr sz="2550" b="1">
                <a:solidFill>
                  <a:srgbClr val="1D1D1F"/>
                </a:solidFill>
                <a:latin typeface="Inter"/>
                <a:ea typeface="Inter"/>
                <a:cs typeface="Inter"/>
              </a:rPr>
              <a:t>9 - 1 - 1 = 7</a:t>
            </a:r>
          </a:p>
        </p:txBody>
      </p:sp>
      <p:sp>
        <p:nvSpPr>
          <p:cNvPr id="28" name="text-6-68">
            <a:extLst>
              <a:ext uri="{FF2B5EF4-FFF2-40B4-BE49-F238E27FC236}">
                <ns2:creationId id="{E72B59EF-4551-42F3-81C5-D2A650E8D9E0}"/>
              </a:ext>
            </a:extLst>
          </p:cNvPr>
          <p:cNvSpPr>
            <a:spLocks noGrp="1"/>
          </p:cNvSpPr>
          <p:nvPr/>
        </p:nvSpPr>
        <p:spPr>
          <a:xfrm>
            <a:off x="5086350" y="5667375"/>
            <a:ext cx="6410325" cy="371475"/>
          </a:xfrm>
          <a:prstGeom prst="rect">
            <a:avLst/>
          </a:prstGeom>
          <a:noFill/>
          <a:ln w="0">
            <a:noFill/>
          </a:ln>
        </p:spPr>
        <p:txBody>
          <a:bodyPr anchor="t" lIns="0" rIns="0" tIns="0" bIns="0">
            <a:noAutofit/>
          </a:bodyPr>
          <a:lstStyle/>
          <a:p>
            <a:pPr algn="r">
              <a:defRPr sz="1725" b="0">
                <a:solidFill>
                  <a:srgbClr val="6E6E73"/>
                </a:solidFill>
                <a:latin typeface="Inter"/>
                <a:ea typeface="Inter"/>
                <a:cs typeface="Inter"/>
              </a:defRPr>
            </a:pPr>
            <a:r>
              <a:rPr sz="1725" b="0">
                <a:solidFill>
                  <a:srgbClr val="6E6E73"/>
                </a:solidFill>
                <a:latin typeface="Inter"/>
                <a:ea typeface="Inter"/>
                <a:cs typeface="Inter"/>
              </a:rPr>
              <a:t>ONE_NATIVE_WORK_DISPATCH_UNIT</a:t>
            </a:r>
          </a:p>
        </p:txBody>
      </p:sp>
      <p:sp>
        <p:nvSpPr>
          <p:cNvPr id="29" name="">
            <a:extLst>
              <a:ext uri="{FF2B5EF4-FFF2-40B4-BE49-F238E27FC236}">
                <ns2:creationId id="{7488B79F-6380-4326-A3B1-B5D371B145B3}"/>
              </a:ext>
            </a:extLst>
          </p:cNvPr>
          <p:cNvSpPr>
            <a:spLocks noGrp="1"/>
          </p:cNvSpPr>
          <p:nvPr/>
        </p:nvSpPr>
        <p:spPr>
          <a:xfrm>
            <a:off x="704850" y="6162675"/>
            <a:ext cx="10801350" cy="0"/>
          </a:xfrm>
          <a:prstGeom prst="line">
            <a:avLst/>
          </a:prstGeom>
          <a:noFill/>
          <a:ln w="6668">
            <a:solidFill>
              <a:srgbClr val="D2D2D7"/>
            </a:solidFill>
            <a:prstDash val="solid"/>
          </a:ln>
        </p:spPr>
      </p:sp>
      <p:sp>
        <p:nvSpPr>
          <p:cNvPr id="30" name="link-6-appendix">
            <a:extLst>
              <a:ext uri="{FF2B5EF4-FFF2-40B4-BE49-F238E27FC236}">
                <ns2:creationId id="{8EED00B8-78A6-41E3-8B3B-1FB6167AD651}"/>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C07 / C08   Technical evidence</a:t>
            </a:r>
          </a:p>
        </p:txBody>
      </p:sp>
      <p:sp>
        <p:nvSpPr>
          <p:cNvPr id="31" name="text-6-70">
            <a:extLst>
              <a:ext uri="{FF2B5EF4-FFF2-40B4-BE49-F238E27FC236}">
                <ns2:creationId id="{7F5963A0-2FEF-4768-8E51-189A58607381}"/>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32" name="text-6-71">
            <a:extLst>
              <a:ext uri="{FF2B5EF4-FFF2-40B4-BE49-F238E27FC236}">
                <ns2:creationId id="{81AFBE73-B6BF-489F-8849-90CFEC3DE0D8}"/>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06</a:t>
            </a:r>
          </a:p>
        </p:txBody>
      </p:sp>
    </p:spTree>
    <p:extLst>
      <p:ext uri="{BB962C8B-B14F-4D97-AF65-F5344CB8AC3E}">
        <ns4:creationId val="10335204"/>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text-7-72">
            <a:extLst>
              <a:ext uri="{FF2B5EF4-FFF2-40B4-BE49-F238E27FC236}">
                <ns2:creationId id="{BCB0797E-BDE9-4682-AE49-2FE304635A45}"/>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An incorrect prediction becomes attributable experience</a:t>
            </a:r>
          </a:p>
        </p:txBody>
      </p:sp>
      <p:sp>
        <p:nvSpPr>
          <p:cNvPr id="2" name="text-7-73">
            <a:extLst>
              <a:ext uri="{FF2B5EF4-FFF2-40B4-BE49-F238E27FC236}">
                <ns2:creationId id="{314EC8F1-0AC5-4F5D-B88D-5C4FAFC4CC19}"/>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A controlled prediction is FALSE. The mandatory constraint check returns TRUE.</a:t>
            </a:r>
          </a:p>
        </p:txBody>
      </p:sp>
      <p:sp>
        <p:nvSpPr>
          <p:cNvPr id="3" name="text-7-74">
            <a:extLst>
              <a:ext uri="{FF2B5EF4-FFF2-40B4-BE49-F238E27FC236}">
                <ns2:creationId id="{622302FB-C989-4386-8EAD-E510AA5855E9}"/>
              </a:ext>
            </a:extLst>
          </p:cNvPr>
          <p:cNvSpPr>
            <a:spLocks noGrp="1"/>
          </p:cNvSpPr>
          <p:nvPr/>
        </p:nvSpPr>
        <p:spPr>
          <a:xfrm>
            <a:off x="704850" y="2600325"/>
            <a:ext cx="3429000" cy="628650"/>
          </a:xfrm>
          <a:prstGeom prst="rect">
            <a:avLst/>
          </a:prstGeom>
          <a:noFill/>
          <a:ln w="0">
            <a:noFill/>
          </a:ln>
        </p:spPr>
        <p:txBody>
          <a:bodyPr anchor="t" lIns="0" rIns="0" tIns="0" bIns="0">
            <a:noAutofit/>
          </a:bodyPr>
          <a:lstStyle/>
          <a:p>
            <a:pPr algn="l">
              <a:defRPr sz="3525" b="1">
                <a:solidFill>
                  <a:srgbClr val="6E6E73"/>
                </a:solidFill>
                <a:latin typeface="Inter"/>
                <a:ea typeface="Inter"/>
                <a:cs typeface="Inter"/>
              </a:defRPr>
            </a:pPr>
            <a:r>
              <a:rPr sz="3525" b="1">
                <a:solidFill>
                  <a:srgbClr val="6E6E73"/>
                </a:solidFill>
                <a:latin typeface="Inter"/>
                <a:ea typeface="Inter"/>
                <a:cs typeface="Inter"/>
              </a:rPr>
              <a:t>FALSE</a:t>
            </a:r>
          </a:p>
        </p:txBody>
      </p:sp>
      <p:sp>
        <p:nvSpPr>
          <p:cNvPr id="4" name="text-7-75">
            <a:extLst>
              <a:ext uri="{FF2B5EF4-FFF2-40B4-BE49-F238E27FC236}">
                <ns2:creationId id="{492A442C-349B-41E4-909F-13A8D00B3E76}"/>
              </a:ext>
            </a:extLst>
          </p:cNvPr>
          <p:cNvSpPr>
            <a:spLocks noGrp="1"/>
          </p:cNvSpPr>
          <p:nvPr/>
        </p:nvSpPr>
        <p:spPr>
          <a:xfrm>
            <a:off x="704850" y="3295650"/>
            <a:ext cx="4953000" cy="419100"/>
          </a:xfrm>
          <a:prstGeom prst="rect">
            <a:avLst/>
          </a:prstGeom>
          <a:noFill/>
          <a:ln w="0">
            <a:noFill/>
          </a:ln>
        </p:spPr>
        <p:txBody>
          <a:bodyPr anchor="t" lIns="0" rIns="0" tIns="0" bIns="0">
            <a:noAutofit/>
          </a:bodyPr>
          <a:lstStyle/>
          <a:p>
            <a:pPr algn="l">
              <a:defRPr sz="2025" b="0">
                <a:solidFill>
                  <a:srgbClr val="1D1D1F"/>
                </a:solidFill>
                <a:latin typeface="Inter"/>
                <a:ea typeface="Inter"/>
                <a:cs typeface="Inter"/>
              </a:defRPr>
            </a:pPr>
            <a:r>
              <a:rPr sz="2025" b="0">
                <a:solidFill>
                  <a:srgbClr val="1D1D1F"/>
                </a:solidFill>
                <a:latin typeface="Inter"/>
                <a:ea typeface="Inter"/>
                <a:cs typeface="Inter"/>
              </a:rPr>
              <a:t>Configured prediction</a:t>
            </a:r>
          </a:p>
        </p:txBody>
      </p:sp>
      <p:sp>
        <p:nvSpPr>
          <p:cNvPr id="5" name="text-7-76">
            <a:extLst>
              <a:ext uri="{FF2B5EF4-FFF2-40B4-BE49-F238E27FC236}">
                <ns2:creationId id="{43F12996-07D0-4A4B-AAF7-764033748CA2}"/>
              </a:ext>
            </a:extLst>
          </p:cNvPr>
          <p:cNvSpPr>
            <a:spLocks noGrp="1"/>
          </p:cNvSpPr>
          <p:nvPr/>
        </p:nvSpPr>
        <p:spPr>
          <a:xfrm>
            <a:off x="6381750" y="2600325"/>
            <a:ext cx="5105400" cy="628650"/>
          </a:xfrm>
          <a:prstGeom prst="rect">
            <a:avLst/>
          </a:prstGeom>
          <a:noFill/>
          <a:ln w="0">
            <a:noFill/>
          </a:ln>
        </p:spPr>
        <p:txBody>
          <a:bodyPr anchor="t" lIns="0" rIns="0" tIns="0" bIns="0">
            <a:noAutofit/>
          </a:bodyPr>
          <a:lstStyle/>
          <a:p>
            <a:pPr algn="l">
              <a:defRPr sz="3525" b="1">
                <a:solidFill>
                  <a:srgbClr val="0071E3"/>
                </a:solidFill>
                <a:latin typeface="Inter"/>
                <a:ea typeface="Inter"/>
                <a:cs typeface="Inter"/>
              </a:defRPr>
            </a:pPr>
            <a:r>
              <a:rPr sz="3525" b="1">
                <a:solidFill>
                  <a:srgbClr val="0071E3"/>
                </a:solidFill>
                <a:latin typeface="Inter"/>
                <a:ea typeface="Inter"/>
                <a:cs typeface="Inter"/>
              </a:rPr>
              <a:t>TRUE</a:t>
            </a:r>
          </a:p>
        </p:txBody>
      </p:sp>
      <p:sp>
        <p:nvSpPr>
          <p:cNvPr id="6" name="text-7-77">
            <a:extLst>
              <a:ext uri="{FF2B5EF4-FFF2-40B4-BE49-F238E27FC236}">
                <ns2:creationId id="{6584B0AA-A63D-40B2-88DD-069F798E396D}"/>
              </a:ext>
            </a:extLst>
          </p:cNvPr>
          <p:cNvSpPr>
            <a:spLocks noGrp="1"/>
          </p:cNvSpPr>
          <p:nvPr/>
        </p:nvSpPr>
        <p:spPr>
          <a:xfrm>
            <a:off x="6381750" y="3295650"/>
            <a:ext cx="5105400" cy="419100"/>
          </a:xfrm>
          <a:prstGeom prst="rect">
            <a:avLst/>
          </a:prstGeom>
          <a:noFill/>
          <a:ln w="0">
            <a:noFill/>
          </a:ln>
        </p:spPr>
        <p:txBody>
          <a:bodyPr anchor="t" lIns="0" rIns="0" tIns="0" bIns="0">
            <a:noAutofit/>
          </a:bodyPr>
          <a:lstStyle/>
          <a:p>
            <a:pPr algn="l">
              <a:defRPr sz="2025" b="0">
                <a:solidFill>
                  <a:srgbClr val="1D1D1F"/>
                </a:solidFill>
                <a:latin typeface="Inter"/>
                <a:ea typeface="Inter"/>
                <a:cs typeface="Inter"/>
              </a:defRPr>
            </a:pPr>
            <a:r>
              <a:rPr sz="2025" b="0">
                <a:solidFill>
                  <a:srgbClr val="1D1D1F"/>
                </a:solidFill>
                <a:latin typeface="Inter"/>
                <a:ea typeface="Inter"/>
                <a:cs typeface="Inter"/>
              </a:rPr>
              <a:t>Completed mandatory check</a:t>
            </a:r>
          </a:p>
        </p:txBody>
      </p:sp>
      <p:graphicFrame>
        <p:nvGraphicFramePr>
          <p:cNvPr id="19" name=""/>
          <p:cNvGraphicFramePr/>
          <p:nvPr/>
        </p:nvGraphicFramePr>
        <p:xfrm>
          <a:off x="704850" y="3886200"/>
          <a:ext cx="10782300" cy="1851660"/>
        </p:xfrm>
        <a:graphic>
          <a:graphicData uri="http://schemas.openxmlformats.org/drawingml/2006/table">
            <a:tbl>
              <a:tblPr firstRow="0" bandRow="0"/>
              <a:tblGrid>
                <a:gridCol w="4097274"/>
                <a:gridCol w="6685026"/>
              </a:tblGrid>
              <a:tr h="457200">
                <a:tc>
                  <a:txBody>
                    <a:bodyPr>
                      <a:noAutofit/>
                    </a:bodyPr>
                    <a:lstStyle/>
                    <a:p>
                      <a:r>
                        <a:rPr sz="1650" b="1">
                          <a:solidFill>
                            <a:srgbClr val="6E6E73"/>
                          </a:solidFill>
                          <a:latin typeface="Inter"/>
                          <a:ea typeface="Inter"/>
                          <a:cs typeface="Inter"/>
                        </a:rPr>
                        <a:t>Assessment</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Recorded result</a:t>
                      </a:r>
                    </a:p>
                  </a:txBody>
                  <a:tcPr marL="114300" marR="114300" marT="85725" marB="85725" anchor="ctr">
                    <a:solidFill>
                      <a:srgbClr val="F5F5F7"/>
                    </a:solidFill>
                  </a:tcPr>
                </a:tc>
              </a:tr>
              <a:tr h="464820">
                <a:tc>
                  <a:txBody>
                    <a:bodyPr>
                      <a:noAutofit/>
                    </a:bodyPr>
                    <a:lstStyle/>
                    <a:p>
                      <a:r>
                        <a:rPr sz="1800" b="0">
                          <a:solidFill>
                            <a:srgbClr val="1D1D1F"/>
                          </a:solidFill>
                          <a:latin typeface="Inter"/>
                          <a:ea typeface="Inter"/>
                          <a:cs typeface="Inter"/>
                        </a:rPr>
                        <a:t>Proposal</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INCORRECT</a:t>
                      </a:r>
                    </a:p>
                  </a:txBody>
                  <a:tcPr marL="114300" marR="114300" marT="85725" marB="85725" anchor="ctr">
                    <a:solidFill>
                      <a:srgbClr val="FFFFFF"/>
                    </a:solidFill>
                  </a:tcPr>
                </a:tc>
              </a:tr>
              <a:tr h="464820">
                <a:tc>
                  <a:txBody>
                    <a:bodyPr>
                      <a:noAutofit/>
                    </a:bodyPr>
                    <a:lstStyle/>
                    <a:p>
                      <a:r>
                        <a:rPr sz="1800" b="0">
                          <a:solidFill>
                            <a:srgbClr val="1D1D1F"/>
                          </a:solidFill>
                          <a:latin typeface="Inter"/>
                          <a:ea typeface="Inter"/>
                          <a:cs typeface="Inter"/>
                        </a:rPr>
                        <a:t>Enforcement</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ALLOWED_AS_REQUIRED</a:t>
                      </a:r>
                    </a:p>
                  </a:txBody>
                  <a:tcPr marL="114300" marR="114300" marT="85725" marB="85725" anchor="ctr">
                    <a:solidFill>
                      <a:srgbClr val="FFFFFF"/>
                    </a:solidFill>
                  </a:tcPr>
                </a:tc>
              </a:tr>
              <a:tr h="464820">
                <a:tc>
                  <a:txBody>
                    <a:bodyPr>
                      <a:noAutofit/>
                    </a:bodyPr>
                    <a:lstStyle/>
                    <a:p>
                      <a:r>
                        <a:rPr sz="1800" b="0">
                          <a:solidFill>
                            <a:srgbClr val="1D1D1F"/>
                          </a:solidFill>
                          <a:latin typeface="Inter"/>
                          <a:ea typeface="Inter"/>
                          <a:cs typeface="Inter"/>
                        </a:rPr>
                        <a:t>Execution / task</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COMPLETED / COMPLETED</a:t>
                      </a:r>
                    </a:p>
                  </a:txBody>
                  <a:tcPr marL="114300" marR="114300" marT="85725" marB="85725" anchor="ctr">
                    <a:solidFill>
                      <a:srgbClr val="FFFFFF"/>
                    </a:solidFill>
                  </a:tcPr>
                </a:tc>
              </a:tr>
            </a:tbl>
          </a:graphicData>
        </a:graphic>
      </p:graphicFrame>
      <p:sp>
        <p:nvSpPr>
          <p:cNvPr id="8" name="text-7-79">
            <a:extLst>
              <a:ext uri="{FF2B5EF4-FFF2-40B4-BE49-F238E27FC236}">
                <ns2:creationId id="{D4193D78-B820-4564-9B99-0337335F1555}"/>
              </a:ext>
            </a:extLst>
          </p:cNvPr>
          <p:cNvSpPr>
            <a:spLocks noGrp="1"/>
          </p:cNvSpPr>
          <p:nvPr/>
        </p:nvSpPr>
        <p:spPr>
          <a:xfrm>
            <a:off x="704850" y="5810250"/>
            <a:ext cx="10782300" cy="323850"/>
          </a:xfrm>
          <a:prstGeom prst="rect">
            <a:avLst/>
          </a:prstGeom>
          <a:noFill/>
          <a:ln w="0">
            <a:noFill/>
          </a:ln>
        </p:spPr>
        <p:txBody>
          <a:bodyPr anchor="t" lIns="0" rIns="0" tIns="0" bIns="0">
            <a:noAutofit/>
          </a:bodyPr>
          <a:lstStyle/>
          <a:p>
            <a:pPr algn="l">
              <a:defRPr sz="1575" b="0">
                <a:solidFill>
                  <a:srgbClr val="6E6E73"/>
                </a:solidFill>
                <a:latin typeface="Inter"/>
                <a:ea typeface="Inter"/>
                <a:cs typeface="Inter"/>
              </a:defRPr>
            </a:pPr>
            <a:r>
              <a:rPr sz="1575" b="0">
                <a:solidFill>
                  <a:srgbClr val="6E6E73"/>
                </a:solidFill>
                <a:latin typeface="Inter"/>
                <a:ea typeface="Inter"/>
                <a:cs typeface="Inter"/>
              </a:rPr>
              <a:t>One SPARSE sample through Root-reviewed recording and LocalDRS. No new LLM call.</a:t>
            </a:r>
          </a:p>
        </p:txBody>
      </p:sp>
      <p:sp>
        <p:nvSpPr>
          <p:cNvPr id="9" name="">
            <a:extLst>
              <a:ext uri="{FF2B5EF4-FFF2-40B4-BE49-F238E27FC236}">
                <ns2:creationId id="{F8BF6F55-64F0-4905-ADFE-DB41327CD039}"/>
              </a:ext>
            </a:extLst>
          </p:cNvPr>
          <p:cNvSpPr>
            <a:spLocks noGrp="1"/>
          </p:cNvSpPr>
          <p:nvPr/>
        </p:nvSpPr>
        <p:spPr>
          <a:xfrm>
            <a:off x="704850" y="6162675"/>
            <a:ext cx="10801350" cy="0"/>
          </a:xfrm>
          <a:prstGeom prst="line">
            <a:avLst/>
          </a:prstGeom>
          <a:noFill/>
          <a:ln w="6668">
            <a:solidFill>
              <a:srgbClr val="D2D2D7"/>
            </a:solidFill>
            <a:prstDash val="solid"/>
          </a:ln>
        </p:spPr>
      </p:sp>
      <p:sp>
        <p:nvSpPr>
          <p:cNvPr id="10" name="link-7-appendix">
            <a:extLst>
              <a:ext uri="{FF2B5EF4-FFF2-40B4-BE49-F238E27FC236}">
                <ns2:creationId id="{3DDDA61D-48DE-4C1E-B9AB-D5700ADE781D}"/>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C06   Technical evidence</a:t>
            </a:r>
          </a:p>
        </p:txBody>
      </p:sp>
      <p:sp>
        <p:nvSpPr>
          <p:cNvPr id="11" name="text-7-81">
            <a:extLst>
              <a:ext uri="{FF2B5EF4-FFF2-40B4-BE49-F238E27FC236}">
                <ns2:creationId id="{E334E232-A463-4919-92AE-05DEAE763EFA}"/>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12" name="text-7-82">
            <a:extLst>
              <a:ext uri="{FF2B5EF4-FFF2-40B4-BE49-F238E27FC236}">
                <ns2:creationId id="{D03760FD-3988-4CD3-BA8C-AC1A24717013}"/>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07</a:t>
            </a:r>
          </a:p>
        </p:txBody>
      </p:sp>
    </p:spTree>
    <p:extLst>
      <p:ext uri="{BB962C8B-B14F-4D97-AF65-F5344CB8AC3E}">
        <ns4:creationId val="2002342532"/>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43" name="text-8-83">
            <a:extLst>
              <a:ext uri="{FF2B5EF4-FFF2-40B4-BE49-F238E27FC236}">
                <ns2:creationId id="{DEE2758B-A878-4920-AD6B-F281DAA7DD3E}"/>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Experience changes which checks actually run</a:t>
            </a:r>
          </a:p>
        </p:txBody>
      </p:sp>
      <p:sp>
        <p:nvSpPr>
          <p:cNvPr id="2" name="text-8-84">
            <a:extLst>
              <a:ext uri="{FF2B5EF4-FFF2-40B4-BE49-F238E27FC236}">
                <ns2:creationId id="{32FEC256-920D-4B0B-BBDA-04FFB4DA40FA}"/>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One source-bound sample changes the seven discretionary checks under PRICE_FIRST.</a:t>
            </a:r>
          </a:p>
        </p:txBody>
      </p:sp>
      <p:sp>
        <p:nvSpPr>
          <p:cNvPr id="3" name="text-8-85">
            <a:extLst>
              <a:ext uri="{FF2B5EF4-FFF2-40B4-BE49-F238E27FC236}">
                <ns2:creationId id="{2319350C-9376-43DF-98FF-D272BAD10C33}"/>
              </a:ext>
            </a:extLst>
          </p:cNvPr>
          <p:cNvSpPr>
            <a:spLocks noGrp="1"/>
          </p:cNvSpPr>
          <p:nvPr/>
        </p:nvSpPr>
        <p:spPr>
          <a:xfrm>
            <a:off x="3200400" y="2486025"/>
            <a:ext cx="7067550" cy="323850"/>
          </a:xfrm>
          <a:prstGeom prst="rect">
            <a:avLst/>
          </a:prstGeom>
          <a:noFill/>
          <a:ln w="0">
            <a:noFill/>
          </a:ln>
        </p:spPr>
        <p:txBody>
          <a:bodyPr anchor="t" lIns="0" rIns="0" tIns="0" bIns="0">
            <a:noAutofit/>
          </a:bodyPr>
          <a:lstStyle/>
          <a:p>
            <a:pPr algn="l">
              <a:defRPr sz="1650" b="0">
                <a:solidFill>
                  <a:srgbClr val="6E6E73"/>
                </a:solidFill>
                <a:latin typeface="Inter"/>
                <a:ea typeface="Inter"/>
                <a:cs typeface="Inter"/>
              </a:defRPr>
            </a:pPr>
            <a:r>
              <a:rPr sz="1650" b="0">
                <a:solidFill>
                  <a:srgbClr val="6E6E73"/>
                </a:solidFill>
                <a:latin typeface="Inter"/>
                <a:ea typeface="Inter"/>
                <a:cs typeface="Inter"/>
              </a:rPr>
              <a:t>Common six checks</a:t>
            </a:r>
          </a:p>
        </p:txBody>
      </p:sp>
      <p:sp>
        <p:nvSpPr>
          <p:cNvPr id="4" name="text-8-86">
            <a:extLst>
              <a:ext uri="{FF2B5EF4-FFF2-40B4-BE49-F238E27FC236}">
                <ns2:creationId id="{4DECCEC1-E15B-4462-8BD8-69B1AD1B3FE5}"/>
              </a:ext>
            </a:extLst>
          </p:cNvPr>
          <p:cNvSpPr>
            <a:spLocks noGrp="1"/>
          </p:cNvSpPr>
          <p:nvPr/>
        </p:nvSpPr>
        <p:spPr>
          <a:xfrm>
            <a:off x="10287000" y="2486025"/>
            <a:ext cx="1219200" cy="552450"/>
          </a:xfrm>
          <a:prstGeom prst="rect">
            <a:avLst/>
          </a:prstGeom>
          <a:noFill/>
          <a:ln w="0">
            <a:noFill/>
          </a:ln>
        </p:spPr>
        <p:txBody>
          <a:bodyPr anchor="t" lIns="0" rIns="0" tIns="0" bIns="0">
            <a:noAutofit/>
          </a:bodyPr>
          <a:lstStyle/>
          <a:p>
            <a:pPr algn="ctr">
              <a:defRPr sz="1650" b="0">
                <a:solidFill>
                  <a:srgbClr val="0071E3"/>
                </a:solidFill>
                <a:latin typeface="Inter"/>
                <a:ea typeface="Inter"/>
                <a:cs typeface="Inter"/>
              </a:defRPr>
            </a:pPr>
            <a:r>
              <a:rPr sz="1650" b="0">
                <a:solidFill>
                  <a:srgbClr val="0071E3"/>
                </a:solidFill>
                <a:latin typeface="Inter"/>
                <a:ea typeface="Inter"/>
                <a:cs typeface="Inter"/>
              </a:rPr>
              <a:t>Changed check</a:t>
            </a:r>
          </a:p>
        </p:txBody>
      </p:sp>
      <p:sp>
        <p:nvSpPr>
          <p:cNvPr id="5" name="text-8-87">
            <a:extLst>
              <a:ext uri="{FF2B5EF4-FFF2-40B4-BE49-F238E27FC236}">
                <ns2:creationId id="{05046109-BD74-4ECE-B5AC-8BFFEBB7DE3F}"/>
              </a:ext>
            </a:extLst>
          </p:cNvPr>
          <p:cNvSpPr>
            <a:spLocks noGrp="1"/>
          </p:cNvSpPr>
          <p:nvPr/>
        </p:nvSpPr>
        <p:spPr>
          <a:xfrm>
            <a:off x="704850" y="2981325"/>
            <a:ext cx="2381250" cy="666750"/>
          </a:xfrm>
          <a:prstGeom prst="rect">
            <a:avLst/>
          </a:prstGeom>
          <a:noFill/>
          <a:ln w="0">
            <a:noFill/>
          </a:ln>
        </p:spPr>
        <p:txBody>
          <a:bodyPr anchor="t" lIns="0" rIns="0" tIns="0" bIns="0">
            <a:noAutofit/>
          </a:bodyPr>
          <a:lstStyle/>
          <a:p>
            <a:pPr algn="l">
              <a:defRPr sz="2100" b="1">
                <a:solidFill>
                  <a:srgbClr val="1D1D1F"/>
                </a:solidFill>
                <a:latin typeface="Inter"/>
                <a:ea typeface="Inter"/>
                <a:cs typeface="Inter"/>
              </a:defRPr>
            </a:pPr>
            <a:r>
              <a:rPr sz="2100" b="1">
                <a:solidFill>
                  <a:srgbClr val="1D1D1F"/>
                </a:solidFill>
                <a:latin typeface="Inter"/>
                <a:ea typeface="Inter"/>
                <a:cs typeface="Inter"/>
              </a:rPr>
              <a:t>Cold</a:t>
            </a:r>
          </a:p>
          <a:p>
            <a:pPr algn="l">
              <a:defRPr sz="2100" b="1">
                <a:solidFill>
                  <a:srgbClr val="1D1D1F"/>
                </a:solidFill>
                <a:latin typeface="Inter"/>
                <a:ea typeface="Inter"/>
                <a:cs typeface="Inter"/>
              </a:defRPr>
            </a:pPr>
            <a:r>
              <a:rPr sz="2100" b="1">
                <a:solidFill>
                  <a:srgbClr val="1D1D1F"/>
                </a:solidFill>
                <a:latin typeface="Inter"/>
                <a:ea typeface="Inter"/>
                <a:cs typeface="Inter"/>
              </a:rPr>
              <a:t>4 / 3</a:t>
            </a:r>
          </a:p>
        </p:txBody>
      </p:sp>
      <p:sp>
        <p:nvSpPr>
          <p:cNvPr id="6" name="">
            <a:extLst>
              <a:ext uri="{FF2B5EF4-FFF2-40B4-BE49-F238E27FC236}">
                <ns2:creationId id="{CB2E82B1-D744-4780-A00F-E5015CED9D79}"/>
              </a:ext>
            </a:extLst>
          </p:cNvPr>
          <p:cNvSpPr>
            <a:spLocks noGrp="1"/>
          </p:cNvSpPr>
          <p:nvPr/>
        </p:nvSpPr>
        <p:spPr>
          <a:xfrm>
            <a:off x="3190875" y="3009900"/>
            <a:ext cx="1104900" cy="828675"/>
          </a:xfrm>
          <a:prstGeom prst="rect">
            <a:avLst/>
          </a:prstGeom>
          <a:solidFill>
            <a:srgbClr val="F5F5F7"/>
          </a:solidFill>
          <a:ln w="0">
            <a:noFill/>
          </a:ln>
        </p:spPr>
      </p:sp>
      <p:sp>
        <p:nvSpPr>
          <p:cNvPr id="7" name="text-8-88">
            <a:extLst>
              <a:ext uri="{FF2B5EF4-FFF2-40B4-BE49-F238E27FC236}">
                <ns2:creationId id="{60752BD7-E5DB-4452-8868-1390D3A937A3}"/>
              </a:ext>
            </a:extLst>
          </p:cNvPr>
          <p:cNvSpPr>
            <a:spLocks noGrp="1"/>
          </p:cNvSpPr>
          <p:nvPr/>
        </p:nvSpPr>
        <p:spPr>
          <a:xfrm>
            <a:off x="3248025" y="315277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0_1</a:t>
            </a:r>
          </a:p>
          <a:p>
            <a:pPr algn="ctr">
              <a:defRPr sz="1650" b="1">
                <a:solidFill>
                  <a:srgbClr val="1D1D1F"/>
                </a:solidFill>
                <a:latin typeface="Inter"/>
                <a:ea typeface="Inter"/>
                <a:cs typeface="Inter"/>
              </a:defRPr>
            </a:pPr>
            <a:r>
              <a:rPr sz="1650" b="1">
                <a:solidFill>
                  <a:srgbClr val="1D1D1F"/>
                </a:solidFill>
                <a:latin typeface="Inter"/>
                <a:ea typeface="Inter"/>
                <a:cs typeface="Inter"/>
              </a:rPr>
              <a:t>Route</a:t>
            </a:r>
          </a:p>
        </p:txBody>
      </p:sp>
      <p:sp>
        <p:nvSpPr>
          <p:cNvPr id="8" name="">
            <a:extLst>
              <a:ext uri="{FF2B5EF4-FFF2-40B4-BE49-F238E27FC236}">
                <ns2:creationId id="{C6660D84-213D-4AF2-9FB8-F137A1B94AA5}"/>
              </a:ext>
            </a:extLst>
          </p:cNvPr>
          <p:cNvSpPr>
            <a:spLocks noGrp="1"/>
          </p:cNvSpPr>
          <p:nvPr/>
        </p:nvSpPr>
        <p:spPr>
          <a:xfrm>
            <a:off x="4371975" y="3009900"/>
            <a:ext cx="1104900" cy="828675"/>
          </a:xfrm>
          <a:prstGeom prst="rect">
            <a:avLst/>
          </a:prstGeom>
          <a:solidFill>
            <a:srgbClr val="F5F5F7"/>
          </a:solidFill>
          <a:ln w="0">
            <a:noFill/>
          </a:ln>
        </p:spPr>
      </p:sp>
      <p:sp>
        <p:nvSpPr>
          <p:cNvPr id="9" name="text-8-89">
            <a:extLst>
              <a:ext uri="{FF2B5EF4-FFF2-40B4-BE49-F238E27FC236}">
                <ns2:creationId id="{CA5C5FF4-9B63-40DF-89C2-49FAE25431C9}"/>
              </a:ext>
            </a:extLst>
          </p:cNvPr>
          <p:cNvSpPr>
            <a:spLocks noGrp="1"/>
          </p:cNvSpPr>
          <p:nvPr/>
        </p:nvSpPr>
        <p:spPr>
          <a:xfrm>
            <a:off x="4429125" y="315277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0_2</a:t>
            </a:r>
          </a:p>
          <a:p>
            <a:pPr algn="ctr">
              <a:defRPr sz="1650" b="1">
                <a:solidFill>
                  <a:srgbClr val="1D1D1F"/>
                </a:solidFill>
                <a:latin typeface="Inter"/>
                <a:ea typeface="Inter"/>
                <a:cs typeface="Inter"/>
              </a:defRPr>
            </a:pPr>
            <a:r>
              <a:rPr sz="1650" b="1">
                <a:solidFill>
                  <a:srgbClr val="1D1D1F"/>
                </a:solidFill>
                <a:latin typeface="Inter"/>
                <a:ea typeface="Inter"/>
                <a:cs typeface="Inter"/>
              </a:rPr>
              <a:t>Baggage</a:t>
            </a:r>
          </a:p>
        </p:txBody>
      </p:sp>
      <p:sp>
        <p:nvSpPr>
          <p:cNvPr id="10" name="">
            <a:extLst>
              <a:ext uri="{FF2B5EF4-FFF2-40B4-BE49-F238E27FC236}">
                <ns2:creationId id="{55DC021D-FF7C-430D-A4B6-6A62AC11802A}"/>
              </a:ext>
            </a:extLst>
          </p:cNvPr>
          <p:cNvSpPr>
            <a:spLocks noGrp="1"/>
          </p:cNvSpPr>
          <p:nvPr/>
        </p:nvSpPr>
        <p:spPr>
          <a:xfrm>
            <a:off x="5553075" y="3009900"/>
            <a:ext cx="1104900" cy="828675"/>
          </a:xfrm>
          <a:prstGeom prst="rect">
            <a:avLst/>
          </a:prstGeom>
          <a:solidFill>
            <a:srgbClr val="F5F5F7"/>
          </a:solidFill>
          <a:ln w="0">
            <a:noFill/>
          </a:ln>
        </p:spPr>
      </p:sp>
      <p:sp>
        <p:nvSpPr>
          <p:cNvPr id="11" name="text-8-90">
            <a:extLst>
              <a:ext uri="{FF2B5EF4-FFF2-40B4-BE49-F238E27FC236}">
                <ns2:creationId id="{F6B699A8-1C78-420E-9CC2-50D2FF0F2107}"/>
              </a:ext>
            </a:extLst>
          </p:cNvPr>
          <p:cNvSpPr>
            <a:spLocks noGrp="1"/>
          </p:cNvSpPr>
          <p:nvPr/>
        </p:nvSpPr>
        <p:spPr>
          <a:xfrm>
            <a:off x="5610225" y="315277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0_3</a:t>
            </a:r>
          </a:p>
          <a:p>
            <a:pPr algn="ctr">
              <a:defRPr sz="1650" b="1">
                <a:solidFill>
                  <a:srgbClr val="1D1D1F"/>
                </a:solidFill>
                <a:latin typeface="Inter"/>
                <a:ea typeface="Inter"/>
                <a:cs typeface="Inter"/>
              </a:defRPr>
            </a:pPr>
            <a:r>
              <a:rPr sz="1650" b="1">
                <a:solidFill>
                  <a:srgbClr val="1D1D1F"/>
                </a:solidFill>
                <a:latin typeface="Inter"/>
                <a:ea typeface="Inter"/>
                <a:cs typeface="Inter"/>
              </a:rPr>
              <a:t>Seat</a:t>
            </a:r>
          </a:p>
        </p:txBody>
      </p:sp>
      <p:sp>
        <p:nvSpPr>
          <p:cNvPr id="12" name="">
            <a:extLst>
              <a:ext uri="{FF2B5EF4-FFF2-40B4-BE49-F238E27FC236}">
                <ns2:creationId id="{4133BB66-199C-410B-811D-AAE2AC540FBA}"/>
              </a:ext>
            </a:extLst>
          </p:cNvPr>
          <p:cNvSpPr>
            <a:spLocks noGrp="1"/>
          </p:cNvSpPr>
          <p:nvPr/>
        </p:nvSpPr>
        <p:spPr>
          <a:xfrm>
            <a:off x="6734175" y="3009900"/>
            <a:ext cx="1104900" cy="828675"/>
          </a:xfrm>
          <a:prstGeom prst="rect">
            <a:avLst/>
          </a:prstGeom>
          <a:solidFill>
            <a:srgbClr val="F5F5F7"/>
          </a:solidFill>
          <a:ln w="0">
            <a:noFill/>
          </a:ln>
        </p:spPr>
      </p:sp>
      <p:sp>
        <p:nvSpPr>
          <p:cNvPr id="13" name="text-8-91">
            <a:extLst>
              <a:ext uri="{FF2B5EF4-FFF2-40B4-BE49-F238E27FC236}">
                <ns2:creationId id="{7085364D-2023-4E9D-9F16-7BE7F91DC00D}"/>
              </a:ext>
            </a:extLst>
          </p:cNvPr>
          <p:cNvSpPr>
            <a:spLocks noGrp="1"/>
          </p:cNvSpPr>
          <p:nvPr/>
        </p:nvSpPr>
        <p:spPr>
          <a:xfrm>
            <a:off x="6791325" y="315277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1_1</a:t>
            </a:r>
          </a:p>
          <a:p>
            <a:pPr algn="ctr">
              <a:defRPr sz="1650" b="1">
                <a:solidFill>
                  <a:srgbClr val="1D1D1F"/>
                </a:solidFill>
                <a:latin typeface="Inter"/>
                <a:ea typeface="Inter"/>
                <a:cs typeface="Inter"/>
              </a:defRPr>
            </a:pPr>
            <a:r>
              <a:rPr sz="1650" b="1">
                <a:solidFill>
                  <a:srgbClr val="1D1D1F"/>
                </a:solidFill>
                <a:latin typeface="Inter"/>
                <a:ea typeface="Inter"/>
                <a:cs typeface="Inter"/>
              </a:rPr>
              <a:t>Route</a:t>
            </a:r>
          </a:p>
        </p:txBody>
      </p:sp>
      <p:sp>
        <p:nvSpPr>
          <p:cNvPr id="14" name="">
            <a:extLst>
              <a:ext uri="{FF2B5EF4-FFF2-40B4-BE49-F238E27FC236}">
                <ns2:creationId id="{F1A15F84-61EF-495A-ACB5-AD390BD90E5E}"/>
              </a:ext>
            </a:extLst>
          </p:cNvPr>
          <p:cNvSpPr>
            <a:spLocks noGrp="1"/>
          </p:cNvSpPr>
          <p:nvPr/>
        </p:nvSpPr>
        <p:spPr>
          <a:xfrm>
            <a:off x="7915275" y="3009900"/>
            <a:ext cx="1104900" cy="828675"/>
          </a:xfrm>
          <a:prstGeom prst="rect">
            <a:avLst/>
          </a:prstGeom>
          <a:solidFill>
            <a:srgbClr val="F5F5F7"/>
          </a:solidFill>
          <a:ln w="0">
            <a:noFill/>
          </a:ln>
        </p:spPr>
      </p:sp>
      <p:sp>
        <p:nvSpPr>
          <p:cNvPr id="15" name="text-8-92">
            <a:extLst>
              <a:ext uri="{FF2B5EF4-FFF2-40B4-BE49-F238E27FC236}">
                <ns2:creationId id="{2F7EC07A-99EF-4347-9F69-44EC4C3AAD3E}"/>
              </a:ext>
            </a:extLst>
          </p:cNvPr>
          <p:cNvSpPr>
            <a:spLocks noGrp="1"/>
          </p:cNvSpPr>
          <p:nvPr/>
        </p:nvSpPr>
        <p:spPr>
          <a:xfrm>
            <a:off x="7972425" y="315277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1_2</a:t>
            </a:r>
          </a:p>
          <a:p>
            <a:pPr algn="ctr">
              <a:defRPr sz="1650" b="1">
                <a:solidFill>
                  <a:srgbClr val="1D1D1F"/>
                </a:solidFill>
                <a:latin typeface="Inter"/>
                <a:ea typeface="Inter"/>
                <a:cs typeface="Inter"/>
              </a:defRPr>
            </a:pPr>
            <a:r>
              <a:rPr sz="1650" b="1">
                <a:solidFill>
                  <a:srgbClr val="1D1D1F"/>
                </a:solidFill>
                <a:latin typeface="Inter"/>
                <a:ea typeface="Inter"/>
                <a:cs typeface="Inter"/>
              </a:rPr>
              <a:t>Baggage</a:t>
            </a:r>
          </a:p>
        </p:txBody>
      </p:sp>
      <p:sp>
        <p:nvSpPr>
          <p:cNvPr id="16" name="">
            <a:extLst>
              <a:ext uri="{FF2B5EF4-FFF2-40B4-BE49-F238E27FC236}">
                <ns2:creationId id="{EDA5366F-30DE-4EC0-961A-4E229606E058}"/>
              </a:ext>
            </a:extLst>
          </p:cNvPr>
          <p:cNvSpPr>
            <a:spLocks noGrp="1"/>
          </p:cNvSpPr>
          <p:nvPr/>
        </p:nvSpPr>
        <p:spPr>
          <a:xfrm>
            <a:off x="9096375" y="3009900"/>
            <a:ext cx="1104900" cy="828675"/>
          </a:xfrm>
          <a:prstGeom prst="rect">
            <a:avLst/>
          </a:prstGeom>
          <a:solidFill>
            <a:srgbClr val="F5F5F7"/>
          </a:solidFill>
          <a:ln w="0">
            <a:noFill/>
          </a:ln>
        </p:spPr>
      </p:sp>
      <p:sp>
        <p:nvSpPr>
          <p:cNvPr id="17" name="text-8-93">
            <a:extLst>
              <a:ext uri="{FF2B5EF4-FFF2-40B4-BE49-F238E27FC236}">
                <ns2:creationId id="{FBDC9D68-7AB4-4DD3-A0DB-027436C6E2A1}"/>
              </a:ext>
            </a:extLst>
          </p:cNvPr>
          <p:cNvSpPr>
            <a:spLocks noGrp="1"/>
          </p:cNvSpPr>
          <p:nvPr/>
        </p:nvSpPr>
        <p:spPr>
          <a:xfrm>
            <a:off x="9153525" y="315277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1_3</a:t>
            </a:r>
          </a:p>
          <a:p>
            <a:pPr algn="ctr">
              <a:defRPr sz="1650" b="1">
                <a:solidFill>
                  <a:srgbClr val="1D1D1F"/>
                </a:solidFill>
                <a:latin typeface="Inter"/>
                <a:ea typeface="Inter"/>
                <a:cs typeface="Inter"/>
              </a:defRPr>
            </a:pPr>
            <a:r>
              <a:rPr sz="1650" b="1">
                <a:solidFill>
                  <a:srgbClr val="1D1D1F"/>
                </a:solidFill>
                <a:latin typeface="Inter"/>
                <a:ea typeface="Inter"/>
                <a:cs typeface="Inter"/>
              </a:rPr>
              <a:t>Seat</a:t>
            </a:r>
          </a:p>
        </p:txBody>
      </p:sp>
      <p:sp>
        <p:nvSpPr>
          <p:cNvPr id="18" name="">
            <a:extLst>
              <a:ext uri="{FF2B5EF4-FFF2-40B4-BE49-F238E27FC236}">
                <ns2:creationId id="{48DFA3AA-0298-433D-8CCB-37BA984734B6}"/>
              </a:ext>
            </a:extLst>
          </p:cNvPr>
          <p:cNvSpPr>
            <a:spLocks noGrp="1"/>
          </p:cNvSpPr>
          <p:nvPr/>
        </p:nvSpPr>
        <p:spPr>
          <a:xfrm>
            <a:off x="10277475" y="3009900"/>
            <a:ext cx="1104900" cy="828675"/>
          </a:xfrm>
          <a:prstGeom prst="rect">
            <a:avLst/>
          </a:prstGeom>
          <a:solidFill>
            <a:srgbClr val="0071E3"/>
          </a:solidFill>
          <a:ln w="0">
            <a:noFill/>
          </a:ln>
        </p:spPr>
      </p:sp>
      <p:sp>
        <p:nvSpPr>
          <p:cNvPr id="19" name="text-8-94">
            <a:extLst>
              <a:ext uri="{FF2B5EF4-FFF2-40B4-BE49-F238E27FC236}">
                <ns2:creationId id="{749A9594-67D8-4FE4-B76C-8AA0C453BEB4}"/>
              </a:ext>
            </a:extLst>
          </p:cNvPr>
          <p:cNvSpPr>
            <a:spLocks noGrp="1"/>
          </p:cNvSpPr>
          <p:nvPr/>
        </p:nvSpPr>
        <p:spPr>
          <a:xfrm>
            <a:off x="10334625" y="3152775"/>
            <a:ext cx="990600" cy="571500"/>
          </a:xfrm>
          <a:prstGeom prst="rect">
            <a:avLst/>
          </a:prstGeom>
          <a:noFill/>
          <a:ln w="0">
            <a:noFill/>
          </a:ln>
        </p:spPr>
        <p:txBody>
          <a:bodyPr anchor="t" lIns="0" rIns="0" tIns="0" bIns="0">
            <a:noAutofit/>
          </a:bodyPr>
          <a:lstStyle/>
          <a:p>
            <a:pPr algn="ctr">
              <a:defRPr sz="1650" b="1">
                <a:solidFill>
                  <a:srgbClr val="FFFFFF"/>
                </a:solidFill>
                <a:latin typeface="Inter"/>
                <a:ea typeface="Inter"/>
                <a:cs typeface="Inter"/>
              </a:defRPr>
            </a:pPr>
            <a:r>
              <a:rPr sz="1650" b="1">
                <a:solidFill>
                  <a:srgbClr val="FFFFFF"/>
                </a:solidFill>
                <a:latin typeface="Inter"/>
                <a:ea typeface="Inter"/>
                <a:cs typeface="Inter"/>
              </a:rPr>
              <a:t>0_4</a:t>
            </a:r>
          </a:p>
          <a:p>
            <a:pPr algn="ctr">
              <a:defRPr sz="1650" b="1">
                <a:solidFill>
                  <a:srgbClr val="FFFFFF"/>
                </a:solidFill>
                <a:latin typeface="Inter"/>
                <a:ea typeface="Inter"/>
                <a:cs typeface="Inter"/>
              </a:defRPr>
            </a:pPr>
            <a:r>
              <a:rPr sz="1650" b="1">
                <a:solidFill>
                  <a:srgbClr val="FFFFFF"/>
                </a:solidFill>
                <a:latin typeface="Inter"/>
                <a:ea typeface="Inter"/>
                <a:cs typeface="Inter"/>
              </a:rPr>
              <a:t>Price</a:t>
            </a:r>
          </a:p>
        </p:txBody>
      </p:sp>
      <p:sp>
        <p:nvSpPr>
          <p:cNvPr id="20" name="text-8-95">
            <a:extLst>
              <a:ext uri="{FF2B5EF4-FFF2-40B4-BE49-F238E27FC236}">
                <ns2:creationId id="{E7D80911-E638-4A46-8B71-D25136036226}"/>
              </a:ext>
            </a:extLst>
          </p:cNvPr>
          <p:cNvSpPr>
            <a:spLocks noGrp="1"/>
          </p:cNvSpPr>
          <p:nvPr/>
        </p:nvSpPr>
        <p:spPr>
          <a:xfrm>
            <a:off x="704850" y="4067175"/>
            <a:ext cx="2381250" cy="666750"/>
          </a:xfrm>
          <a:prstGeom prst="rect">
            <a:avLst/>
          </a:prstGeom>
          <a:noFill/>
          <a:ln w="0">
            <a:noFill/>
          </a:ln>
        </p:spPr>
        <p:txBody>
          <a:bodyPr anchor="t" lIns="0" rIns="0" tIns="0" bIns="0">
            <a:noAutofit/>
          </a:bodyPr>
          <a:lstStyle/>
          <a:p>
            <a:pPr algn="l">
              <a:defRPr sz="2100" b="1">
                <a:solidFill>
                  <a:srgbClr val="1D1D1F"/>
                </a:solidFill>
                <a:latin typeface="Inter"/>
                <a:ea typeface="Inter"/>
                <a:cs typeface="Inter"/>
              </a:defRPr>
            </a:pPr>
            <a:r>
              <a:rPr sz="2100" b="1">
                <a:solidFill>
                  <a:srgbClr val="1D1D1F"/>
                </a:solidFill>
                <a:latin typeface="Inter"/>
                <a:ea typeface="Inter"/>
                <a:cs typeface="Inter"/>
              </a:rPr>
              <a:t>History-informed</a:t>
            </a:r>
          </a:p>
          <a:p>
            <a:pPr algn="l">
              <a:defRPr sz="2100" b="1">
                <a:solidFill>
                  <a:srgbClr val="1D1D1F"/>
                </a:solidFill>
                <a:latin typeface="Inter"/>
                <a:ea typeface="Inter"/>
                <a:cs typeface="Inter"/>
              </a:defRPr>
            </a:pPr>
            <a:r>
              <a:rPr sz="2100" b="1">
                <a:solidFill>
                  <a:srgbClr val="1D1D1F"/>
                </a:solidFill>
                <a:latin typeface="Inter"/>
                <a:ea typeface="Inter"/>
                <a:cs typeface="Inter"/>
              </a:rPr>
              <a:t>3 / 4</a:t>
            </a:r>
          </a:p>
        </p:txBody>
      </p:sp>
      <p:sp>
        <p:nvSpPr>
          <p:cNvPr id="21" name="">
            <a:extLst>
              <a:ext uri="{FF2B5EF4-FFF2-40B4-BE49-F238E27FC236}">
                <ns2:creationId id="{0260D61F-0602-4543-A0B4-17F0524AB0EC}"/>
              </a:ext>
            </a:extLst>
          </p:cNvPr>
          <p:cNvSpPr>
            <a:spLocks noGrp="1"/>
          </p:cNvSpPr>
          <p:nvPr/>
        </p:nvSpPr>
        <p:spPr>
          <a:xfrm>
            <a:off x="3190875" y="4095750"/>
            <a:ext cx="1104900" cy="828675"/>
          </a:xfrm>
          <a:prstGeom prst="rect">
            <a:avLst/>
          </a:prstGeom>
          <a:solidFill>
            <a:srgbClr val="F5F5F7"/>
          </a:solidFill>
          <a:ln w="0">
            <a:noFill/>
          </a:ln>
        </p:spPr>
      </p:sp>
      <p:sp>
        <p:nvSpPr>
          <p:cNvPr id="22" name="text-8-96">
            <a:extLst>
              <a:ext uri="{FF2B5EF4-FFF2-40B4-BE49-F238E27FC236}">
                <ns2:creationId id="{7E110CB5-CBE5-4F2D-86A5-656E690EAF19}"/>
              </a:ext>
            </a:extLst>
          </p:cNvPr>
          <p:cNvSpPr>
            <a:spLocks noGrp="1"/>
          </p:cNvSpPr>
          <p:nvPr/>
        </p:nvSpPr>
        <p:spPr>
          <a:xfrm>
            <a:off x="3248025" y="423862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0_1</a:t>
            </a:r>
          </a:p>
          <a:p>
            <a:pPr algn="ctr">
              <a:defRPr sz="1650" b="1">
                <a:solidFill>
                  <a:srgbClr val="1D1D1F"/>
                </a:solidFill>
                <a:latin typeface="Inter"/>
                <a:ea typeface="Inter"/>
                <a:cs typeface="Inter"/>
              </a:defRPr>
            </a:pPr>
            <a:r>
              <a:rPr sz="1650" b="1">
                <a:solidFill>
                  <a:srgbClr val="1D1D1F"/>
                </a:solidFill>
                <a:latin typeface="Inter"/>
                <a:ea typeface="Inter"/>
                <a:cs typeface="Inter"/>
              </a:rPr>
              <a:t>Route</a:t>
            </a:r>
          </a:p>
        </p:txBody>
      </p:sp>
      <p:sp>
        <p:nvSpPr>
          <p:cNvPr id="23" name="">
            <a:extLst>
              <a:ext uri="{FF2B5EF4-FFF2-40B4-BE49-F238E27FC236}">
                <ns2:creationId id="{07427564-3D03-4FE8-8D9F-03756551B7F7}"/>
              </a:ext>
            </a:extLst>
          </p:cNvPr>
          <p:cNvSpPr>
            <a:spLocks noGrp="1"/>
          </p:cNvSpPr>
          <p:nvPr/>
        </p:nvSpPr>
        <p:spPr>
          <a:xfrm>
            <a:off x="4371975" y="4095750"/>
            <a:ext cx="1104900" cy="828675"/>
          </a:xfrm>
          <a:prstGeom prst="rect">
            <a:avLst/>
          </a:prstGeom>
          <a:solidFill>
            <a:srgbClr val="F5F5F7"/>
          </a:solidFill>
          <a:ln w="0">
            <a:noFill/>
          </a:ln>
        </p:spPr>
      </p:sp>
      <p:sp>
        <p:nvSpPr>
          <p:cNvPr id="24" name="text-8-97">
            <a:extLst>
              <a:ext uri="{FF2B5EF4-FFF2-40B4-BE49-F238E27FC236}">
                <ns2:creationId id="{A7BC2521-EC08-4E45-8142-EF00D44C6AA1}"/>
              </a:ext>
            </a:extLst>
          </p:cNvPr>
          <p:cNvSpPr>
            <a:spLocks noGrp="1"/>
          </p:cNvSpPr>
          <p:nvPr/>
        </p:nvSpPr>
        <p:spPr>
          <a:xfrm>
            <a:off x="4429125" y="423862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0_2</a:t>
            </a:r>
          </a:p>
          <a:p>
            <a:pPr algn="ctr">
              <a:defRPr sz="1650" b="1">
                <a:solidFill>
                  <a:srgbClr val="1D1D1F"/>
                </a:solidFill>
                <a:latin typeface="Inter"/>
                <a:ea typeface="Inter"/>
                <a:cs typeface="Inter"/>
              </a:defRPr>
            </a:pPr>
            <a:r>
              <a:rPr sz="1650" b="1">
                <a:solidFill>
                  <a:srgbClr val="1D1D1F"/>
                </a:solidFill>
                <a:latin typeface="Inter"/>
                <a:ea typeface="Inter"/>
                <a:cs typeface="Inter"/>
              </a:rPr>
              <a:t>Baggage</a:t>
            </a:r>
          </a:p>
        </p:txBody>
      </p:sp>
      <p:sp>
        <p:nvSpPr>
          <p:cNvPr id="25" name="">
            <a:extLst>
              <a:ext uri="{FF2B5EF4-FFF2-40B4-BE49-F238E27FC236}">
                <ns2:creationId id="{58E960A5-8F15-4D17-8A86-86DAADF252F0}"/>
              </a:ext>
            </a:extLst>
          </p:cNvPr>
          <p:cNvSpPr>
            <a:spLocks noGrp="1"/>
          </p:cNvSpPr>
          <p:nvPr/>
        </p:nvSpPr>
        <p:spPr>
          <a:xfrm>
            <a:off x="5553075" y="4095750"/>
            <a:ext cx="1104900" cy="828675"/>
          </a:xfrm>
          <a:prstGeom prst="rect">
            <a:avLst/>
          </a:prstGeom>
          <a:solidFill>
            <a:srgbClr val="F5F5F7"/>
          </a:solidFill>
          <a:ln w="0">
            <a:noFill/>
          </a:ln>
        </p:spPr>
      </p:sp>
      <p:sp>
        <p:nvSpPr>
          <p:cNvPr id="26" name="text-8-98">
            <a:extLst>
              <a:ext uri="{FF2B5EF4-FFF2-40B4-BE49-F238E27FC236}">
                <ns2:creationId id="{E94F622D-05A0-44B0-BA20-442C7D4805E2}"/>
              </a:ext>
            </a:extLst>
          </p:cNvPr>
          <p:cNvSpPr>
            <a:spLocks noGrp="1"/>
          </p:cNvSpPr>
          <p:nvPr/>
        </p:nvSpPr>
        <p:spPr>
          <a:xfrm>
            <a:off x="5610225" y="423862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0_3</a:t>
            </a:r>
          </a:p>
          <a:p>
            <a:pPr algn="ctr">
              <a:defRPr sz="1650" b="1">
                <a:solidFill>
                  <a:srgbClr val="1D1D1F"/>
                </a:solidFill>
                <a:latin typeface="Inter"/>
                <a:ea typeface="Inter"/>
                <a:cs typeface="Inter"/>
              </a:defRPr>
            </a:pPr>
            <a:r>
              <a:rPr sz="1650" b="1">
                <a:solidFill>
                  <a:srgbClr val="1D1D1F"/>
                </a:solidFill>
                <a:latin typeface="Inter"/>
                <a:ea typeface="Inter"/>
                <a:cs typeface="Inter"/>
              </a:rPr>
              <a:t>Seat</a:t>
            </a:r>
          </a:p>
        </p:txBody>
      </p:sp>
      <p:sp>
        <p:nvSpPr>
          <p:cNvPr id="27" name="">
            <a:extLst>
              <a:ext uri="{FF2B5EF4-FFF2-40B4-BE49-F238E27FC236}">
                <ns2:creationId id="{6F4500DF-1732-4FB5-BDEA-14DAA8AA4E54}"/>
              </a:ext>
            </a:extLst>
          </p:cNvPr>
          <p:cNvSpPr>
            <a:spLocks noGrp="1"/>
          </p:cNvSpPr>
          <p:nvPr/>
        </p:nvSpPr>
        <p:spPr>
          <a:xfrm>
            <a:off x="6734175" y="4095750"/>
            <a:ext cx="1104900" cy="828675"/>
          </a:xfrm>
          <a:prstGeom prst="rect">
            <a:avLst/>
          </a:prstGeom>
          <a:solidFill>
            <a:srgbClr val="F5F5F7"/>
          </a:solidFill>
          <a:ln w="0">
            <a:noFill/>
          </a:ln>
        </p:spPr>
      </p:sp>
      <p:sp>
        <p:nvSpPr>
          <p:cNvPr id="28" name="text-8-99">
            <a:extLst>
              <a:ext uri="{FF2B5EF4-FFF2-40B4-BE49-F238E27FC236}">
                <ns2:creationId id="{9EEC3B7C-9D3A-4782-A2CF-0D7671F7E73E}"/>
              </a:ext>
            </a:extLst>
          </p:cNvPr>
          <p:cNvSpPr>
            <a:spLocks noGrp="1"/>
          </p:cNvSpPr>
          <p:nvPr/>
        </p:nvSpPr>
        <p:spPr>
          <a:xfrm>
            <a:off x="6791325" y="423862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1_1</a:t>
            </a:r>
          </a:p>
          <a:p>
            <a:pPr algn="ctr">
              <a:defRPr sz="1650" b="1">
                <a:solidFill>
                  <a:srgbClr val="1D1D1F"/>
                </a:solidFill>
                <a:latin typeface="Inter"/>
                <a:ea typeface="Inter"/>
                <a:cs typeface="Inter"/>
              </a:defRPr>
            </a:pPr>
            <a:r>
              <a:rPr sz="1650" b="1">
                <a:solidFill>
                  <a:srgbClr val="1D1D1F"/>
                </a:solidFill>
                <a:latin typeface="Inter"/>
                <a:ea typeface="Inter"/>
                <a:cs typeface="Inter"/>
              </a:rPr>
              <a:t>Route</a:t>
            </a:r>
          </a:p>
        </p:txBody>
      </p:sp>
      <p:sp>
        <p:nvSpPr>
          <p:cNvPr id="29" name="">
            <a:extLst>
              <a:ext uri="{FF2B5EF4-FFF2-40B4-BE49-F238E27FC236}">
                <ns2:creationId id="{6C3C0866-73B4-4DBC-BB51-D474B76DDB32}"/>
              </a:ext>
            </a:extLst>
          </p:cNvPr>
          <p:cNvSpPr>
            <a:spLocks noGrp="1"/>
          </p:cNvSpPr>
          <p:nvPr/>
        </p:nvSpPr>
        <p:spPr>
          <a:xfrm>
            <a:off x="7915275" y="4095750"/>
            <a:ext cx="1104900" cy="828675"/>
          </a:xfrm>
          <a:prstGeom prst="rect">
            <a:avLst/>
          </a:prstGeom>
          <a:solidFill>
            <a:srgbClr val="F5F5F7"/>
          </a:solidFill>
          <a:ln w="0">
            <a:noFill/>
          </a:ln>
        </p:spPr>
      </p:sp>
      <p:sp>
        <p:nvSpPr>
          <p:cNvPr id="30" name="text-8-100">
            <a:extLst>
              <a:ext uri="{FF2B5EF4-FFF2-40B4-BE49-F238E27FC236}">
                <ns2:creationId id="{C5A483D2-980A-4763-85C6-FB6C56060558}"/>
              </a:ext>
            </a:extLst>
          </p:cNvPr>
          <p:cNvSpPr>
            <a:spLocks noGrp="1"/>
          </p:cNvSpPr>
          <p:nvPr/>
        </p:nvSpPr>
        <p:spPr>
          <a:xfrm>
            <a:off x="7972425" y="423862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1_2</a:t>
            </a:r>
          </a:p>
          <a:p>
            <a:pPr algn="ctr">
              <a:defRPr sz="1650" b="1">
                <a:solidFill>
                  <a:srgbClr val="1D1D1F"/>
                </a:solidFill>
                <a:latin typeface="Inter"/>
                <a:ea typeface="Inter"/>
                <a:cs typeface="Inter"/>
              </a:defRPr>
            </a:pPr>
            <a:r>
              <a:rPr sz="1650" b="1">
                <a:solidFill>
                  <a:srgbClr val="1D1D1F"/>
                </a:solidFill>
                <a:latin typeface="Inter"/>
                <a:ea typeface="Inter"/>
                <a:cs typeface="Inter"/>
              </a:rPr>
              <a:t>Baggage</a:t>
            </a:r>
          </a:p>
        </p:txBody>
      </p:sp>
      <p:sp>
        <p:nvSpPr>
          <p:cNvPr id="31" name="">
            <a:extLst>
              <a:ext uri="{FF2B5EF4-FFF2-40B4-BE49-F238E27FC236}">
                <ns2:creationId id="{62872FB9-CF3C-492C-9172-C5A1F12AAB7F}"/>
              </a:ext>
            </a:extLst>
          </p:cNvPr>
          <p:cNvSpPr>
            <a:spLocks noGrp="1"/>
          </p:cNvSpPr>
          <p:nvPr/>
        </p:nvSpPr>
        <p:spPr>
          <a:xfrm>
            <a:off x="9096375" y="4095750"/>
            <a:ext cx="1104900" cy="828675"/>
          </a:xfrm>
          <a:prstGeom prst="rect">
            <a:avLst/>
          </a:prstGeom>
          <a:solidFill>
            <a:srgbClr val="F5F5F7"/>
          </a:solidFill>
          <a:ln w="0">
            <a:noFill/>
          </a:ln>
        </p:spPr>
      </p:sp>
      <p:sp>
        <p:nvSpPr>
          <p:cNvPr id="32" name="text-8-101">
            <a:extLst>
              <a:ext uri="{FF2B5EF4-FFF2-40B4-BE49-F238E27FC236}">
                <ns2:creationId id="{752AE548-84EF-4D10-BDCA-6BF63F2F5BC9}"/>
              </a:ext>
            </a:extLst>
          </p:cNvPr>
          <p:cNvSpPr>
            <a:spLocks noGrp="1"/>
          </p:cNvSpPr>
          <p:nvPr/>
        </p:nvSpPr>
        <p:spPr>
          <a:xfrm>
            <a:off x="9153525" y="4238625"/>
            <a:ext cx="990600" cy="571500"/>
          </a:xfrm>
          <a:prstGeom prst="rect">
            <a:avLst/>
          </a:prstGeom>
          <a:noFill/>
          <a:ln w="0">
            <a:noFill/>
          </a:ln>
        </p:spPr>
        <p:txBody>
          <a:bodyPr anchor="t" lIns="0" rIns="0" tIns="0" bIns="0">
            <a:noAutofit/>
          </a:bodyPr>
          <a:lstStyle/>
          <a:p>
            <a:pPr algn="ctr">
              <a:defRPr sz="1650" b="1">
                <a:solidFill>
                  <a:srgbClr val="1D1D1F"/>
                </a:solidFill>
                <a:latin typeface="Inter"/>
                <a:ea typeface="Inter"/>
                <a:cs typeface="Inter"/>
              </a:defRPr>
            </a:pPr>
            <a:r>
              <a:rPr sz="1650" b="1">
                <a:solidFill>
                  <a:srgbClr val="1D1D1F"/>
                </a:solidFill>
                <a:latin typeface="Inter"/>
                <a:ea typeface="Inter"/>
                <a:cs typeface="Inter"/>
              </a:rPr>
              <a:t>1_3</a:t>
            </a:r>
          </a:p>
          <a:p>
            <a:pPr algn="ctr">
              <a:defRPr sz="1650" b="1">
                <a:solidFill>
                  <a:srgbClr val="1D1D1F"/>
                </a:solidFill>
                <a:latin typeface="Inter"/>
                <a:ea typeface="Inter"/>
                <a:cs typeface="Inter"/>
              </a:defRPr>
            </a:pPr>
            <a:r>
              <a:rPr sz="1650" b="1">
                <a:solidFill>
                  <a:srgbClr val="1D1D1F"/>
                </a:solidFill>
                <a:latin typeface="Inter"/>
                <a:ea typeface="Inter"/>
                <a:cs typeface="Inter"/>
              </a:rPr>
              <a:t>Seat</a:t>
            </a:r>
          </a:p>
        </p:txBody>
      </p:sp>
      <p:sp>
        <p:nvSpPr>
          <p:cNvPr id="33" name="">
            <a:extLst>
              <a:ext uri="{FF2B5EF4-FFF2-40B4-BE49-F238E27FC236}">
                <ns2:creationId id="{392C28A6-43BA-479C-ABD4-A14DC82AC8E4}"/>
              </a:ext>
            </a:extLst>
          </p:cNvPr>
          <p:cNvSpPr>
            <a:spLocks noGrp="1"/>
          </p:cNvSpPr>
          <p:nvPr/>
        </p:nvSpPr>
        <p:spPr>
          <a:xfrm>
            <a:off x="10277475" y="4095750"/>
            <a:ext cx="1104900" cy="828675"/>
          </a:xfrm>
          <a:prstGeom prst="rect">
            <a:avLst/>
          </a:prstGeom>
          <a:solidFill>
            <a:srgbClr val="0071E3"/>
          </a:solidFill>
          <a:ln w="0">
            <a:noFill/>
          </a:ln>
        </p:spPr>
      </p:sp>
      <p:sp>
        <p:nvSpPr>
          <p:cNvPr id="34" name="text-8-102">
            <a:extLst>
              <a:ext uri="{FF2B5EF4-FFF2-40B4-BE49-F238E27FC236}">
                <ns2:creationId id="{68D6BA98-532D-49E4-86BD-B7BAEEA222A5}"/>
              </a:ext>
            </a:extLst>
          </p:cNvPr>
          <p:cNvSpPr>
            <a:spLocks noGrp="1"/>
          </p:cNvSpPr>
          <p:nvPr/>
        </p:nvSpPr>
        <p:spPr>
          <a:xfrm>
            <a:off x="10334625" y="4238625"/>
            <a:ext cx="990600" cy="571500"/>
          </a:xfrm>
          <a:prstGeom prst="rect">
            <a:avLst/>
          </a:prstGeom>
          <a:noFill/>
          <a:ln w="0">
            <a:noFill/>
          </a:ln>
        </p:spPr>
        <p:txBody>
          <a:bodyPr anchor="t" lIns="0" rIns="0" tIns="0" bIns="0">
            <a:noAutofit/>
          </a:bodyPr>
          <a:lstStyle/>
          <a:p>
            <a:pPr algn="ctr">
              <a:defRPr sz="1650" b="1">
                <a:solidFill>
                  <a:srgbClr val="FFFFFF"/>
                </a:solidFill>
                <a:latin typeface="Inter"/>
                <a:ea typeface="Inter"/>
                <a:cs typeface="Inter"/>
              </a:defRPr>
            </a:pPr>
            <a:r>
              <a:rPr sz="1650" b="1">
                <a:solidFill>
                  <a:srgbClr val="FFFFFF"/>
                </a:solidFill>
                <a:latin typeface="Inter"/>
                <a:ea typeface="Inter"/>
                <a:cs typeface="Inter"/>
              </a:rPr>
              <a:t>1_4</a:t>
            </a:r>
          </a:p>
          <a:p>
            <a:pPr algn="ctr">
              <a:defRPr sz="1650" b="1">
                <a:solidFill>
                  <a:srgbClr val="FFFFFF"/>
                </a:solidFill>
                <a:latin typeface="Inter"/>
                <a:ea typeface="Inter"/>
                <a:cs typeface="Inter"/>
              </a:defRPr>
            </a:pPr>
            <a:r>
              <a:rPr sz="1650" b="1">
                <a:solidFill>
                  <a:srgbClr val="FFFFFF"/>
                </a:solidFill>
                <a:latin typeface="Inter"/>
                <a:ea typeface="Inter"/>
                <a:cs typeface="Inter"/>
              </a:rPr>
              <a:t>Price</a:t>
            </a:r>
          </a:p>
        </p:txBody>
      </p:sp>
      <p:sp>
        <p:nvSpPr>
          <p:cNvPr id="35" name="text-8-103">
            <a:extLst>
              <a:ext uri="{FF2B5EF4-FFF2-40B4-BE49-F238E27FC236}">
                <ns2:creationId id="{A7133AFA-6D6C-4AC3-86DA-6FC818D70FEC}"/>
              </a:ext>
            </a:extLst>
          </p:cNvPr>
          <p:cNvSpPr>
            <a:spLocks noGrp="1"/>
          </p:cNvSpPr>
          <p:nvPr/>
        </p:nvSpPr>
        <p:spPr>
          <a:xfrm>
            <a:off x="3200400" y="5038725"/>
            <a:ext cx="8267700" cy="323850"/>
          </a:xfrm>
          <a:prstGeom prst="rect">
            <a:avLst/>
          </a:prstGeom>
          <a:noFill/>
          <a:ln w="0">
            <a:noFill/>
          </a:ln>
        </p:spPr>
        <p:txBody>
          <a:bodyPr anchor="t" lIns="0" rIns="0" tIns="0" bIns="0">
            <a:noAutofit/>
          </a:bodyPr>
          <a:lstStyle/>
          <a:p>
            <a:pPr algn="l">
              <a:defRPr sz="1575" b="0">
                <a:solidFill>
                  <a:srgbClr val="6E6E73"/>
                </a:solidFill>
                <a:latin typeface="Inter"/>
                <a:ea typeface="Inter"/>
                <a:cs typeface="Inter"/>
              </a:defRPr>
            </a:pPr>
            <a:r>
              <a:rPr sz="1575" b="0">
                <a:solidFill>
                  <a:srgbClr val="6E6E73"/>
                </a:solidFill>
                <a:latin typeface="Inter"/>
                <a:ea typeface="Inter"/>
                <a:cs typeface="Inter"/>
              </a:rPr>
              <a:t>Work IDs use the prefix offer_   (for example offer_0_4)</a:t>
            </a:r>
          </a:p>
        </p:txBody>
      </p:sp>
      <p:sp>
        <p:nvSpPr>
          <p:cNvPr id="36" name="text-8-104">
            <a:extLst>
              <a:ext uri="{FF2B5EF4-FFF2-40B4-BE49-F238E27FC236}">
                <ns2:creationId id="{35A9B1A9-8488-4936-98BC-66D00E767C86}"/>
              </a:ext>
            </a:extLst>
          </p:cNvPr>
          <p:cNvSpPr>
            <a:spLocks noGrp="1"/>
          </p:cNvSpPr>
          <p:nvPr/>
        </p:nvSpPr>
        <p:spPr>
          <a:xfrm>
            <a:off x="704850" y="5486400"/>
            <a:ext cx="6238875" cy="428625"/>
          </a:xfrm>
          <a:prstGeom prst="rect">
            <a:avLst/>
          </a:prstGeom>
          <a:noFill/>
          <a:ln w="0">
            <a:noFill/>
          </a:ln>
        </p:spPr>
        <p:txBody>
          <a:bodyPr anchor="t" lIns="0" rIns="0" tIns="0" bIns="0">
            <a:noAutofit/>
          </a:bodyPr>
          <a:lstStyle/>
          <a:p>
            <a:pPr algn="l">
              <a:defRPr sz="1950" b="1">
                <a:solidFill>
                  <a:srgbClr val="1D1D1F"/>
                </a:solidFill>
                <a:latin typeface="Inter"/>
                <a:ea typeface="Inter"/>
                <a:cs typeface="Inter"/>
              </a:defRPr>
            </a:pPr>
            <a:r>
              <a:rPr sz="1950" b="1">
                <a:solidFill>
                  <a:srgbClr val="1D1D1F"/>
                </a:solidFill>
                <a:latin typeface="Inter"/>
                <a:ea typeface="Inter"/>
                <a:cs typeface="Inter"/>
              </a:rPr>
              <a:t>z offer0: 0.425 to 0.4171875</a:t>
            </a:r>
          </a:p>
        </p:txBody>
      </p:sp>
      <p:sp>
        <p:nvSpPr>
          <p:cNvPr id="37" name="text-8-105">
            <a:extLst>
              <a:ext uri="{FF2B5EF4-FFF2-40B4-BE49-F238E27FC236}">
                <ns2:creationId id="{70E12690-CD03-4532-881D-F91F108FF549}"/>
              </a:ext>
            </a:extLst>
          </p:cNvPr>
          <p:cNvSpPr>
            <a:spLocks noGrp="1"/>
          </p:cNvSpPr>
          <p:nvPr/>
        </p:nvSpPr>
        <p:spPr>
          <a:xfrm>
            <a:off x="7381875" y="5486400"/>
            <a:ext cx="4114800" cy="428625"/>
          </a:xfrm>
          <a:prstGeom prst="rect">
            <a:avLst/>
          </a:prstGeom>
          <a:noFill/>
          <a:ln w="0">
            <a:noFill/>
          </a:ln>
        </p:spPr>
        <p:txBody>
          <a:bodyPr anchor="t" lIns="0" rIns="0" tIns="0" bIns="0">
            <a:noAutofit/>
          </a:bodyPr>
          <a:lstStyle/>
          <a:p>
            <a:pPr algn="l">
              <a:defRPr sz="1950" b="1">
                <a:solidFill>
                  <a:srgbClr val="1D1D1F"/>
                </a:solidFill>
                <a:latin typeface="Inter"/>
                <a:ea typeface="Inter"/>
                <a:cs typeface="Inter"/>
              </a:defRPr>
            </a:pPr>
            <a:r>
              <a:rPr sz="1950" b="1">
                <a:solidFill>
                  <a:srgbClr val="1D1D1F"/>
                </a:solidFill>
                <a:latin typeface="Inter"/>
                <a:ea typeface="Inter"/>
                <a:cs typeface="Inter"/>
              </a:rPr>
              <a:t>z offer1: 0.42125</a:t>
            </a:r>
          </a:p>
        </p:txBody>
      </p:sp>
      <p:sp>
        <p:nvSpPr>
          <p:cNvPr id="38" name="text-8-106">
            <a:extLst>
              <a:ext uri="{FF2B5EF4-FFF2-40B4-BE49-F238E27FC236}">
                <ns2:creationId id="{06164FF7-43AE-4A6F-B81C-B403085DB010}"/>
              </a:ext>
            </a:extLst>
          </p:cNvPr>
          <p:cNvSpPr>
            <a:spLocks noGrp="1"/>
          </p:cNvSpPr>
          <p:nvPr/>
        </p:nvSpPr>
        <p:spPr>
          <a:xfrm>
            <a:off x="704850" y="5838825"/>
            <a:ext cx="10782300" cy="285750"/>
          </a:xfrm>
          <a:prstGeom prst="rect">
            <a:avLst/>
          </a:prstGeom>
          <a:noFill/>
          <a:ln w="0">
            <a:noFill/>
          </a:ln>
        </p:spPr>
        <p:txBody>
          <a:bodyPr anchor="t" lIns="0" rIns="0" tIns="0" bIns="0">
            <a:noAutofit/>
          </a:bodyPr>
          <a:lstStyle/>
          <a:p>
            <a:pPr algn="l">
              <a:defRPr sz="1575" b="0">
                <a:solidFill>
                  <a:srgbClr val="6E6E73"/>
                </a:solidFill>
                <a:latin typeface="Inter"/>
                <a:ea typeface="Inter"/>
                <a:cs typeface="Inter"/>
              </a:defRPr>
            </a:pPr>
            <a:r>
              <a:rPr sz="1575" b="0">
                <a:solidFill>
                  <a:srgbClr val="6E6E73"/>
                </a:solidFill>
                <a:latin typeface="Inter"/>
                <a:ea typeface="Inter"/>
                <a:cs typeface="Inter"/>
              </a:rPr>
              <a:t>Raw prior applies once. Both lanes prepare offer:0.</a:t>
            </a:r>
          </a:p>
        </p:txBody>
      </p:sp>
      <p:sp>
        <p:nvSpPr>
          <p:cNvPr id="39" name="">
            <a:extLst>
              <a:ext uri="{FF2B5EF4-FFF2-40B4-BE49-F238E27FC236}">
                <ns2:creationId id="{2341EFAB-7941-487E-9BDC-8FEE20E9A9C0}"/>
              </a:ext>
            </a:extLst>
          </p:cNvPr>
          <p:cNvSpPr>
            <a:spLocks noGrp="1"/>
          </p:cNvSpPr>
          <p:nvPr/>
        </p:nvSpPr>
        <p:spPr>
          <a:xfrm>
            <a:off x="704850" y="6162675"/>
            <a:ext cx="10801350" cy="0"/>
          </a:xfrm>
          <a:prstGeom prst="line">
            <a:avLst/>
          </a:prstGeom>
          <a:noFill/>
          <a:ln w="6668">
            <a:solidFill>
              <a:srgbClr val="D2D2D7"/>
            </a:solidFill>
            <a:prstDash val="solid"/>
          </a:ln>
        </p:spPr>
      </p:sp>
      <p:sp>
        <p:nvSpPr>
          <p:cNvPr id="40" name="link-8-appendix">
            <a:extLst>
              <a:ext uri="{FF2B5EF4-FFF2-40B4-BE49-F238E27FC236}">
                <ns2:creationId id="{459BF9CE-062D-45E1-AB6C-584CF77A31D1}"/>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C06 / C07   Technical evidence</a:t>
            </a:r>
          </a:p>
        </p:txBody>
      </p:sp>
      <p:sp>
        <p:nvSpPr>
          <p:cNvPr id="41" name="text-8-108">
            <a:extLst>
              <a:ext uri="{FF2B5EF4-FFF2-40B4-BE49-F238E27FC236}">
                <ns2:creationId id="{D2ED1F8A-7E33-45C1-8A81-DAFB24AD6B55}"/>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42" name="text-8-109">
            <a:extLst>
              <a:ext uri="{FF2B5EF4-FFF2-40B4-BE49-F238E27FC236}">
                <ns2:creationId id="{54C8EF0B-E0E1-415B-B48B-CE298DEFBCCD}"/>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08</a:t>
            </a:r>
          </a:p>
        </p:txBody>
      </p:sp>
    </p:spTree>
    <p:extLst>
      <p:ext uri="{BB962C8B-B14F-4D97-AF65-F5344CB8AC3E}">
        <ns4:creationId val="180899691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6" name="text-9-110">
            <a:extLst>
              <a:ext uri="{FF2B5EF4-FFF2-40B4-BE49-F238E27FC236}">
                <ns2:creationId id="{77322535-1CFA-4325-BF1A-3E6E306AB3EC}"/>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Allocated work reaches the final consumer</a:t>
            </a:r>
          </a:p>
        </p:txBody>
      </p:sp>
      <p:sp>
        <p:nvSpPr>
          <p:cNvPr id="2" name="text-9-111">
            <a:extLst>
              <a:ext uri="{FF2B5EF4-FFF2-40B4-BE49-F238E27FC236}">
                <ns2:creationId id="{FF6F0E06-27A1-404A-86B5-44F31E211E2B}"/>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The native Work input carries the allocation proof. Its output binds the same allocation.</a:t>
            </a:r>
          </a:p>
        </p:txBody>
      </p:sp>
      <p:sp>
        <p:nvSpPr>
          <p:cNvPr id="3" name="">
            <a:extLst>
              <a:ext uri="{FF2B5EF4-FFF2-40B4-BE49-F238E27FC236}">
                <ns2:creationId id="{5234D7DB-4420-4AA4-B4C1-7382D04DAC16}"/>
              </a:ext>
            </a:extLst>
          </p:cNvPr>
          <p:cNvSpPr>
            <a:spLocks noGrp="1"/>
          </p:cNvSpPr>
          <p:nvPr/>
        </p:nvSpPr>
        <p:spPr>
          <a:xfrm>
            <a:off x="704850" y="2790825"/>
            <a:ext cx="2486025" cy="762000"/>
          </a:xfrm>
          <a:prstGeom prst="rect">
            <a:avLst/>
          </a:prstGeom>
          <a:solidFill>
            <a:srgbClr val="FFFFFF"/>
          </a:solidFill>
          <a:ln w="13335">
            <a:solidFill>
              <a:srgbClr val="1D1D1F"/>
            </a:solidFill>
          </a:ln>
        </p:spPr>
      </p:sp>
      <p:sp>
        <p:nvSpPr>
          <p:cNvPr id="4" name="text-9-112">
            <a:extLst>
              <a:ext uri="{FF2B5EF4-FFF2-40B4-BE49-F238E27FC236}">
                <ns2:creationId id="{7AD4F4EE-653D-443A-9F16-B738A430E1E5}"/>
              </a:ext>
            </a:extLst>
          </p:cNvPr>
          <p:cNvSpPr>
            <a:spLocks noGrp="1"/>
          </p:cNvSpPr>
          <p:nvPr/>
        </p:nvSpPr>
        <p:spPr>
          <a:xfrm>
            <a:off x="857250" y="2943225"/>
            <a:ext cx="2181225" cy="571500"/>
          </a:xfrm>
          <a:prstGeom prst="rect">
            <a:avLst/>
          </a:prstGeom>
          <a:noFill/>
          <a:ln w="0">
            <a:noFill/>
          </a:ln>
        </p:spPr>
        <p:txBody>
          <a:bodyPr anchor="t" lIns="0" rIns="0" tIns="0" bIns="0">
            <a:noAutofit/>
          </a:bodyPr>
          <a:lstStyle/>
          <a:p>
            <a:pPr algn="ctr">
              <a:defRPr sz="1875" b="1">
                <a:solidFill>
                  <a:srgbClr val="1D1D1F"/>
                </a:solidFill>
                <a:latin typeface="Inter"/>
                <a:ea typeface="Inter"/>
                <a:cs typeface="Inter"/>
              </a:defRPr>
            </a:pPr>
            <a:r>
              <a:rPr sz="1875" b="1">
                <a:solidFill>
                  <a:srgbClr val="1D1D1F"/>
                </a:solidFill>
                <a:latin typeface="Inter"/>
                <a:ea typeface="Inter"/>
                <a:cs typeface="Inter"/>
              </a:rPr>
              <a:t>Accepted allocation</a:t>
            </a:r>
          </a:p>
        </p:txBody>
      </p:sp>
      <p:sp>
        <p:nvSpPr>
          <p:cNvPr id="5" name="text-9-113">
            <a:extLst>
              <a:ext uri="{FF2B5EF4-FFF2-40B4-BE49-F238E27FC236}">
                <ns2:creationId id="{24AD5B50-751A-447D-9AEF-41E5FCCD3A29}"/>
              </a:ext>
            </a:extLst>
          </p:cNvPr>
          <p:cNvSpPr>
            <a:spLocks noGrp="1"/>
          </p:cNvSpPr>
          <p:nvPr/>
        </p:nvSpPr>
        <p:spPr>
          <a:xfrm>
            <a:off x="704850" y="3790950"/>
            <a:ext cx="2486025" cy="1047750"/>
          </a:xfrm>
          <a:prstGeom prst="rect">
            <a:avLst/>
          </a:prstGeom>
          <a:noFill/>
          <a:ln w="0">
            <a:noFill/>
          </a:ln>
        </p:spPr>
        <p:txBody>
          <a:bodyPr anchor="t" lIns="0" rIns="0" tIns="0" bIns="0">
            <a:noAutofit/>
          </a:bodyPr>
          <a:lstStyle/>
          <a:p>
            <a:pPr algn="l">
              <a:defRPr sz="2100" b="0">
                <a:solidFill>
                  <a:srgbClr val="1D1D1F"/>
                </a:solidFill>
                <a:latin typeface="Inter"/>
                <a:ea typeface="Inter"/>
                <a:cs typeface="Inter"/>
              </a:defRPr>
            </a:pPr>
            <a:r>
              <a:rPr sz="2100" b="0">
                <a:solidFill>
                  <a:srgbClr val="1D1D1F"/>
                </a:solidFill>
                <a:latin typeface="Inter"/>
                <a:ea typeface="Inter"/>
                <a:cs typeface="Inter"/>
              </a:rPr>
              <a:t>Cold [4, 3]</a:t>
            </a:r>
          </a:p>
        </p:txBody>
      </p:sp>
      <p:sp>
        <p:nvSpPr>
          <p:cNvPr id="6" name="">
            <a:extLst>
              <a:ext uri="{FF2B5EF4-FFF2-40B4-BE49-F238E27FC236}">
                <ns2:creationId id="{A89E059D-7175-4D5E-9212-F83C51D0CDF1}"/>
              </a:ext>
            </a:extLst>
          </p:cNvPr>
          <p:cNvSpPr>
            <a:spLocks noGrp="1"/>
          </p:cNvSpPr>
          <p:nvPr/>
        </p:nvSpPr>
        <p:spPr>
          <a:xfrm>
            <a:off x="3467100" y="2790825"/>
            <a:ext cx="2486025" cy="762000"/>
          </a:xfrm>
          <a:prstGeom prst="rect">
            <a:avLst/>
          </a:prstGeom>
          <a:solidFill>
            <a:srgbClr val="FFFFFF"/>
          </a:solidFill>
          <a:ln w="13335">
            <a:solidFill>
              <a:srgbClr val="1D1D1F"/>
            </a:solidFill>
          </a:ln>
        </p:spPr>
      </p:sp>
      <p:sp>
        <p:nvSpPr>
          <p:cNvPr id="7" name="text-9-114">
            <a:extLst>
              <a:ext uri="{FF2B5EF4-FFF2-40B4-BE49-F238E27FC236}">
                <ns2:creationId id="{F1E224EA-6F9B-41C7-8097-C305A9BA3AFE}"/>
              </a:ext>
            </a:extLst>
          </p:cNvPr>
          <p:cNvSpPr>
            <a:spLocks noGrp="1"/>
          </p:cNvSpPr>
          <p:nvPr/>
        </p:nvSpPr>
        <p:spPr>
          <a:xfrm>
            <a:off x="3619500" y="2943225"/>
            <a:ext cx="2181225" cy="571500"/>
          </a:xfrm>
          <a:prstGeom prst="rect">
            <a:avLst/>
          </a:prstGeom>
          <a:noFill/>
          <a:ln w="0">
            <a:noFill/>
          </a:ln>
        </p:spPr>
        <p:txBody>
          <a:bodyPr anchor="t" lIns="0" rIns="0" tIns="0" bIns="0">
            <a:noAutofit/>
          </a:bodyPr>
          <a:lstStyle/>
          <a:p>
            <a:pPr algn="ctr">
              <a:defRPr sz="1875" b="1">
                <a:solidFill>
                  <a:srgbClr val="1D1D1F"/>
                </a:solidFill>
                <a:latin typeface="Inter"/>
                <a:ea typeface="Inter"/>
                <a:cs typeface="Inter"/>
              </a:defRPr>
            </a:pPr>
            <a:r>
              <a:rPr sz="1875" b="1">
                <a:solidFill>
                  <a:srgbClr val="1D1D1F"/>
                </a:solidFill>
                <a:latin typeface="Inter"/>
                <a:ea typeface="Inter"/>
                <a:cs typeface="Inter"/>
              </a:rPr>
              <a:t>Actual Work literal</a:t>
            </a:r>
          </a:p>
        </p:txBody>
      </p:sp>
      <p:cxnSp>
        <p:nvCxnSpPr>
          <p:cNvPr id="33" name=""/>
          <p:cNvCxnSpPr>
            <a:stCxn id="3" idx="3"/>
            <a:endCxn id="6" idx="1"/>
          </p:cNvCxnSpPr>
          <p:nvPr/>
        </p:nvCxnSpPr>
        <p:spPr>
          <a:xfrm>
            <a:off x="3190875" y="3171825"/>
            <a:ext cx="276225" cy="0"/>
          </a:xfrm>
          <a:prstGeom prst="straightConnector1">
            <a:avLst/>
          </a:prstGeom>
          <a:ln w="17145">
            <a:solidFill>
              <a:srgbClr val="6E6E73"/>
            </a:solidFill>
            <a:prstDash val="solid"/>
            <a:tailEnd type="arrow" w="med" len="med"/>
          </a:ln>
        </p:spPr>
      </p:cxnSp>
      <p:sp>
        <p:nvSpPr>
          <p:cNvPr id="9" name="text-9-115">
            <a:extLst>
              <a:ext uri="{FF2B5EF4-FFF2-40B4-BE49-F238E27FC236}">
                <ns2:creationId id="{D1063D17-F2BC-4362-8941-14F88CC54E7B}"/>
              </a:ext>
            </a:extLst>
          </p:cNvPr>
          <p:cNvSpPr>
            <a:spLocks noGrp="1"/>
          </p:cNvSpPr>
          <p:nvPr/>
        </p:nvSpPr>
        <p:spPr>
          <a:xfrm>
            <a:off x="3467100" y="3790950"/>
            <a:ext cx="2486025" cy="1047750"/>
          </a:xfrm>
          <a:prstGeom prst="rect">
            <a:avLst/>
          </a:prstGeom>
          <a:noFill/>
          <a:ln w="0">
            <a:noFill/>
          </a:ln>
        </p:spPr>
        <p:txBody>
          <a:bodyPr anchor="t" lIns="0" rIns="0" tIns="0" bIns="0">
            <a:noAutofit/>
          </a:bodyPr>
          <a:lstStyle/>
          <a:p>
            <a:pPr algn="l">
              <a:defRPr sz="2100" b="0">
                <a:solidFill>
                  <a:srgbClr val="1D1D1F"/>
                </a:solidFill>
                <a:latin typeface="Inter"/>
                <a:ea typeface="Inter"/>
                <a:cs typeface="Inter"/>
              </a:defRPr>
            </a:pPr>
            <a:r>
              <a:rPr sz="2100" b="0">
                <a:solidFill>
                  <a:srgbClr val="1D1D1F"/>
                </a:solidFill>
                <a:latin typeface="Inter"/>
                <a:ea typeface="Inter"/>
                <a:cs typeface="Inter"/>
              </a:rPr>
              <a:t>offer_0_4</a:t>
            </a:r>
          </a:p>
          <a:p>
            <a:pPr algn="l">
              <a:defRPr sz="2100" b="0">
                <a:solidFill>
                  <a:srgbClr val="1D1D1F"/>
                </a:solidFill>
                <a:latin typeface="Inter"/>
                <a:ea typeface="Inter"/>
                <a:cs typeface="Inter"/>
              </a:defRPr>
            </a:pPr>
            <a:r>
              <a:rPr sz="2100" b="0">
                <a:solidFill>
                  <a:srgbClr val="1D1D1F"/>
                </a:solidFill>
                <a:latin typeface="Inter"/>
                <a:ea typeface="Inter"/>
                <a:cs typeface="Inter"/>
              </a:rPr>
              <a:t>field: price</a:t>
            </a:r>
          </a:p>
        </p:txBody>
      </p:sp>
      <p:sp>
        <p:nvSpPr>
          <p:cNvPr id="10" name="">
            <a:extLst>
              <a:ext uri="{FF2B5EF4-FFF2-40B4-BE49-F238E27FC236}">
                <ns2:creationId id="{A3D48715-007F-4C45-B3B6-4B7E5062F02A}"/>
              </a:ext>
            </a:extLst>
          </p:cNvPr>
          <p:cNvSpPr>
            <a:spLocks noGrp="1"/>
          </p:cNvSpPr>
          <p:nvPr/>
        </p:nvSpPr>
        <p:spPr>
          <a:xfrm>
            <a:off x="6229350" y="2790825"/>
            <a:ext cx="2486025" cy="762000"/>
          </a:xfrm>
          <a:prstGeom prst="rect">
            <a:avLst/>
          </a:prstGeom>
          <a:solidFill>
            <a:srgbClr val="FFFFFF"/>
          </a:solidFill>
          <a:ln w="13335">
            <a:solidFill>
              <a:srgbClr val="1D1D1F"/>
            </a:solidFill>
          </a:ln>
        </p:spPr>
      </p:sp>
      <p:sp>
        <p:nvSpPr>
          <p:cNvPr id="11" name="text-9-116">
            <a:extLst>
              <a:ext uri="{FF2B5EF4-FFF2-40B4-BE49-F238E27FC236}">
                <ns2:creationId id="{7ACFA34C-E533-46A3-B236-6D0C8EA1803A}"/>
              </a:ext>
            </a:extLst>
          </p:cNvPr>
          <p:cNvSpPr>
            <a:spLocks noGrp="1"/>
          </p:cNvSpPr>
          <p:nvPr/>
        </p:nvSpPr>
        <p:spPr>
          <a:xfrm>
            <a:off x="6381750" y="2943225"/>
            <a:ext cx="2181225" cy="571500"/>
          </a:xfrm>
          <a:prstGeom prst="rect">
            <a:avLst/>
          </a:prstGeom>
          <a:noFill/>
          <a:ln w="0">
            <a:noFill/>
          </a:ln>
        </p:spPr>
        <p:txBody>
          <a:bodyPr anchor="t" lIns="0" rIns="0" tIns="0" bIns="0">
            <a:noAutofit/>
          </a:bodyPr>
          <a:lstStyle/>
          <a:p>
            <a:pPr algn="ctr">
              <a:defRPr sz="1875" b="1">
                <a:solidFill>
                  <a:srgbClr val="1D1D1F"/>
                </a:solidFill>
                <a:latin typeface="Inter"/>
                <a:ea typeface="Inter"/>
                <a:cs typeface="Inter"/>
              </a:defRPr>
            </a:pPr>
            <a:r>
              <a:rPr sz="1875" b="1">
                <a:solidFill>
                  <a:srgbClr val="1D1D1F"/>
                </a:solidFill>
                <a:latin typeface="Inter"/>
                <a:ea typeface="Inter"/>
                <a:cs typeface="Inter"/>
              </a:rPr>
              <a:t>Completed output</a:t>
            </a:r>
          </a:p>
        </p:txBody>
      </p:sp>
      <p:cxnSp>
        <p:nvCxnSpPr>
          <p:cNvPr id="37" name=""/>
          <p:cNvCxnSpPr>
            <a:stCxn id="6" idx="3"/>
            <a:endCxn id="10" idx="1"/>
          </p:cNvCxnSpPr>
          <p:nvPr/>
        </p:nvCxnSpPr>
        <p:spPr>
          <a:xfrm>
            <a:off x="5953125" y="3171825"/>
            <a:ext cx="276225" cy="0"/>
          </a:xfrm>
          <a:prstGeom prst="straightConnector1">
            <a:avLst/>
          </a:prstGeom>
          <a:ln w="17145">
            <a:solidFill>
              <a:srgbClr val="6E6E73"/>
            </a:solidFill>
            <a:prstDash val="solid"/>
            <a:tailEnd type="arrow" w="med" len="med"/>
          </a:ln>
        </p:spPr>
      </p:cxnSp>
      <p:sp>
        <p:nvSpPr>
          <p:cNvPr id="13" name="text-9-117">
            <a:extLst>
              <a:ext uri="{FF2B5EF4-FFF2-40B4-BE49-F238E27FC236}">
                <ns2:creationId id="{1644C4A4-2883-49DC-B7A1-1F2F7CB46193}"/>
              </a:ext>
            </a:extLst>
          </p:cNvPr>
          <p:cNvSpPr>
            <a:spLocks noGrp="1"/>
          </p:cNvSpPr>
          <p:nvPr/>
        </p:nvSpPr>
        <p:spPr>
          <a:xfrm>
            <a:off x="6229350" y="3790950"/>
            <a:ext cx="2486025" cy="1047750"/>
          </a:xfrm>
          <a:prstGeom prst="rect">
            <a:avLst/>
          </a:prstGeom>
          <a:noFill/>
          <a:ln w="0">
            <a:noFill/>
          </a:ln>
        </p:spPr>
        <p:txBody>
          <a:bodyPr anchor="t" lIns="0" rIns="0" tIns="0" bIns="0">
            <a:noAutofit/>
          </a:bodyPr>
          <a:lstStyle/>
          <a:p>
            <a:pPr algn="l">
              <a:defRPr sz="2100" b="0">
                <a:solidFill>
                  <a:srgbClr val="1D1D1F"/>
                </a:solidFill>
                <a:latin typeface="Inter"/>
                <a:ea typeface="Inter"/>
                <a:cs typeface="Inter"/>
              </a:defRPr>
            </a:pPr>
            <a:r>
              <a:rPr sz="2100" b="0">
                <a:solidFill>
                  <a:srgbClr val="1D1D1F"/>
                </a:solidFill>
                <a:latin typeface="Inter"/>
                <a:ea typeface="Inter"/>
                <a:cs typeface="Inter"/>
              </a:rPr>
              <a:t>EUR 790</a:t>
            </a:r>
          </a:p>
          <a:p>
            <a:pPr algn="l">
              <a:defRPr sz="2100" b="0">
                <a:solidFill>
                  <a:srgbClr val="1D1D1F"/>
                </a:solidFill>
                <a:latin typeface="Inter"/>
                <a:ea typeface="Inter"/>
                <a:cs typeface="Inter"/>
              </a:defRPr>
            </a:pPr>
            <a:r>
              <a:rPr sz="2100" b="0">
                <a:solidFill>
                  <a:srgbClr val="1D1D1F"/>
                </a:solidFill>
                <a:latin typeface="Inter"/>
                <a:ea typeface="Inter"/>
                <a:cs typeface="Inter"/>
              </a:rPr>
              <a:t>COMPLETED</a:t>
            </a:r>
          </a:p>
        </p:txBody>
      </p:sp>
      <p:sp>
        <p:nvSpPr>
          <p:cNvPr id="14" name="">
            <a:extLst>
              <a:ext uri="{FF2B5EF4-FFF2-40B4-BE49-F238E27FC236}">
                <ns2:creationId id="{D73E31C3-E2A5-43F0-B5F5-19B0776940AB}"/>
              </a:ext>
            </a:extLst>
          </p:cNvPr>
          <p:cNvSpPr>
            <a:spLocks noGrp="1"/>
          </p:cNvSpPr>
          <p:nvPr/>
        </p:nvSpPr>
        <p:spPr>
          <a:xfrm>
            <a:off x="8991600" y="2790825"/>
            <a:ext cx="2486025" cy="762000"/>
          </a:xfrm>
          <a:prstGeom prst="rect">
            <a:avLst/>
          </a:prstGeom>
          <a:solidFill>
            <a:srgbClr val="FFFFFF"/>
          </a:solidFill>
          <a:ln w="13335">
            <a:solidFill>
              <a:srgbClr val="0071E3"/>
            </a:solidFill>
          </a:ln>
        </p:spPr>
      </p:sp>
      <p:sp>
        <p:nvSpPr>
          <p:cNvPr id="15" name="text-9-118">
            <a:extLst>
              <a:ext uri="{FF2B5EF4-FFF2-40B4-BE49-F238E27FC236}">
                <ns2:creationId id="{B91B5670-5990-4300-9174-35DC3B294ACE}"/>
              </a:ext>
            </a:extLst>
          </p:cNvPr>
          <p:cNvSpPr>
            <a:spLocks noGrp="1"/>
          </p:cNvSpPr>
          <p:nvPr/>
        </p:nvSpPr>
        <p:spPr>
          <a:xfrm>
            <a:off x="9144000" y="2943225"/>
            <a:ext cx="2181225" cy="571500"/>
          </a:xfrm>
          <a:prstGeom prst="rect">
            <a:avLst/>
          </a:prstGeom>
          <a:noFill/>
          <a:ln w="0">
            <a:noFill/>
          </a:ln>
        </p:spPr>
        <p:txBody>
          <a:bodyPr anchor="t" lIns="0" rIns="0" tIns="0" bIns="0">
            <a:noAutofit/>
          </a:bodyPr>
          <a:lstStyle/>
          <a:p>
            <a:pPr algn="ctr">
              <a:defRPr sz="1875" b="1">
                <a:solidFill>
                  <a:srgbClr val="0071E3"/>
                </a:solidFill>
                <a:latin typeface="Inter"/>
                <a:ea typeface="Inter"/>
                <a:cs typeface="Inter"/>
              </a:defRPr>
            </a:pPr>
            <a:r>
              <a:rPr sz="1875" b="1">
                <a:solidFill>
                  <a:srgbClr val="0071E3"/>
                </a:solidFill>
                <a:latin typeface="Inter"/>
                <a:ea typeface="Inter"/>
                <a:cs typeface="Inter"/>
              </a:rPr>
              <a:t>Final consumer</a:t>
            </a:r>
          </a:p>
        </p:txBody>
      </p:sp>
      <p:cxnSp>
        <p:nvCxnSpPr>
          <p:cNvPr id="41" name=""/>
          <p:cNvCxnSpPr>
            <a:stCxn id="10" idx="3"/>
            <a:endCxn id="14" idx="1"/>
          </p:cNvCxnSpPr>
          <p:nvPr/>
        </p:nvCxnSpPr>
        <p:spPr>
          <a:xfrm>
            <a:off x="8715375" y="3171825"/>
            <a:ext cx="276225" cy="0"/>
          </a:xfrm>
          <a:prstGeom prst="straightConnector1">
            <a:avLst/>
          </a:prstGeom>
          <a:ln w="17145">
            <a:solidFill>
              <a:srgbClr val="6E6E73"/>
            </a:solidFill>
            <a:prstDash val="solid"/>
            <a:tailEnd type="arrow" w="med" len="med"/>
          </a:ln>
        </p:spPr>
      </p:cxnSp>
      <p:sp>
        <p:nvSpPr>
          <p:cNvPr id="17" name="text-9-119">
            <a:extLst>
              <a:ext uri="{FF2B5EF4-FFF2-40B4-BE49-F238E27FC236}">
                <ns2:creationId id="{E53DBC9C-2C0D-470D-9BBD-36A0EE08AC32}"/>
              </a:ext>
            </a:extLst>
          </p:cNvPr>
          <p:cNvSpPr>
            <a:spLocks noGrp="1"/>
          </p:cNvSpPr>
          <p:nvPr/>
        </p:nvSpPr>
        <p:spPr>
          <a:xfrm>
            <a:off x="8991600" y="3790950"/>
            <a:ext cx="2486025" cy="1047750"/>
          </a:xfrm>
          <a:prstGeom prst="rect">
            <a:avLst/>
          </a:prstGeom>
          <a:noFill/>
          <a:ln w="0">
            <a:noFill/>
          </a:ln>
        </p:spPr>
        <p:txBody>
          <a:bodyPr anchor="t" lIns="0" rIns="0" tIns="0" bIns="0">
            <a:noAutofit/>
          </a:bodyPr>
          <a:lstStyle/>
          <a:p>
            <a:pPr algn="l">
              <a:defRPr sz="2100" b="0">
                <a:solidFill>
                  <a:srgbClr val="1D1D1F"/>
                </a:solidFill>
                <a:latin typeface="Inter"/>
                <a:ea typeface="Inter"/>
                <a:cs typeface="Inter"/>
              </a:defRPr>
            </a:pPr>
            <a:r>
              <a:rPr sz="2100" b="0">
                <a:solidFill>
                  <a:srgbClr val="1D1D1F"/>
                </a:solidFill>
                <a:latin typeface="Inter"/>
                <a:ea typeface="Inter"/>
                <a:cs typeface="Inter"/>
              </a:rPr>
              <a:t>allocation_proof</a:t>
            </a:r>
          </a:p>
          <a:p>
            <a:pPr algn="l">
              <a:defRPr sz="2100" b="0">
                <a:solidFill>
                  <a:srgbClr val="1D1D1F"/>
                </a:solidFill>
                <a:latin typeface="Inter"/>
                <a:ea typeface="Inter"/>
                <a:cs typeface="Inter"/>
              </a:defRPr>
            </a:pPr>
            <a:r>
              <a:rPr sz="2100" b="0">
                <a:solidFill>
                  <a:srgbClr val="1D1D1F"/>
                </a:solidFill>
                <a:latin typeface="Inter"/>
                <a:ea typeface="Inter"/>
                <a:cs typeface="Inter"/>
              </a:rPr>
              <a:t>input + bound output</a:t>
            </a:r>
          </a:p>
        </p:txBody>
      </p:sp>
      <p:sp>
        <p:nvSpPr>
          <p:cNvPr id="18" name="">
            <a:extLst>
              <a:ext uri="{FF2B5EF4-FFF2-40B4-BE49-F238E27FC236}">
                <ns2:creationId id="{911BA7DF-4DD6-4318-9A4E-57DA1DDE929A}"/>
              </a:ext>
            </a:extLst>
          </p:cNvPr>
          <p:cNvSpPr>
            <a:spLocks noGrp="1"/>
          </p:cNvSpPr>
          <p:nvPr/>
        </p:nvSpPr>
        <p:spPr>
          <a:xfrm>
            <a:off x="704850" y="4924425"/>
            <a:ext cx="10782300" cy="0"/>
          </a:xfrm>
          <a:prstGeom prst="line">
            <a:avLst/>
          </a:prstGeom>
          <a:noFill/>
          <a:ln w="9525">
            <a:solidFill>
              <a:srgbClr val="D2D2D7"/>
            </a:solidFill>
            <a:prstDash val="solid"/>
          </a:ln>
        </p:spPr>
      </p:sp>
      <p:sp>
        <p:nvSpPr>
          <p:cNvPr id="19" name="text-9-120">
            <a:extLst>
              <a:ext uri="{FF2B5EF4-FFF2-40B4-BE49-F238E27FC236}">
                <ns2:creationId id="{0DA292B8-C071-4641-8226-50DB80F9B6F7}"/>
              </a:ext>
            </a:extLst>
          </p:cNvPr>
          <p:cNvSpPr>
            <a:spLocks noGrp="1"/>
          </p:cNvSpPr>
          <p:nvPr/>
        </p:nvSpPr>
        <p:spPr>
          <a:xfrm>
            <a:off x="704850" y="5200650"/>
            <a:ext cx="4572000" cy="457200"/>
          </a:xfrm>
          <a:prstGeom prst="rect">
            <a:avLst/>
          </a:prstGeom>
          <a:noFill/>
          <a:ln w="0">
            <a:noFill/>
          </a:ln>
        </p:spPr>
        <p:txBody>
          <a:bodyPr anchor="t" lIns="0" rIns="0" tIns="0" bIns="0">
            <a:noAutofit/>
          </a:bodyPr>
          <a:lstStyle/>
          <a:p>
            <a:pPr algn="l">
              <a:defRPr sz="2025" b="1">
                <a:solidFill>
                  <a:srgbClr val="9B342F"/>
                </a:solidFill>
                <a:latin typeface="Inter"/>
                <a:ea typeface="Inter"/>
                <a:cs typeface="Inter"/>
              </a:defRPr>
            </a:pPr>
            <a:r>
              <a:rPr sz="2025" b="1">
                <a:solidFill>
                  <a:srgbClr val="9B342F"/>
                </a:solidFill>
                <a:latin typeface="Inter"/>
                <a:ea typeface="Inter"/>
                <a:cs typeface="Inter"/>
              </a:rPr>
              <a:t>Coherent 6 / 1 substitution</a:t>
            </a:r>
          </a:p>
        </p:txBody>
      </p:sp>
      <p:sp>
        <p:nvSpPr>
          <p:cNvPr id="20" name="text-9-121">
            <a:extLst>
              <a:ext uri="{FF2B5EF4-FFF2-40B4-BE49-F238E27FC236}">
                <ns2:creationId id="{75A34CC9-B05B-42CC-92C2-3CD5F5A94D9B}"/>
              </a:ext>
            </a:extLst>
          </p:cNvPr>
          <p:cNvSpPr>
            <a:spLocks noGrp="1"/>
          </p:cNvSpPr>
          <p:nvPr/>
        </p:nvSpPr>
        <p:spPr>
          <a:xfrm>
            <a:off x="5619750" y="5200650"/>
            <a:ext cx="5876925" cy="457200"/>
          </a:xfrm>
          <a:prstGeom prst="rect">
            <a:avLst/>
          </a:prstGeom>
          <a:noFill/>
          <a:ln w="0">
            <a:noFill/>
          </a:ln>
        </p:spPr>
        <p:txBody>
          <a:bodyPr anchor="t" lIns="0" rIns="0" tIns="0" bIns="0">
            <a:noAutofit/>
          </a:bodyPr>
          <a:lstStyle/>
          <a:p>
            <a:pPr algn="l">
              <a:defRPr sz="2025" b="1">
                <a:solidFill>
                  <a:srgbClr val="1D1D1F"/>
                </a:solidFill>
                <a:latin typeface="Inter"/>
                <a:ea typeface="Inter"/>
                <a:cs typeface="Inter"/>
              </a:defRPr>
            </a:pPr>
            <a:r>
              <a:rPr sz="2025" b="1">
                <a:solidFill>
                  <a:srgbClr val="1D1D1F"/>
                </a:solidFill>
                <a:latin typeface="Inter"/>
                <a:ea typeface="Inter"/>
                <a:cs typeface="Inter"/>
              </a:rPr>
              <a:t>REFUSED before changed execution</a:t>
            </a:r>
          </a:p>
        </p:txBody>
      </p:sp>
      <p:sp>
        <p:nvSpPr>
          <p:cNvPr id="21" name="text-9-122">
            <a:extLst>
              <a:ext uri="{FF2B5EF4-FFF2-40B4-BE49-F238E27FC236}">
                <ns2:creationId id="{6F821BB7-9BD4-46DD-980F-3B83470839D9}"/>
              </a:ext>
            </a:extLst>
          </p:cNvPr>
          <p:cNvSpPr>
            <a:spLocks noGrp="1"/>
          </p:cNvSpPr>
          <p:nvPr/>
        </p:nvSpPr>
        <p:spPr>
          <a:xfrm>
            <a:off x="704850" y="5676900"/>
            <a:ext cx="10782300" cy="371475"/>
          </a:xfrm>
          <a:prstGeom prst="rect">
            <a:avLst/>
          </a:prstGeom>
          <a:noFill/>
          <a:ln w="0">
            <a:noFill/>
          </a:ln>
        </p:spPr>
        <p:txBody>
          <a:bodyPr anchor="t" lIns="0" rIns="0" tIns="0" bIns="0">
            <a:noAutofit/>
          </a:bodyPr>
          <a:lstStyle/>
          <a:p>
            <a:pPr algn="l">
              <a:defRPr sz="1800" b="0">
                <a:solidFill>
                  <a:srgbClr val="6E6E73"/>
                </a:solidFill>
                <a:latin typeface="Inter"/>
                <a:ea typeface="Inter"/>
                <a:cs typeface="Inter"/>
              </a:defRPr>
            </a:pPr>
            <a:r>
              <a:rPr sz="1800" b="0">
                <a:solidFill>
                  <a:srgbClr val="6E6E73"/>
                </a:solidFill>
                <a:latin typeface="Inter"/>
                <a:ea typeface="Inter"/>
                <a:cs typeface="Inter"/>
              </a:rPr>
              <a:t>Original source basis disagrees. The intact allocation is the passing neighbour.</a:t>
            </a:r>
          </a:p>
        </p:txBody>
      </p:sp>
      <p:sp>
        <p:nvSpPr>
          <p:cNvPr id="22" name="">
            <a:extLst>
              <a:ext uri="{FF2B5EF4-FFF2-40B4-BE49-F238E27FC236}">
                <ns2:creationId id="{7F2675A0-5A78-49C5-9D7C-5338F013EF83}"/>
              </a:ext>
            </a:extLst>
          </p:cNvPr>
          <p:cNvSpPr>
            <a:spLocks noGrp="1"/>
          </p:cNvSpPr>
          <p:nvPr/>
        </p:nvSpPr>
        <p:spPr>
          <a:xfrm>
            <a:off x="704850" y="6162675"/>
            <a:ext cx="10801350" cy="0"/>
          </a:xfrm>
          <a:prstGeom prst="line">
            <a:avLst/>
          </a:prstGeom>
          <a:noFill/>
          <a:ln w="6668">
            <a:solidFill>
              <a:srgbClr val="D2D2D7"/>
            </a:solidFill>
            <a:prstDash val="solid"/>
          </a:ln>
        </p:spPr>
      </p:sp>
      <p:sp>
        <p:nvSpPr>
          <p:cNvPr id="23" name="link-9-appendix">
            <a:extLst>
              <a:ext uri="{FF2B5EF4-FFF2-40B4-BE49-F238E27FC236}">
                <ns2:creationId id="{8EEA779F-8DC9-4A5E-92BC-5086DBCF488D}"/>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C09 / C12   Technical evidence</a:t>
            </a:r>
          </a:p>
        </p:txBody>
      </p:sp>
      <p:sp>
        <p:nvSpPr>
          <p:cNvPr id="24" name="text-9-124">
            <a:extLst>
              <a:ext uri="{FF2B5EF4-FFF2-40B4-BE49-F238E27FC236}">
                <ns2:creationId id="{A1EDE8E9-FD1C-4A95-BCFF-819C758ED722}"/>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25" name="text-9-125">
            <a:extLst>
              <a:ext uri="{FF2B5EF4-FFF2-40B4-BE49-F238E27FC236}">
                <ns2:creationId id="{D882EAD5-B13E-41F3-985A-F4B73F1DAE86}"/>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09</a:t>
            </a:r>
          </a:p>
        </p:txBody>
      </p:sp>
    </p:spTree>
    <p:extLst>
      <p:ext uri="{BB962C8B-B14F-4D97-AF65-F5344CB8AC3E}">
        <ns4:creationId val="1087286968"/>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8" name="text-10-126">
            <a:extLst>
              <a:ext uri="{FF2B5EF4-FFF2-40B4-BE49-F238E27FC236}">
                <ns2:creationId id="{0A03A609-33AF-4D10-AD97-63994865280C}"/>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Current context remains binding</a:t>
            </a:r>
          </a:p>
        </p:txBody>
      </p:sp>
      <p:sp>
        <p:nvSpPr>
          <p:cNvPr id="2" name="text-10-127">
            <a:extLst>
              <a:ext uri="{FF2B5EF4-FFF2-40B4-BE49-F238E27FC236}">
                <ns2:creationId id="{DA5B10A2-AA40-46B6-B797-A9D11B22DF59}"/>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Valid old records remain subject to the original budget, expiry and current history checks.</a:t>
            </a:r>
          </a:p>
        </p:txBody>
      </p:sp>
      <p:graphicFrame>
        <p:nvGraphicFramePr>
          <p:cNvPr id="10" name=""/>
          <p:cNvGraphicFramePr/>
          <p:nvPr/>
        </p:nvGraphicFramePr>
        <p:xfrm>
          <a:off x="704850" y="2609850"/>
          <a:ext cx="10782300" cy="2971800"/>
        </p:xfrm>
        <a:graphic>
          <a:graphicData uri="http://schemas.openxmlformats.org/drawingml/2006/table">
            <a:tbl>
              <a:tblPr firstRow="0" bandRow="0"/>
              <a:tblGrid>
                <a:gridCol w="2587752"/>
                <a:gridCol w="4097274"/>
                <a:gridCol w="4097274"/>
              </a:tblGrid>
              <a:tr h="457200">
                <a:tc>
                  <a:txBody>
                    <a:bodyPr>
                      <a:noAutofit/>
                    </a:bodyPr>
                    <a:lstStyle/>
                    <a:p>
                      <a:r>
                        <a:rPr sz="1650" b="1">
                          <a:solidFill>
                            <a:srgbClr val="6E6E73"/>
                          </a:solidFill>
                          <a:latin typeface="Inter"/>
                          <a:ea typeface="Inter"/>
                          <a:cs typeface="Inter"/>
                        </a:rPr>
                        <a:t>Boundary</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Genuine positive</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Refused continuation</a:t>
                      </a:r>
                    </a:p>
                  </a:txBody>
                  <a:tcPr marL="114300" marR="114300" marT="85725" marB="85725" anchor="ctr">
                    <a:solidFill>
                      <a:srgbClr val="F5F5F7"/>
                    </a:solidFill>
                  </a:tcPr>
                </a:tc>
              </a:tr>
              <a:tr h="838200">
                <a:tc>
                  <a:txBody>
                    <a:bodyPr>
                      <a:noAutofit/>
                    </a:bodyPr>
                    <a:lstStyle/>
                    <a:p>
                      <a:r>
                        <a:rPr sz="1950" b="0">
                          <a:solidFill>
                            <a:srgbClr val="1D1D1F"/>
                          </a:solidFill>
                          <a:latin typeface="Inter"/>
                          <a:ea typeface="Inter"/>
                          <a:cs typeface="Inter"/>
                        </a:rPr>
                        <a:t>Original budget</a:t>
                      </a:r>
                    </a:p>
                  </a:txBody>
                  <a:tcPr marL="114300" marR="114300" marT="85725" marB="85725" anchor="ctr">
                    <a:solidFill>
                      <a:srgbClr val="FFFFFF"/>
                    </a:solidFill>
                  </a:tcPr>
                </a:tc>
                <a:tc>
                  <a:txBody>
                    <a:bodyPr>
                      <a:noAutofit/>
                    </a:bodyPr>
                    <a:lstStyle/>
                    <a:p>
                      <a:r>
                        <a:rPr sz="1950" b="0">
                          <a:solidFill>
                            <a:srgbClr val="1D1D1F"/>
                          </a:solidFill>
                          <a:latin typeface="Inter"/>
                          <a:ea typeface="Inter"/>
                          <a:cs typeface="Inter"/>
                        </a:rPr>
                        <a:t>Seven optional checks</a:t>
                      </a:r>
                    </a:p>
                    <a:p>
                      <a:r>
                        <a:rPr sz="1950" b="0">
                          <a:solidFill>
                            <a:srgbClr val="1D1D1F"/>
                          </a:solidFill>
                          <a:latin typeface="Inter"/>
                          <a:ea typeface="Inter"/>
                          <a:cs typeface="Inter"/>
                        </a:rPr>
                        <a:t>plus mandatory endpoints</a:t>
                      </a:r>
                    </a:p>
                  </a:txBody>
                  <a:tcPr marL="114300" marR="114300" marT="85725" marB="85725" anchor="ctr">
                    <a:solidFill>
                      <a:srgbClr val="FFFFFF"/>
                    </a:solidFill>
                  </a:tcPr>
                </a:tc>
                <a:tc>
                  <a:txBody>
                    <a:bodyPr>
                      <a:noAutofit/>
                    </a:bodyPr>
                    <a:lstStyle/>
                    <a:p>
                      <a:r>
                        <a:rPr sz="1950" b="0">
                          <a:solidFill>
                            <a:srgbClr val="1D1D1F"/>
                          </a:solidFill>
                          <a:latin typeface="Inter"/>
                          <a:ea typeface="Inter"/>
                          <a:cs typeface="Inter"/>
                        </a:rPr>
                        <a:t>Fresh report cannot</a:t>
                      </a:r>
                    </a:p>
                    <a:p>
                      <a:r>
                        <a:rPr sz="1950" b="0">
                          <a:solidFill>
                            <a:srgbClr val="1D1D1F"/>
                          </a:solidFill>
                          <a:latin typeface="Inter"/>
                          <a:ea typeface="Inter"/>
                          <a:cs typeface="Inter"/>
                        </a:rPr>
                        <a:t>erase spent work</a:t>
                      </a:r>
                    </a:p>
                  </a:txBody>
                  <a:tcPr marL="114300" marR="114300" marT="85725" marB="85725" anchor="ctr">
                    <a:solidFill>
                      <a:srgbClr val="FFFFFF"/>
                    </a:solidFill>
                  </a:tcPr>
                </a:tc>
              </a:tr>
              <a:tr h="838200">
                <a:tc>
                  <a:txBody>
                    <a:bodyPr>
                      <a:noAutofit/>
                    </a:bodyPr>
                    <a:lstStyle/>
                    <a:p>
                      <a:r>
                        <a:rPr sz="1950" b="0">
                          <a:solidFill>
                            <a:srgbClr val="1D1D1F"/>
                          </a:solidFill>
                          <a:latin typeface="Inter"/>
                          <a:ea typeface="Inter"/>
                          <a:cs typeface="Inter"/>
                        </a:rPr>
                        <a:t>Original expiry</a:t>
                      </a:r>
                    </a:p>
                  </a:txBody>
                  <a:tcPr marL="114300" marR="114300" marT="85725" marB="85725" anchor="ctr">
                    <a:solidFill>
                      <a:srgbClr val="FFFFFF"/>
                    </a:solidFill>
                  </a:tcPr>
                </a:tc>
                <a:tc>
                  <a:txBody>
                    <a:bodyPr>
                      <a:noAutofit/>
                    </a:bodyPr>
                    <a:lstStyle/>
                    <a:p>
                      <a:r>
                        <a:rPr sz="1950" b="0">
                          <a:solidFill>
                            <a:srgbClr val="1D1D1F"/>
                          </a:solidFill>
                          <a:latin typeface="Inter"/>
                          <a:ea typeface="Inter"/>
                          <a:cs typeface="Inter"/>
                        </a:rPr>
                        <a:t>Just before expiry:</a:t>
                      </a:r>
                    </a:p>
                    <a:p>
                      <a:r>
                        <a:rPr sz="1950" b="0">
                          <a:solidFill>
                            <a:srgbClr val="1D1D1F"/>
                          </a:solidFill>
                          <a:latin typeface="Inter"/>
                          <a:ea typeface="Inter"/>
                          <a:cs typeface="Inter"/>
                        </a:rPr>
                        <a:t>prepared result</a:t>
                      </a:r>
                    </a:p>
                  </a:txBody>
                  <a:tcPr marL="114300" marR="114300" marT="85725" marB="85725" anchor="ctr">
                    <a:solidFill>
                      <a:srgbClr val="FFFFFF"/>
                    </a:solidFill>
                  </a:tcPr>
                </a:tc>
                <a:tc>
                  <a:txBody>
                    <a:bodyPr>
                      <a:noAutofit/>
                    </a:bodyPr>
                    <a:lstStyle/>
                    <a:p>
                      <a:r>
                        <a:rPr sz="1950" b="0">
                          <a:solidFill>
                            <a:srgbClr val="1D1D1F"/>
                          </a:solidFill>
                          <a:latin typeface="Inter"/>
                          <a:ea typeface="Inter"/>
                          <a:cs typeface="Inter"/>
                        </a:rPr>
                        <a:t>At boundary or after:</a:t>
                      </a:r>
                    </a:p>
                    <a:p>
                      <a:r>
                        <a:rPr sz="1950" b="0">
                          <a:solidFill>
                            <a:srgbClr val="1D1D1F"/>
                          </a:solidFill>
                          <a:latin typeface="Inter"/>
                          <a:ea typeface="Inter"/>
                          <a:cs typeface="Inter"/>
                        </a:rPr>
                        <a:t>REFUSED</a:t>
                      </a:r>
                    </a:p>
                  </a:txBody>
                  <a:tcPr marL="114300" marR="114300" marT="85725" marB="85725" anchor="ctr">
                    <a:solidFill>
                      <a:srgbClr val="FFFFFF"/>
                    </a:solidFill>
                  </a:tcPr>
                </a:tc>
              </a:tr>
              <a:tr h="838200">
                <a:tc>
                  <a:txBody>
                    <a:bodyPr>
                      <a:noAutofit/>
                    </a:bodyPr>
                    <a:lstStyle/>
                    <a:p>
                      <a:r>
                        <a:rPr sz="1950" b="0">
                          <a:solidFill>
                            <a:srgbClr val="1D1D1F"/>
                          </a:solidFill>
                          <a:latin typeface="Inter"/>
                          <a:ea typeface="Inter"/>
                          <a:cs typeface="Inter"/>
                        </a:rPr>
                        <a:t>Retained history</a:t>
                      </a:r>
                    </a:p>
                  </a:txBody>
                  <a:tcPr marL="114300" marR="114300" marT="85725" marB="85725" anchor="ctr">
                    <a:solidFill>
                      <a:srgbClr val="FFFFFF"/>
                    </a:solidFill>
                  </a:tcPr>
                </a:tc>
                <a:tc>
                  <a:txBody>
                    <a:bodyPr>
                      <a:noAutofit/>
                    </a:bodyPr>
                    <a:lstStyle/>
                    <a:p>
                      <a:r>
                        <a:rPr sz="1950" b="0">
                          <a:solidFill>
                            <a:srgbClr val="1D1D1F"/>
                          </a:solidFill>
                          <a:latin typeface="Inter"/>
                          <a:ea typeface="Inter"/>
                          <a:cs typeface="Inter"/>
                        </a:rPr>
                        <a:t>Current discovery and</a:t>
                      </a:r>
                    </a:p>
                    <a:p>
                      <a:r>
                        <a:rPr sz="1950" b="0">
                          <a:solidFill>
                            <a:srgbClr val="1D1D1F"/>
                          </a:solidFill>
                          <a:latin typeface="Inter"/>
                          <a:ea typeface="Inter"/>
                          <a:cs typeface="Inter"/>
                        </a:rPr>
                        <a:t>Root-approved descent</a:t>
                      </a:r>
                    </a:p>
                  </a:txBody>
                  <a:tcPr marL="114300" marR="114300" marT="85725" marB="85725" anchor="ctr">
                    <a:solidFill>
                      <a:srgbClr val="FFFFFF"/>
                    </a:solidFill>
                  </a:tcPr>
                </a:tc>
                <a:tc>
                  <a:txBody>
                    <a:bodyPr>
                      <a:noAutofit/>
                    </a:bodyPr>
                    <a:lstStyle/>
                    <a:p>
                      <a:r>
                        <a:rPr sz="1950" b="0">
                          <a:solidFill>
                            <a:srgbClr val="1D1D1F"/>
                          </a:solidFill>
                          <a:latin typeface="Inter"/>
                          <a:ea typeface="Inter"/>
                          <a:cs typeface="Inter"/>
                        </a:rPr>
                        <a:t>Expired retained input:</a:t>
                      </a:r>
                    </a:p>
                    <a:p>
                      <a:r>
                        <a:rPr sz="1950" b="0">
                          <a:solidFill>
                            <a:srgbClr val="1D1D1F"/>
                          </a:solidFill>
                          <a:latin typeface="Inter"/>
                          <a:ea typeface="Inter"/>
                          <a:cs typeface="Inter"/>
                        </a:rPr>
                        <a:t>REFUSED</a:t>
                      </a:r>
                    </a:p>
                  </a:txBody>
                  <a:tcPr marL="114300" marR="114300" marT="85725" marB="85725" anchor="ctr">
                    <a:solidFill>
                      <a:srgbClr val="FFFFFF"/>
                    </a:solidFill>
                  </a:tcPr>
                </a:tc>
              </a:tr>
            </a:tbl>
          </a:graphicData>
        </a:graphic>
      </p:graphicFrame>
      <p:sp>
        <p:nvSpPr>
          <p:cNvPr id="4" name="">
            <a:extLst>
              <a:ext uri="{FF2B5EF4-FFF2-40B4-BE49-F238E27FC236}">
                <ns2:creationId id="{B428A8E2-3BDA-4FE7-9ABE-6B5781AD29F7}"/>
              </a:ext>
            </a:extLst>
          </p:cNvPr>
          <p:cNvSpPr>
            <a:spLocks noGrp="1"/>
          </p:cNvSpPr>
          <p:nvPr/>
        </p:nvSpPr>
        <p:spPr>
          <a:xfrm>
            <a:off x="704850" y="6162675"/>
            <a:ext cx="10801350" cy="0"/>
          </a:xfrm>
          <a:prstGeom prst="line">
            <a:avLst/>
          </a:prstGeom>
          <a:noFill/>
          <a:ln w="6668">
            <a:solidFill>
              <a:srgbClr val="D2D2D7"/>
            </a:solidFill>
            <a:prstDash val="solid"/>
          </a:ln>
        </p:spPr>
      </p:sp>
      <p:sp>
        <p:nvSpPr>
          <p:cNvPr id="5" name="link-10-appendix">
            <a:extLst>
              <a:ext uri="{FF2B5EF4-FFF2-40B4-BE49-F238E27FC236}">
                <ns2:creationId id="{76E4EA2A-4F27-4D7B-B7B9-574872415FBF}"/>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C08 / C10 / C11   Technical evidence</a:t>
            </a:r>
          </a:p>
        </p:txBody>
      </p:sp>
      <p:sp>
        <p:nvSpPr>
          <p:cNvPr id="6" name="text-10-130">
            <a:extLst>
              <a:ext uri="{FF2B5EF4-FFF2-40B4-BE49-F238E27FC236}">
                <ns2:creationId id="{816C7AAD-117E-42AB-94EA-4C18F566A6EF}"/>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7" name="text-10-131">
            <a:extLst>
              <a:ext uri="{FF2B5EF4-FFF2-40B4-BE49-F238E27FC236}">
                <ns2:creationId id="{0DFB2778-9EB3-4A43-8392-CAA631F43209}"/>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10</a:t>
            </a:r>
          </a:p>
        </p:txBody>
      </p:sp>
    </p:spTree>
    <p:extLst>
      <p:ext uri="{BB962C8B-B14F-4D97-AF65-F5344CB8AC3E}">
        <ns4:creationId val="2037906339"/>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text-11-132">
            <a:extLst>
              <a:ext uri="{FF2B5EF4-FFF2-40B4-BE49-F238E27FC236}">
                <ns2:creationId id="{2E33D943-6B23-41B1-873A-A7DFFD5040FA}"/>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The saved result can be traced and checked</a:t>
            </a:r>
          </a:p>
        </p:txBody>
      </p:sp>
      <p:sp>
        <p:nvSpPr>
          <p:cNvPr id="2" name="text-11-133">
            <a:extLst>
              <a:ext uri="{FF2B5EF4-FFF2-40B4-BE49-F238E27FC236}">
                <ns2:creationId id="{E8728C4A-91E1-43F4-BAA5-D04F95F9971C}"/>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Numerical references, recorded native work and supplied verification have distinct scopes.</a:t>
            </a:r>
          </a:p>
        </p:txBody>
      </p:sp>
      <p:graphicFrame>
        <p:nvGraphicFramePr>
          <p:cNvPr id="12" name=""/>
          <p:cNvGraphicFramePr/>
          <p:nvPr/>
        </p:nvGraphicFramePr>
        <p:xfrm>
          <a:off x="704850" y="2600325"/>
          <a:ext cx="10782300" cy="2438400"/>
        </p:xfrm>
        <a:graphic>
          <a:graphicData uri="http://schemas.openxmlformats.org/drawingml/2006/table">
            <a:tbl>
              <a:tblPr firstRow="0" bandRow="0"/>
              <a:tblGrid>
                <a:gridCol w="2695575"/>
                <a:gridCol w="4528566"/>
                <a:gridCol w="3558159"/>
              </a:tblGrid>
              <a:tr h="457200">
                <a:tc>
                  <a:txBody>
                    <a:bodyPr>
                      <a:noAutofit/>
                    </a:bodyPr>
                    <a:lstStyle/>
                    <a:p>
                      <a:r>
                        <a:rPr sz="1650" b="1">
                          <a:solidFill>
                            <a:srgbClr val="6E6E73"/>
                          </a:solidFill>
                          <a:latin typeface="Inter"/>
                          <a:ea typeface="Inter"/>
                          <a:cs typeface="Inter"/>
                        </a:rPr>
                        <a:t>Evidence layer</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Recorded scope</a:t>
                      </a:r>
                    </a:p>
                  </a:txBody>
                  <a:tcPr marL="114300" marR="114300" marT="85725" marB="85725" anchor="ctr">
                    <a:solidFill>
                      <a:srgbClr val="F5F5F7"/>
                    </a:solidFill>
                  </a:tcPr>
                </a:tc>
                <a:tc>
                  <a:txBody>
                    <a:bodyPr>
                      <a:noAutofit/>
                    </a:bodyPr>
                    <a:lstStyle/>
                    <a:p>
                      <a:r>
                        <a:rPr sz="1650" b="1">
                          <a:solidFill>
                            <a:srgbClr val="6E6E73"/>
                          </a:solidFill>
                          <a:latin typeface="Inter"/>
                          <a:ea typeface="Inter"/>
                          <a:cs typeface="Inter"/>
                        </a:rPr>
                        <a:t>Result</a:t>
                      </a:r>
                    </a:p>
                  </a:txBody>
                  <a:tcPr marL="114300" marR="114300" marT="85725" marB="85725" anchor="ctr">
                    <a:solidFill>
                      <a:srgbClr val="F5F5F7"/>
                    </a:solidFill>
                  </a:tcPr>
                </a:tc>
              </a:tr>
              <a:tr h="495300">
                <a:tc>
                  <a:txBody>
                    <a:bodyPr>
                      <a:noAutofit/>
                    </a:bodyPr>
                    <a:lstStyle/>
                    <a:p>
                      <a:r>
                        <a:rPr sz="1800" b="0">
                          <a:solidFill>
                            <a:srgbClr val="1D1D1F"/>
                          </a:solidFill>
                          <a:latin typeface="Inter"/>
                          <a:ea typeface="Inter"/>
                          <a:cs typeface="Inter"/>
                        </a:rPr>
                        <a:t>G41 numerical</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110 pure-math tests</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Recorded reference</a:t>
                      </a:r>
                    </a:p>
                  </a:txBody>
                  <a:tcPr marL="114300" marR="114300" marT="85725" marB="85725" anchor="ctr">
                    <a:solidFill>
                      <a:srgbClr val="FFFFFF"/>
                    </a:solidFill>
                  </a:tcPr>
                </a:tc>
              </a:tr>
              <a:tr h="495300">
                <a:tc>
                  <a:txBody>
                    <a:bodyPr>
                      <a:noAutofit/>
                    </a:bodyPr>
                    <a:lstStyle/>
                    <a:p>
                      <a:r>
                        <a:rPr sz="1800" b="0">
                          <a:solidFill>
                            <a:srgbClr val="1D1D1F"/>
                          </a:solidFill>
                          <a:latin typeface="Inter"/>
                          <a:ea typeface="Inter"/>
                          <a:cs typeface="Inter"/>
                        </a:rPr>
                        <a:t>G43 native</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3 tasks × 9 units = 27</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Actual Work + consumption</a:t>
                      </a:r>
                    </a:p>
                  </a:txBody>
                  <a:tcPr marL="114300" marR="114300" marT="85725" marB="85725" anchor="ctr">
                    <a:solidFill>
                      <a:srgbClr val="FFFFFF"/>
                    </a:solidFill>
                  </a:tcPr>
                </a:tc>
              </a:tr>
              <a:tr h="495300">
                <a:tc>
                  <a:txBody>
                    <a:bodyPr>
                      <a:noAutofit/>
                    </a:bodyPr>
                    <a:lstStyle/>
                    <a:p>
                      <a:r>
                        <a:rPr sz="1800" b="0">
                          <a:solidFill>
                            <a:srgbClr val="1D1D1F"/>
                          </a:solidFill>
                          <a:latin typeface="Inter"/>
                          <a:ea typeface="Inter"/>
                          <a:cs typeface="Inter"/>
                        </a:rPr>
                        <a:t>G44 focused</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33 PASS / 1 FAIL</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Accepted mode-test limitation</a:t>
                      </a:r>
                    </a:p>
                  </a:txBody>
                  <a:tcPr marL="114300" marR="114300" marT="85725" marB="85725" anchor="ctr">
                    <a:solidFill>
                      <a:srgbClr val="FFFFFF"/>
                    </a:solidFill>
                  </a:tcPr>
                </a:tc>
              </a:tr>
              <a:tr h="495300">
                <a:tc>
                  <a:txBody>
                    <a:bodyPr>
                      <a:noAutofit/>
                    </a:bodyPr>
                    <a:lstStyle/>
                    <a:p>
                      <a:r>
                        <a:rPr sz="1800" b="0">
                          <a:solidFill>
                            <a:srgbClr val="1D1D1F"/>
                          </a:solidFill>
                          <a:latin typeface="Inter"/>
                          <a:ea typeface="Inter"/>
                          <a:cs typeface="Inter"/>
                        </a:rPr>
                        <a:t>G44 / G45 supplied</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3 identical complete outputs</a:t>
                      </a:r>
                    </a:p>
                  </a:txBody>
                  <a:tcPr marL="114300" marR="114300" marT="85725" marB="85725" anchor="ctr">
                    <a:solidFill>
                      <a:srgbClr val="FFFFFF"/>
                    </a:solidFill>
                  </a:tcPr>
                </a:tc>
                <a:tc>
                  <a:txBody>
                    <a:bodyPr>
                      <a:noAutofit/>
                    </a:bodyPr>
                    <a:lstStyle/>
                    <a:p>
                      <a:r>
                        <a:rPr sz="1800" b="0">
                          <a:solidFill>
                            <a:srgbClr val="1D1D1F"/>
                          </a:solidFill>
                          <a:latin typeface="Inter"/>
                          <a:ea typeface="Inter"/>
                          <a:cs typeface="Inter"/>
                        </a:rPr>
                        <a:t>Saved relationships checked</a:t>
                      </a:r>
                    </a:p>
                  </a:txBody>
                  <a:tcPr marL="114300" marR="114300" marT="85725" marB="85725" anchor="ctr">
                    <a:solidFill>
                      <a:srgbClr val="FFFFFF"/>
                    </a:solidFill>
                  </a:tcPr>
                </a:tc>
              </a:tr>
            </a:tbl>
          </a:graphicData>
        </a:graphic>
      </p:graphicFrame>
      <p:sp>
        <p:nvSpPr>
          <p:cNvPr id="4" name="text-11-135">
            <a:extLst>
              <a:ext uri="{FF2B5EF4-FFF2-40B4-BE49-F238E27FC236}">
                <ns2:creationId id="{797CDC8C-24E8-4BD2-A7B7-64BAFFEA380C}"/>
              </a:ext>
            </a:extLst>
          </p:cNvPr>
          <p:cNvSpPr>
            <a:spLocks noGrp="1"/>
          </p:cNvSpPr>
          <p:nvPr/>
        </p:nvSpPr>
        <p:spPr>
          <a:xfrm>
            <a:off x="704850" y="5324475"/>
            <a:ext cx="10782300" cy="409575"/>
          </a:xfrm>
          <a:prstGeom prst="rect">
            <a:avLst/>
          </a:prstGeom>
          <a:noFill/>
          <a:ln w="0">
            <a:noFill/>
          </a:ln>
        </p:spPr>
        <p:txBody>
          <a:bodyPr anchor="t" lIns="0" rIns="0" tIns="0" bIns="0">
            <a:noAutofit/>
          </a:bodyPr>
          <a:lstStyle/>
          <a:p>
            <a:pPr algn="l">
              <a:defRPr sz="1800" b="1">
                <a:solidFill>
                  <a:srgbClr val="1D1D1F"/>
                </a:solidFill>
                <a:latin typeface="Inter"/>
                <a:ea typeface="Inter"/>
                <a:cs typeface="Inter"/>
              </a:defRPr>
            </a:pPr>
            <a:r>
              <a:rPr sz="1800" b="1">
                <a:solidFill>
                  <a:srgbClr val="1D1D1F"/>
                </a:solidFill>
                <a:latin typeface="Inter"/>
                <a:ea typeface="Inter"/>
                <a:cs typeface="Inter"/>
              </a:rPr>
              <a:t>Supplied checks require the trusted installed code and matching recorded environment.</a:t>
            </a:r>
          </a:p>
        </p:txBody>
      </p:sp>
      <p:sp>
        <p:nvSpPr>
          <p:cNvPr id="5" name="text-11-136">
            <a:extLst>
              <a:ext uri="{FF2B5EF4-FFF2-40B4-BE49-F238E27FC236}">
                <ns2:creationId id="{181D393E-8C0F-4F26-9F30-8E6D786514E1}"/>
              </a:ext>
            </a:extLst>
          </p:cNvPr>
          <p:cNvSpPr>
            <a:spLocks noGrp="1"/>
          </p:cNvSpPr>
          <p:nvPr/>
        </p:nvSpPr>
        <p:spPr>
          <a:xfrm>
            <a:off x="704850" y="5743575"/>
            <a:ext cx="10782300" cy="333375"/>
          </a:xfrm>
          <a:prstGeom prst="rect">
            <a:avLst/>
          </a:prstGeom>
          <a:noFill/>
          <a:ln w="0">
            <a:noFill/>
          </a:ln>
        </p:spPr>
        <p:txBody>
          <a:bodyPr anchor="t" lIns="0" rIns="0" tIns="0" bIns="0">
            <a:noAutofit/>
          </a:bodyPr>
          <a:lstStyle/>
          <a:p>
            <a:pPr algn="l">
              <a:defRPr sz="1575" b="0">
                <a:solidFill>
                  <a:srgbClr val="6E6E73"/>
                </a:solidFill>
                <a:latin typeface="Inter"/>
                <a:ea typeface="Inter"/>
                <a:cs typeface="Inter"/>
              </a:defRPr>
            </a:pPr>
            <a:r>
              <a:rPr sz="1575" b="0">
                <a:solidFill>
                  <a:srgbClr val="6E6E73"/>
                </a:solidFill>
                <a:latin typeface="Inter"/>
                <a:ea typeface="Inter"/>
                <a:cs typeface="Inter"/>
              </a:rPr>
              <a:t>Full native replay is unsupported. No new LLM or Work calls occur in the named replay scope.</a:t>
            </a:r>
          </a:p>
        </p:txBody>
      </p:sp>
      <p:sp>
        <p:nvSpPr>
          <p:cNvPr id="6" name="">
            <a:extLst>
              <a:ext uri="{FF2B5EF4-FFF2-40B4-BE49-F238E27FC236}">
                <ns2:creationId id="{F92DE66E-4E1E-4F63-9F04-20F60A732BB0}"/>
              </a:ext>
            </a:extLst>
          </p:cNvPr>
          <p:cNvSpPr>
            <a:spLocks noGrp="1"/>
          </p:cNvSpPr>
          <p:nvPr/>
        </p:nvSpPr>
        <p:spPr>
          <a:xfrm>
            <a:off x="704850" y="6162675"/>
            <a:ext cx="10801350" cy="0"/>
          </a:xfrm>
          <a:prstGeom prst="line">
            <a:avLst/>
          </a:prstGeom>
          <a:noFill/>
          <a:ln w="6668">
            <a:solidFill>
              <a:srgbClr val="D2D2D7"/>
            </a:solidFill>
            <a:prstDash val="solid"/>
          </a:ln>
        </p:spPr>
      </p:sp>
      <p:sp>
        <p:nvSpPr>
          <p:cNvPr id="7" name="link-11-appendix">
            <a:extLst>
              <a:ext uri="{FF2B5EF4-FFF2-40B4-BE49-F238E27FC236}">
                <ns2:creationId id="{D57B86E8-48CB-48F4-8636-5DBF4A2DE9B2}"/>
              </a:ext>
            </a:extLst>
            <a:hlinkClick r:id="rIdG4Link1"/>
          </p:cNvPr>
          <p:cNvSpPr>
            <a:spLocks noGrp="1"/>
          </p:cNvSpPr>
          <p:nvPr/>
        </p:nvSpPr>
        <p:spPr>
          <a:xfrm>
            <a:off x="704850" y="6334125"/>
            <a:ext cx="6286500" cy="361950"/>
          </a:xfrm>
          <a:prstGeom prst="rect">
            <a:avLst/>
          </a:prstGeom>
          <a:noFill/>
          <a:ln w="0">
            <a:noFill/>
          </a:ln>
        </p:spPr>
        <p:txBody>
          <a:bodyPr anchor="t" lIns="0" rIns="0" tIns="0" bIns="0">
            <a:noAutofit/>
          </a:bodyPr>
          <a:lstStyle/>
          <a:p>
            <a:pPr algn="l">
              <a:defRPr sz="1350" b="1">
                <a:solidFill>
                  <a:srgbClr val="0071E3"/>
                </a:solidFill>
                <a:latin typeface="Inter"/>
                <a:ea typeface="Inter"/>
                <a:cs typeface="Inter"/>
              </a:defRPr>
            </a:pPr>
            <a:r>
              <a:rPr sz="1350" b="1">
                <a:solidFill>
                  <a:srgbClr val="0071E3"/>
                </a:solidFill>
                <a:latin typeface="Inter"/>
                <a:ea typeface="Inter"/>
                <a:cs typeface="Inter"/>
              </a:rPr>
              <a:t>C13 / C15   Technical evidence</a:t>
            </a:r>
          </a:p>
        </p:txBody>
      </p:sp>
      <p:sp>
        <p:nvSpPr>
          <p:cNvPr id="8" name="text-11-138">
            <a:extLst>
              <a:ext uri="{FF2B5EF4-FFF2-40B4-BE49-F238E27FC236}">
                <ns2:creationId id="{234C5BC8-F5EB-44B1-ADC0-F3B45A578CCB}"/>
              </a:ext>
            </a:extLst>
          </p:cNvPr>
          <p:cNvSpPr>
            <a:spLocks noGrp="1"/>
          </p:cNvSpPr>
          <p:nvPr/>
        </p:nvSpPr>
        <p:spPr>
          <a:xfrm>
            <a:off x="7086600" y="6372225"/>
            <a:ext cx="4048125" cy="228600"/>
          </a:xfrm>
          <a:prstGeom prst="rect">
            <a:avLst/>
          </a:prstGeom>
          <a:noFill/>
          <a:ln w="0">
            <a:noFill/>
          </a:ln>
        </p:spPr>
        <p:txBody>
          <a:bodyPr anchor="t" lIns="0" rIns="0" tIns="0" bIns="0">
            <a:noAutofit/>
          </a:bodyPr>
          <a:lstStyle/>
          <a:p>
            <a:pPr algn="r">
              <a:defRPr sz="1050" b="0">
                <a:solidFill>
                  <a:srgbClr val="6E6E73"/>
                </a:solidFill>
                <a:latin typeface="Inter"/>
                <a:ea typeface="Inter"/>
                <a:cs typeface="Inter"/>
              </a:defRPr>
            </a:pPr>
            <a:r>
              <a:rPr sz="1050" b="0">
                <a:solidFill>
                  <a:srgbClr val="6E6E73"/>
                </a:solidFill>
                <a:latin typeface="Inter"/>
                <a:ea typeface="Inter"/>
                <a:cs typeface="Inter"/>
              </a:rPr>
              <a:t>GATE 4 REFERENCE  /  23 SEPTEMBER 2026</a:t>
            </a:r>
          </a:p>
        </p:txBody>
      </p:sp>
      <p:sp>
        <p:nvSpPr>
          <p:cNvPr id="9" name="text-11-139">
            <a:extLst>
              <a:ext uri="{FF2B5EF4-FFF2-40B4-BE49-F238E27FC236}">
                <ns2:creationId id="{85164F37-E759-4958-B695-99AF81358E4C}"/>
              </a:ext>
            </a:extLst>
          </p:cNvPr>
          <p:cNvSpPr>
            <a:spLocks noGrp="1"/>
          </p:cNvSpPr>
          <p:nvPr/>
        </p:nvSpPr>
        <p:spPr>
          <a:xfrm>
            <a:off x="11125200" y="6334125"/>
            <a:ext cx="381000" cy="266700"/>
          </a:xfrm>
          <a:prstGeom prst="rect">
            <a:avLst/>
          </a:prstGeom>
          <a:noFill/>
          <a:ln w="0">
            <a:noFill/>
          </a:ln>
        </p:spPr>
        <p:txBody>
          <a:bodyPr anchor="t" lIns="0" rIns="0" tIns="0" bIns="0">
            <a:noAutofit/>
          </a:bodyPr>
          <a:lstStyle/>
          <a:p>
            <a:pPr algn="r">
              <a:defRPr sz="1350" b="0">
                <a:solidFill>
                  <a:srgbClr val="6E6E73"/>
                </a:solidFill>
                <a:latin typeface="Inter"/>
                <a:ea typeface="Inter"/>
                <a:cs typeface="Inter"/>
              </a:defRPr>
            </a:pPr>
            <a:r>
              <a:rPr sz="1350" b="0">
                <a:solidFill>
                  <a:srgbClr val="6E6E73"/>
                </a:solidFill>
                <a:latin typeface="Inter"/>
                <a:ea typeface="Inter"/>
                <a:cs typeface="Inter"/>
              </a:rPr>
              <a:t>11</a:t>
            </a:r>
          </a:p>
        </p:txBody>
      </p:sp>
    </p:spTree>
    <p:extLst>
      <p:ext uri="{BB962C8B-B14F-4D97-AF65-F5344CB8AC3E}">
        <ns4:creationId val="1209037794"/>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text-12-140">
            <a:extLst>
              <a:ext uri="{FF2B5EF4-FFF2-40B4-BE49-F238E27FC236}">
                <ns2:creationId id="{1B1A5B6C-4C6F-4131-84F7-753E1127A551}"/>
              </a:ext>
            </a:extLst>
          </p:cNvPr>
          <p:cNvSpPr>
            <a:spLocks noGrp="1"/>
          </p:cNvSpPr>
          <p:nvPr/>
        </p:nvSpPr>
        <p:spPr>
          <a:xfrm>
            <a:off x="685800" y="485775"/>
            <a:ext cx="10820400" cy="1133475"/>
          </a:xfrm>
          <a:prstGeom prst="rect">
            <a:avLst/>
          </a:prstGeom>
          <a:noFill/>
          <a:ln w="0">
            <a:noFill/>
          </a:ln>
        </p:spPr>
        <p:txBody>
          <a:bodyPr anchor="t" lIns="0" rIns="0" tIns="0" bIns="0">
            <a:noAutofit/>
          </a:bodyPr>
          <a:lstStyle/>
          <a:p>
            <a:pPr algn="l">
              <a:defRPr sz="3375" b="1">
                <a:solidFill>
                  <a:srgbClr val="1D1D1F"/>
                </a:solidFill>
                <a:latin typeface="Inter"/>
                <a:ea typeface="Inter"/>
                <a:cs typeface="Inter"/>
              </a:defRPr>
            </a:pPr>
            <a:r>
              <a:rPr sz="3375" b="1">
                <a:solidFill>
                  <a:srgbClr val="1D1D1F"/>
                </a:solidFill>
                <a:latin typeface="Inter"/>
                <a:ea typeface="Inter"/>
                <a:cs typeface="Inter"/>
              </a:rPr>
              <a:t>Reference accepted, deeper mathematics deferred</a:t>
            </a:r>
          </a:p>
        </p:txBody>
      </p:sp>
      <p:sp>
        <p:nvSpPr>
          <p:cNvPr id="2" name="text-12-141">
            <a:extLst>
              <a:ext uri="{FF2B5EF4-FFF2-40B4-BE49-F238E27FC236}">
                <ns2:creationId id="{4E24F5BF-9C31-49BA-A751-997EDF7C03F0}"/>
              </a:ext>
            </a:extLst>
          </p:cNvPr>
          <p:cNvSpPr>
            <a:spLocks noGrp="1"/>
          </p:cNvSpPr>
          <p:nvPr/>
        </p:nvSpPr>
        <p:spPr>
          <a:xfrm>
            <a:off x="704850" y="1762125"/>
            <a:ext cx="10782300" cy="723900"/>
          </a:xfrm>
          <a:prstGeom prst="rect">
            <a:avLst/>
          </a:prstGeom>
          <a:noFill/>
          <a:ln w="0">
            <a:noFill/>
          </a:ln>
        </p:spPr>
        <p:txBody>
          <a:bodyPr anchor="t" lIns="0" rIns="0" tIns="0" bIns="0">
            <a:noAutofit/>
          </a:bodyPr>
          <a:lstStyle/>
          <a:p>
            <a:pPr algn="l">
              <a:defRPr sz="2025" b="0">
                <a:solidFill>
                  <a:srgbClr val="6E6E73"/>
                </a:solidFill>
                <a:latin typeface="Inter"/>
                <a:ea typeface="Inter"/>
                <a:cs typeface="Inter"/>
              </a:defRPr>
            </a:pPr>
            <a:r>
              <a:rPr sz="2025" b="0">
                <a:solidFill>
                  <a:srgbClr val="6E6E73"/>
                </a:solidFill>
                <a:latin typeface="Inter"/>
                <a:ea typeface="Inter"/>
                <a:cs typeface="Inter"/>
              </a:rPr>
              <a:t>Preferences change the prepared offer. Experience changes work allocation.</a:t>
            </a:r>
          </a:p>
        </p:txBody>
      </p:sp>
      <p:sp>
        <p:nvSpPr>
          <p:cNvPr id="3" name="text-12-142">
            <a:extLst>
              <a:ext uri="{FF2B5EF4-FFF2-40B4-BE49-F238E27FC236}">
                <ns2:creationId id="{9003C2B0-80ED-4F95-B0BD-E3BCC4B7600C}"/>
              </a:ext>
            </a:extLst>
          </p:cNvPr>
          <p:cNvSpPr>
            <a:spLocks noGrp="1"/>
          </p:cNvSpPr>
          <p:nvPr/>
        </p:nvSpPr>
        <p:spPr>
          <a:xfrm>
            <a:off x="704850" y="2628900"/>
            <a:ext cx="4924425" cy="371475"/>
          </a:xfrm>
          <a:prstGeom prst="rect">
            <a:avLst/>
          </a:prstGeom>
          <a:noFill/>
          <a:ln w="0">
            <a:noFill/>
          </a:ln>
        </p:spPr>
        <p:txBody>
          <a:bodyPr anchor="t" lIns="0" rIns="0" tIns="0" bIns="0">
            <a:noAutofit/>
          </a:bodyPr>
          <a:lstStyle/>
          <a:p>
            <a:pPr algn="l">
              <a:defRPr sz="1725" b="1">
                <a:solidFill>
                  <a:srgbClr val="0071E3"/>
                </a:solidFill>
                <a:latin typeface="Inter"/>
                <a:ea typeface="Inter"/>
                <a:cs typeface="Inter"/>
              </a:defRPr>
            </a:pPr>
            <a:r>
              <a:rPr sz="1725" b="1">
                <a:solidFill>
                  <a:srgbClr val="0071E3"/>
                </a:solidFill>
                <a:latin typeface="Inter"/>
                <a:ea typeface="Inter"/>
                <a:cs typeface="Inter"/>
              </a:rPr>
              <a:t>ACCEPTED REFERENCE</a:t>
            </a:r>
          </a:p>
        </p:txBody>
      </p:sp>
      <p:sp>
        <p:nvSpPr>
          <p:cNvPr id="4" name="text-12-143">
            <a:extLst>
              <a:ext uri="{FF2B5EF4-FFF2-40B4-BE49-F238E27FC236}">
                <ns2:creationId id="{047A6BC9-8729-4B40-A1C0-98B580EE9294}"/>
              </a:ext>
            </a:extLst>
          </p:cNvPr>
          <p:cNvSpPr>
            <a:spLocks noGrp="1"/>
          </p:cNvSpPr>
          <p:nvPr/>
        </p:nvSpPr>
        <p:spPr>
          <a:xfrm>
            <a:off x="704850" y="3067050"/>
            <a:ext cx="5114925" cy="1390650"/>
          </a:xfrm>
          <a:prstGeom prst="rect">
            <a:avLst/>
          </a:prstGeom>
          <a:noFill/>
          <a:ln w="0">
            <a:noFill/>
          </a:ln>
        </p:spPr>
        <p:txBody>
          <a:bodyPr anchor="t" lIns="0" rIns="0" tIns="0" bIns="0">
            <a:noAutofit/>
          </a:bodyPr>
          <a:lstStyle/>
          <a:p>
            <a:pPr algn="l">
              <a:defRPr sz="2175" b="0">
                <a:solidFill>
                  <a:srgbClr val="1D1D1F"/>
                </a:solidFill>
                <a:latin typeface="Inter"/>
                <a:ea typeface="Inter"/>
                <a:cs typeface="Inter"/>
              </a:defRPr>
            </a:pPr>
            <a:r>
              <a:rPr sz="2175" b="0">
                <a:solidFill>
                  <a:srgbClr val="1D1D1F"/>
                </a:solidFill>
                <a:latin typeface="Inter"/>
                <a:ea typeface="Inter"/>
                <a:cs typeface="Inter"/>
              </a:rPr>
              <a:t>Finite multi-Root comparison</a:t>
            </a:r>
          </a:p>
          <a:p>
            <a:pPr algn="l">
              <a:defRPr sz="2175" b="0">
                <a:solidFill>
                  <a:srgbClr val="1D1D1F"/>
                </a:solidFill>
                <a:latin typeface="Inter"/>
                <a:ea typeface="Inter"/>
                <a:cs typeface="Inter"/>
              </a:defRPr>
            </a:pPr>
            <a:r>
              <a:rPr sz="2175" b="0">
                <a:solidFill>
                  <a:srgbClr val="1D1D1F"/>
                </a:solidFill>
                <a:latin typeface="Inter"/>
                <a:ea typeface="Inter"/>
                <a:cs typeface="Inter"/>
              </a:rPr>
              <a:t>Bounded allocation of actual Work</a:t>
            </a:r>
          </a:p>
          <a:p>
            <a:pPr algn="l">
              <a:defRPr sz="2175" b="0">
                <a:solidFill>
                  <a:srgbClr val="1D1D1F"/>
                </a:solidFill>
                <a:latin typeface="Inter"/>
                <a:ea typeface="Inter"/>
                <a:cs typeface="Inter"/>
              </a:defRPr>
            </a:pPr>
            <a:r>
              <a:rPr sz="2175" b="0">
                <a:solidFill>
                  <a:srgbClr val="1D1D1F"/>
                </a:solidFill>
                <a:latin typeface="Inter"/>
                <a:ea typeface="Inter"/>
                <a:cs typeface="Inter"/>
              </a:rPr>
              <a:t>Independent owner decisions</a:t>
            </a:r>
          </a:p>
        </p:txBody>
      </p:sp>
      <p:sp>
        <p:nvSpPr>
          <p:cNvPr id="5" name="text-12-144">
            <a:extLst>
              <a:ext uri="{FF2B5EF4-FFF2-40B4-BE49-F238E27FC236}">
                <ns2:creationId id="{124E5851-6FCF-4809-8A19-686725E9889E}"/>
              </a:ext>
            </a:extLst>
          </p:cNvPr>
          <p:cNvSpPr>
            <a:spLocks noGrp="1"/>
          </p:cNvSpPr>
          <p:nvPr/>
        </p:nvSpPr>
        <p:spPr>
          <a:xfrm>
            <a:off x="6334125" y="2628900"/>
            <a:ext cx="5162550" cy="371475"/>
          </a:xfrm>
          <a:prstGeom prst="rect">
            <a:avLst/>
          </a:prstGeom>
          <a:noFill/>
          <a:ln w="0">
            <a:noFill/>
          </a:ln>
        </p:spPr>
        <p:txBody>
          <a:bodyPr anchor="t" lIns="0" rIns="0" tIns="0" bIns="0">
            <a:noAutofit/>
          </a:bodyPr>
          <a:lstStyle/>
          <a:p>
            <a:pPr algn="l">
              <a:defRPr sz="1725" b="1">
                <a:solidFill>
                  <a:srgbClr val="0071E3"/>
                </a:solidFill>
                <a:latin typeface="Inter"/>
                <a:ea typeface="Inter"/>
                <a:cs typeface="Inter"/>
              </a:defRPr>
            </a:pPr>
            <a:r>
              <a:rPr sz="1725" b="1">
                <a:solidFill>
                  <a:srgbClr val="0071E3"/>
                </a:solidFill>
                <a:latin typeface="Inter"/>
                <a:ea typeface="Inter"/>
                <a:cs typeface="Inter"/>
              </a:rPr>
              <a:t>DEFERRED PROGRAMME</a:t>
            </a:r>
          </a:p>
        </p:txBody>
      </p:sp>
      <p:sp>
        <p:nvSpPr>
          <p:cNvPr id="6" name="text-12-145">
            <a:extLst>
              <a:ext uri="{FF2B5EF4-FFF2-40B4-BE49-F238E27FC236}">
                <ns2:creationId id="{6F7BE28D-0AA5-4FB1-BE55-4EB4B03AC32F}"/>
              </a:ext>
            </a:extLst>
          </p:cNvPr>
          <p:cNvSpPr>
            <a:spLocks noGrp="1"/>
          </p:cNvSpPr>
          <p:nvPr/>
        </p:nvSpPr>
        <p:spPr>
          <a:xfrm>
            <a:off x="6334125" y="3067050"/>
            <a:ext cx="5162550" cy="1390650"/>
          </a:xfrm>
          <a:prstGeom prst="rect">
            <a:avLst/>
          </a:prstGeom>
          <a:noFill/>
          <a:ln w="0">
            <a:noFill/>
          </a:ln>
        </p:spPr>
        <p:txBody>
          <a:bodyPr anchor="t" lIns="0" rIns="0" tIns="0" bIns="0">
            <a:noAutofit/>
          </a:bodyPr>
          <a:lstStyle/>
          <a:p>
            <a:pPr algn="l">
              <a:defRPr sz="2175" b="0">
                <a:solidFill>
                  <a:srgbClr val="1D1D1F"/>
                </a:solidFill>
                <a:latin typeface="Inter"/>
                <a:ea typeface="Inter"/>
                <a:cs typeface="Inter"/>
              </a:defRPr>
            </a:pPr>
            <a:r>
              <a:rPr sz="2175" b="0">
                <a:solidFill>
                  <a:srgbClr val="1D1D1F"/>
                </a:solidFill>
                <a:latin typeface="Inter"/>
                <a:ea typeface="Inter"/>
                <a:cs typeface="Inter"/>
              </a:rPr>
              <a:t>Full H-I-J after Gate 6 publication</a:t>
            </a:r>
          </a:p>
          <a:p>
            <a:pPr algn="l">
              <a:defRPr sz="2175" b="0">
                <a:solidFill>
                  <a:srgbClr val="1D1D1F"/>
                </a:solidFill>
                <a:latin typeface="Inter"/>
                <a:ea typeface="Inter"/>
                <a:cs typeface="Inter"/>
              </a:defRPr>
            </a:pPr>
            <a:r>
              <a:rPr sz="2175" b="0">
                <a:solidFill>
                  <a:srgbClr val="1D1D1F"/>
                </a:solidFill>
                <a:latin typeface="Inter"/>
                <a:ea typeface="Inter"/>
                <a:cs typeface="Inter"/>
              </a:rPr>
              <a:t>Separate future scope decision</a:t>
            </a:r>
          </a:p>
          <a:p>
            <a:pPr algn="l">
              <a:defRPr sz="2175" b="0">
                <a:solidFill>
                  <a:srgbClr val="1D1D1F"/>
                </a:solidFill>
                <a:latin typeface="Inter"/>
                <a:ea typeface="Inter"/>
                <a:cs typeface="Inter"/>
              </a:defRPr>
            </a:pPr>
            <a:r>
              <a:rPr sz="2175" b="0">
                <a:solidFill>
                  <a:srgbClr val="1D1D1F"/>
                </a:solidFill>
                <a:latin typeface="Inter"/>
                <a:ea typeface="Inter"/>
                <a:cs typeface="Inter"/>
              </a:rPr>
              <a:t>LGT excluded</a:t>
            </a:r>
          </a:p>
        </p:txBody>
      </p:sp>
      <p:sp>
        <p:nvSpPr>
          <p:cNvPr id="7" name="text-12-146">
            <a:extLst>
              <a:ext uri="{FF2B5EF4-FFF2-40B4-BE49-F238E27FC236}">
                <ns2:creationId id="{ADE3D40C-5AD7-4EC2-B658-D214E3119490}"/>
              </a:ext>
            </a:extLst>
          </p:cNvPr>
          <p:cNvSpPr>
            <a:spLocks noGrp="1"/>
          </p:cNvSpPr>
          <p:nvPr/>
        </p:nvSpPr>
        <p:spPr>
          <a:xfrm>
            <a:off x="704850" y="4648200"/>
            <a:ext cx="10791825" cy="457200"/>
          </a:xfrm>
          <a:prstGeom prst="rect">
            <a:avLst/>
          </a:prstGeom>
          <a:noFill/>
          <a:ln w="0">
            <a:noFill/>
          </a:ln>
        </p:spPr>
        <p:txBody>
          <a:bodyPr anchor="t" lIns="0" rIns="0" tIns="0" bIns="0">
            <a:noAutofit/>
          </a:bodyPr>
          <a:lstStyle/>
          <a:p>
            <a:pPr algn="l">
              <a:defRPr sz="1950" b="1">
                <a:solidFill>
                  <a:srgbClr val="1D1D1F"/>
                </a:solidFill>
                <a:latin typeface="Inter"/>
                <a:ea typeface="Inter"/>
                <a:cs typeface="Inter"/>
              </a:defRPr>
            </a:pPr>
            <a:r>
              <a:rPr sz="1950" b="1">
                <a:solidFill>
                  <a:srgbClr val="1D1D1F"/>
                </a:solidFill>
                <a:latin typeface="Inter"/>
                <a:ea typeface="Inter"/>
                <a:cs typeface="Inter"/>
              </a:rPr>
              <a:t>Reference engineering accepted / presentation prepared</a:t>
            </a:r>
          </a:p>
        </p:txBody>
      </p:sp>
      <p:sp>
        <p:nvSpPr>
          <p:cNvPr id="8" name="link-12-appendix">
            <a:extLst>
              <a:ext uri="{FF2B5EF4-FFF2-40B4-BE49-F238E27FC236}">
                <ns2:creationId id="{2A1AE716-923C-41EF-8846-0B27148E9D40}"/>
              </a:ext>
            </a:extLst>
            <a:hlinkClick r:id="rIdG4Link1"/>
          </p:cNvPr>
          <p:cNvSpPr>
            <a:spLocks noGrp="1"/>
          </p:cNvSpPr>
          <p:nvPr/>
        </p:nvSpPr>
        <p:spPr>
          <a:xfrm>
            <a:off x="704850" y="5267325"/>
            <a:ext cx="3095625" cy="36195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Technical appendix</a:t>
            </a:r>
          </a:p>
        </p:txBody>
      </p:sp>
      <p:sp>
        <p:nvSpPr>
          <p:cNvPr id="9" name="link-12-reader">
            <a:extLst>
              <a:ext uri="{FF2B5EF4-FFF2-40B4-BE49-F238E27FC236}">
                <ns2:creationId id="{9DB53476-970B-4602-9811-0D68729D816B}"/>
              </a:ext>
            </a:extLst>
            <a:hlinkClick r:id="rIdG4Link2"/>
          </p:cNvPr>
          <p:cNvSpPr>
            <a:spLocks noGrp="1"/>
          </p:cNvSpPr>
          <p:nvPr/>
        </p:nvSpPr>
        <p:spPr>
          <a:xfrm>
            <a:off x="4343400" y="5267325"/>
            <a:ext cx="2447925" cy="36195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XML Reader</a:t>
            </a:r>
          </a:p>
        </p:txBody>
      </p:sp>
      <p:sp>
        <p:nvSpPr>
          <p:cNvPr id="10" name="link-12-index">
            <a:extLst>
              <a:ext uri="{FF2B5EF4-FFF2-40B4-BE49-F238E27FC236}">
                <ns2:creationId id="{9A4F7748-932F-47C7-A8D5-74C724B38E68}"/>
              </a:ext>
            </a:extLst>
            <a:hlinkClick r:id="rIdG4Link3"/>
          </p:cNvPr>
          <p:cNvSpPr>
            <a:spLocks noGrp="1"/>
          </p:cNvSpPr>
          <p:nvPr/>
        </p:nvSpPr>
        <p:spPr>
          <a:xfrm>
            <a:off x="8239125" y="5267325"/>
            <a:ext cx="3248025" cy="36195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Reader index</a:t>
            </a:r>
          </a:p>
        </p:txBody>
      </p:sp>
      <p:sp>
        <p:nvSpPr>
          <p:cNvPr id="11" name="link-12-source">
            <a:extLst>
              <a:ext uri="{FF2B5EF4-FFF2-40B4-BE49-F238E27FC236}">
                <ns2:creationId id="{207A7EFF-B5FF-4184-B9C5-6392AFC3D296}"/>
              </a:ext>
            </a:extLst>
            <a:hlinkClick r:id="rIdG4Link4"/>
          </p:cNvPr>
          <p:cNvSpPr>
            <a:spLocks noGrp="1"/>
          </p:cNvSpPr>
          <p:nvPr/>
        </p:nvSpPr>
        <p:spPr>
          <a:xfrm>
            <a:off x="704850" y="5686425"/>
            <a:ext cx="4857750" cy="36195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Pinned implementation</a:t>
            </a:r>
          </a:p>
        </p:txBody>
      </p:sp>
      <p:sp>
        <p:nvSpPr>
          <p:cNvPr id="12" name="link-12-guide">
            <a:extLst>
              <a:ext uri="{FF2B5EF4-FFF2-40B4-BE49-F238E27FC236}">
                <ns2:creationId id="{12BA3023-D68E-4D86-A328-DA10CD720976}"/>
              </a:ext>
            </a:extLst>
            <a:hlinkClick r:id="rIdG4Link5"/>
          </p:cNvPr>
          <p:cNvSpPr>
            <a:spLocks noGrp="1"/>
          </p:cNvSpPr>
          <p:nvPr/>
        </p:nvSpPr>
        <p:spPr>
          <a:xfrm>
            <a:off x="6334125" y="5686425"/>
            <a:ext cx="5162550" cy="361950"/>
          </a:xfrm>
          <a:prstGeom prst="rect">
            <a:avLst/>
          </a:prstGeom>
          <a:noFill/>
          <a:ln w="0">
            <a:noFill/>
          </a:ln>
        </p:spPr>
        <p:txBody>
          <a:bodyPr anchor="t" lIns="0" rIns="0" tIns="0" bIns="0">
            <a:noAutofit/>
          </a:bodyPr>
          <a:lstStyle/>
          <a:p>
            <a:pPr algn="l">
              <a:defRPr sz="1875" b="1">
                <a:solidFill>
                  <a:srgbClr val="0071E3"/>
                </a:solidFill>
                <a:latin typeface="Inter"/>
                <a:ea typeface="Inter"/>
                <a:cs typeface="Inter"/>
              </a:defRPr>
            </a:pPr>
            <a:r>
              <a:rPr sz="1875" b="1">
                <a:solidFill>
                  <a:srgbClr val="0071E3"/>
                </a:solidFill>
                <a:latin typeface="Inter"/>
                <a:ea typeface="Inter"/>
                <a:cs typeface="Inter"/>
              </a:rPr>
              <a:t>Verification guide</a:t>
            </a:r>
          </a:p>
        </p:txBody>
      </p:sp>
      <p:sp>
        <p:nvSpPr>
          <p:cNvPr id="13" name="text-12-152">
            <a:extLst>
              <a:ext uri="{FF2B5EF4-FFF2-40B4-BE49-F238E27FC236}">
                <ns2:creationId id="{2372E24E-B787-4CB5-8DE6-4F7435A4C3DD}"/>
              </a:ext>
            </a:extLst>
          </p:cNvPr>
          <p:cNvSpPr>
            <a:spLocks noGrp="1"/>
          </p:cNvSpPr>
          <p:nvPr/>
        </p:nvSpPr>
        <p:spPr>
          <a:xfrm>
            <a:off x="704850" y="6305550"/>
            <a:ext cx="10782300" cy="295275"/>
          </a:xfrm>
          <a:prstGeom prst="rect">
            <a:avLst/>
          </a:prstGeom>
          <a:noFill/>
          <a:ln w="0">
            <a:noFill/>
          </a:ln>
        </p:spPr>
        <p:txBody>
          <a:bodyPr anchor="t" lIns="0" rIns="0" tIns="0" bIns="0">
            <a:noAutofit/>
          </a:bodyPr>
          <a:lstStyle/>
          <a:p>
            <a:pPr algn="l">
              <a:defRPr sz="1350" b="0">
                <a:solidFill>
                  <a:srgbClr val="6E6E73"/>
                </a:solidFill>
                <a:latin typeface="Inter"/>
                <a:ea typeface="Inter"/>
                <a:cs typeface="Inter"/>
              </a:defRPr>
            </a:pPr>
            <a:r>
              <a:rPr sz="1350" b="0">
                <a:solidFill>
                  <a:srgbClr val="6E6E73"/>
                </a:solidFill>
                <a:latin typeface="Inter"/>
                <a:ea typeface="Inter"/>
                <a:cs typeface="Inter"/>
              </a:rPr>
              <a:t>Repository access required. Document links are staged publication targets on main.</a:t>
            </a:r>
          </a:p>
        </p:txBody>
      </p:sp>
    </p:spTree>
    <p:extLst>
      <p:ext uri="{BB962C8B-B14F-4D97-AF65-F5344CB8AC3E}">
        <ns4:creationId val="19892652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2026-09-23T16:48:56.3080000Z</dcterms:created>
  <dcterms:modified xsi:type="dcterms:W3CDTF">2026-09-23T16:48:56.3080000Z</dcterms:modified>
</coreProperties>
</file>